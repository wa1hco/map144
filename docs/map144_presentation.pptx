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slide. Adjust callsign / date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of the talk. Skip or reorder sections to suit the audience. Section 12 is the original-research half — skip for general audiences.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original design motivation — contest situational awareness. The contest operator runs WSJT-X for their own contacts and MAP144 as a passive band monitor feeding GridTracker.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Everyone]</a:t>
            </a:r>
          </a:p>
          <a:p/>
          <a:p>
            <a:r>
              <a:t>Good starting point for a general ham radio audience.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for why automated monitoring is valuable. Quadrantids have a very narrow peak — often missed by casual operators. Leonids are unpredictable but historic storms produce extraordinary 2m activity.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conceptual. The underdense/overdense distinction explains why pings vary so much in character and duration.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1/f² scaling comes from the plasma physics of free electron scattering. Good slide for a technical audience — unifies several phenomena with one rule. The Faraday rotation point motivates dual-pol being most valuable at 6 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explains why operators sometimes see a strong signal on the waterfall but no decode — overdense flutter breaks the phase coherence MSK144 needs.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exponential fall is why the detector captures 500 ms before and 1200 ms after the detection peak — the tail carries decodable signal.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physics of the problem. Short pings at threshold SNR are inherently difficult. The gamma envelope is the standard meteor trail model; τ is the time constant, not the total duration.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word is 'random' — even if you knew the rotation at one moment it changes with ionospheric conditions, time of day, and path. A horizontally polarized antenna can completely miss a signal a vertical would hear clearly, and the situation reverses on the next ping.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search tries a 9x8 grid of (theta, delta-phi) values and picks the combination that maximises the MSK144 detection metric. The combined signal is then passed to jt9 for decoding.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implicit search approach means no calibration procedure is needed. The system self-corrects for cable differences every 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physics context for the coherent-integration slide that follows. Magnitudes are order-of-magnitude — the actual radial component depends on geometry. The multipath insight is what motivates the design discussion in Section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π/4 criterion is a standard rule of thumb for matched-filter coherent gain. Real-world measurements show this ceiling is hard to reach — see Section 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placed after propagation path so the audience understands why 72 ms is the design target — it matches the shortest useful underdense ping.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Everyone]</a:t>
            </a:r>
          </a:p>
          <a:p/>
          <a:p>
            <a:r>
              <a:t>Walk through the feature set. Use screenshots where placeholders appear.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One-sentence summary of the program before diving into individual features.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stage. Key insight: each stage addresses a specific failure mode — impulse noise → blanker; wideband → channelizer; false triggers → cluster gate; BPF eliminates detection failures; SPD decodes short pings at near-optimal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full main window. Point out the two time windows: current 15 s and previous 15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diagnostic view. Explain the channel grid and the coincidence gate that suppresses impulse noise.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Skip USRP if talking to a general ham audience. Emphasise FlexRadio and RTL-SDR as the most common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fields: Status (Receiving/Idle), pan center frequency, packet rate, queue depth, and loss counter.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 0 and RF 1 are the two receive channels — H and V for dual-pol. Each has independent gain slider (0–76 dB), antenna port selection (RX2 / TX-RX), signal level, and noise floor readout. Buffer drop counter flags overrun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advanced feature. Can skip for a general audience. Good hook for the AI development section — this was developed iteratively.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angle estimate feeds directly into the signal combining, improving decode probability for off-axis signals.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WSJT-X UDP emulation is the most useful integration — GridTracker and N1MM see MAP144 decodes as if WSJT-X sent them. No changes needed in those programs.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panes: spectrogram, detection heatmap, audio spectrogram, decode list. Show how to click a ping to decode it manually.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slide for operators near power lines or in noisy RF environments. The Linrad reference resonates with serious VHF contesters.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Operators and experimenters]</a:t>
            </a:r>
          </a:p>
          <a:p/>
          <a:p>
            <a:r>
              <a:t>Useful for operators who want to post-process data or integrate with other tools.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JSON sidecar carries everything the analysis window needs to reconstruct the context.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JSONL = one JSON object per line, easy to parse with Python or jq.</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files are the 'physical evidence' of each detection. A good way to sanity-check the system.</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Operators]</a:t>
            </a:r>
          </a:p>
          <a:p/>
          <a:p>
            <a:r>
              <a:t>Skip this section for a general overview talk.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jt9 is the critical dependency — everything else can be worked around.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GitHub URL with actual repo URL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menus live if possible. Settings file location: show where it lands on disk.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Operators]</a:t>
            </a:r>
          </a:p>
          <a:p/>
          <a:p>
            <a:r>
              <a:t>This section is hands-on. A live demo works better than slides here.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center frequency must match the radio's panadapter center exactly. FlexRadio users: the app can track the pan center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what a meteor ping looks like — a brief bright vertical streak.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threshold slider controls sensitivity. A good starting point is SNR threshold = 6 dB. Cyan vs green tells the operator which decoder succeeded — cyan (SPD) is the short-ping path optimized for underdense meteors; green (jt9) handles overdense and longer bursts.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coherent averaging gain is real: averaging 3 frames (the typical underdense ping) gives √3 ≈ 1.7× SNR improvement = +2.5 dB before any decoding. Combined with the complex IQ path (+3 dB over real audio) the SPD sensitivity advantage over raw jt9 on a short burst is approximately 5 dB.</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two-stage path gives the best of both decoders: SPD's sensitivity for short pings, jt9's robustness for long bursts. The color tells the operator which path succeeded without reading the log.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shift-click save is the primary workflow for investigating a ping. Useful when you see something on the waterfall but jt9 missed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run analysis → circles appear → click a circle → audio updates. Point out the polarization angle column in the decode list (dual-pol only).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most common operator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 — skip for general audience]</a:t>
            </a:r>
          </a:p>
          <a:p/>
          <a:p>
            <a:r>
              <a:t>Go deep here for SDR/DSP audiences. Skip for general ham radio clubs.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 the channelizer converts a wideband IQ stream into 48 narrow-band channels, one per 1 kHz slot. After the coincidence gate, complex IQ is BPF-filtered and fed to the SPD decoder first; jt9 handles the fallback for longer bursts.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+1500 Hz offset is because USB audio places signal energy 1500 Hz above the dial frequency. This aligns the NCO with the actual carrier.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hop timing is a fundamental limit for very short pings. A τ=30 ms ping may produce only one hop above threshold. Lowering the threshold to 3 dB (from 3.5 dB) improved short-ping detection significantly without a measurable increase in false alarm rate.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3-channel spread is a direct consequence of the squaring operation: the ±1000 Hz tone pair straddles the 1 kHz channel spacing. The original channel-count gate was correct in principle but wrong in threshold — it did not account for normal multi-station activity.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quarter-frame hop in SPD (216 samples) is the smallest — it determines how precisely SPD can locate the burst onset. A half-frame hop would allow the burst to be offset by up to 36 ms from the nearest window start, which can shift the sync correlation enough to miss the sync word. The channelizer 50% hop (256 samples) is a standard overlap-add choice — finer would cost CPU without improving detection probability since the trigger threshold works on energy, not phase alignment.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SPD path stays lean — 500 ms pre-burst is sufficient because SPD works on complex IQ and doesn't need a noise reference for its own decoding. jt9 needs a noise baseline for its SNR estimate; re-reading 1500 ms gives 3× more averaging (34 frames vs 9). The ring buffer always holds this history since we already waited for 1200 ms post-detection IQ to arrive. The BPF is the key insight: it narrows noise bandwidth from 4800 Hz to 2400 Hz. In the squared domain, noise×noise cross-terms drop as BW² — a factor of 4. Result: detection failures drop from 64% to 0%; system is decoder-limited.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narrows the candidate set. The audio BPF (±1200 Hz) is the critical addition from the sensitivity investigation: it eliminates all detection failures at threshold SNR. Red dashed arrows show the three exit points that route to jt9 fallback.</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noise-bandwidth issue is a key engineering insight — and a good story for the AI development section.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AI/software audience — optional for ham radio clubs]</a:t>
            </a:r>
          </a:p>
          <a:p/>
          <a:p>
            <a:r>
              <a:t>This section stands alone as a talk about AI-assisted development. The project is the vehicle; the process is the story.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expectation: this is not 'AI wrote the app'. It's a collaboration where the human provided direction and domain expertise.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is essentially a very fast, well-read junior developer. Strong on syntax and patterns, needs guidance on intent.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instructive example in the project. The first 'fix' made things worse because the root cause wasn't understood. Claude generated the code; the engineer had to diagnose why it failed.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message: AI accelerated implementation; human expertise was essential for correctness and diagnosis.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git log --oneline | wc -l    and    wc -l map144_app/*.py to get current numbers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lessons are transferable to any AI-assisted project. The ham radio domain is a good fit: well-defined protocols, measurable outcomes, and the developer has deep domain knowledge.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profiler made the diagnosis unambiguous. Without it, this bottleneck could have been invisible — the program works correctly, just slowly. py-spy attaches to a live process with no code changes required.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107% Active / 89% GIL numbers confirm this is pure Python compute — the GIL is held almost continuously because there is no I/O or C extension releasing it. The profiler makes the fix obvious.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cache=True is important — without it, every map144 launch pays the JIT compile cost. With it, the compiled code is stored in __pycache__ and reused across restarts.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pure Python estimate is extrapolated from the profiling data. The numba number is a direct measurement. 2300× speedup from a single decorator — this is the best-case scenario for numba: a tight numeric loop with no Python objects and no I/O.</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takeaway for software-defined radio work in Python. You don't need C or Fortran for DSP performance if you use the right tool for each layer. The Fortran investigation was still valuable — it proved the algorithm was correct before optimising 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a:t>
            </a:r>
          </a:p>
          <a:p/>
          <a:p>
            <a:r>
              <a:t>This section traces the full profiling campaign from first profile to the current optimised state. Each round shows what the profiler revealed, the technique used to fix it, and how the fix was verified. Good standalone talk for a software or SDR audience.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real-time constraint explicitly before the profiling story. The audience needs to understand that 'slow' means lost decodes, not just a sluggish UI.</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sudo is needed to attach to a process owned by the same user on some Linux configurations. The GIL/Active relationship is the key diagnostic: if both are high, the fix is JIT or vectorisation. If Active is high but GIL is low, the bottleneck is already in C but doing too much work — restructure or use a better API.</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story is in Section 8. Summarised here as round 1 of the profiling campaign so the table at the end of this section has a complete baseline.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subtle but measurable effect. The _wrapfunc mechanism exists to support array protocol dispatch (dask, cupy, etc.). Fine at the outer edge of the program; significant overhead when called thousands of times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insight is that the bottleneck was not arithmetic — it was the memory allocator and cache pressure from two large intermediate arrays. The fused kernel eliminates both by staging in a thread-local buffer that fits in L1 cache.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by fusing the NCO mix into the same pass as the FIR filter state load, we never materialise the (n_ch, N) phase matrix or the (n_ch, N) mixed-signal array. Both were flushing the L2 cache on every 20 ms hop. The thread-local buf is small enough to stay in L1.</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architectural point, not a numerical optimization. The fix is a single isVisible() check — one line of code — but the result is a 3× reduction in CPU when windows are closed. Useful for headless or overnight operation where no one is watching the display.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lfilter fallback is a scipy implementation detail that changed in a relatively recent version. The behaviour is correct — it produces the right output — but it dispatches through Python for every column of the array. upfirdn is the canonical scipy function for FIR+decimation and avoids this.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improvements compound: fixing round 1 exposed round 2 and 3; fixing round 3 exposed round 4 and 5. Without profiling, most of these would have been invisible — especially the lfilter slow path and the display rendering cost.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 thread: always profile first, then match the technique to the root cause. Using Numba for everything would not have fixed the display rendering or the dispatch overhead.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the section with actionable takeaways. The audience should leave knowing: profile first, fix the measured bottleneck, verify, repeat. The specific techniques (Numba, upfirdn, method forms) are secondary to the discipline.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a:t>
            </a:r>
          </a:p>
          <a:p/>
          <a:p>
            <a:r>
              <a:t>This section describes a days-long, multi-tool investigation carried out with Claude as the primary coding and analysis partner. The story: start with a measurable gap, decompose it into candidates, test each one rigorously, close each gap in turn.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an engineering investigation, not a bug report. The goal is to quantify each contribution separately so fixes are targeted.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concept is the key methodological innovation: bypass one stage at a time to measure its contribution to failures. If oracle_decode% ≈ SPD%, the bottleneck is the decoder, not detection.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 subtlety is the key lesson here — a 'correct' fix that was still wrong because of an undocumented amplitude convention in the Fortran code. Finding it required tracing the sync correlator threshold back to its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implementation gained only 0.8 dB — looked like a partial win. Only by tracing the Fortran sync threshold calibration did we find the √2 error. Without the memory system this finding would have been lost between sessions.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the Fortran test executables was the most complex single piece of this investigation. It required understanding the WSJT-X build system, extracting the right source files, and writing interface code. Claude handled all of this from a description of what was needed.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most important negative result of the investigation. Ruling out the decoder gap focused all remaining effort on the detection pipeline. Without the cross-language test it would have been tempting to chase phantom decoder bugs.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concept is standard in algorithm analysis but rarely applied in amateur radio DSP work. It made it possible to answer 'where is the 1.4 dB?' definitively rather than through speculation.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det_miss dominates at threshold — the detector simply never finds the right window. oracle_dec at 58.7% vs SPD at 57.3% at +1.5 dB means detection overhead is only ~0.2 dB. The 1.4 dB SPD overhead is intrinsic to the algorithm, not fixable by tuning thresholds.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SSB receiver analogy is the key insight. Real hardware operators hear through a 2.7 kHz audio passband — MAP144 was using 4.8 kHz of noise bandwidth. The BPF models what a receiver already does in hardware.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implementation bugs were tried and diagnosed before the correct version. The first (Hilbert approach) looked correct but produced zero oracle decodes. The second (causal FIR) improved detection but hurt decoding. Only the filtfilt complex-lowpass on independent I/Q channels worked.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striking result in the investigation. Detection failures went from ~64% of all failures to zero. The detection metric jumped from 3–7 (no BPF) to 8–37 (BPF). The system is now limited by the decoder, not the front end.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QEX reference likely reflects the Fortran SPD with true multi-frame averaging across a real burst, not a single synthesized frame. Our 0.0 dB threshold matches the fundamental single-frame decoder limit exactly. Total gain from the investigation: 4 dB on short meteor pings.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meta-lesson: what distinguished this from a typical AI coding session was the systematic methodology. Each step was a falsifiable test with a clear result. The combination of human domain knowledge and AI execution speed is the leverage.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 / operators]</a:t>
            </a:r>
          </a:p>
          <a:p/>
          <a:p>
            <a:r>
              <a:t>Run MAP144 and WSJT-X simultaneously overnight on the same band. compare_decoders.py reads both logs in the morning and produces the comparison tables and plots.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independent radio paths are important — if they shared audio, any correlated noise would make the comparison misleading.</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+1.7 dB bias (measured April 2026 overnight run) replaces the earlier ~3–4 dB estimate that was inflated by jt9 short-clip SNR artifacts — jt9 has no noise baseline on a burst WAV and reported 0 dB for ~49% of decodes. est_snr_db uses the 1500 ms pre-burst window (jt9 fallback path) or 500 ms (SPD path) and is the reliable SNR source. The detection-rate curve is the most useful single plot: it shows MAP144 sensitivity relative to WSJT-X as a function of SNR.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tally is the fastest sanity check. If timeout count is high, jt9 is under CPU pressure. If no_decode &gt;&gt; decoded, the threshold may be too low.</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a:t>
            </a:r>
          </a:p>
          <a:p/>
          <a:p>
            <a:r>
              <a:t>This section is the original research half of the project — measurements of within-burst Doppler statistics from a captured corpus, and the architectural extensions to WSJT-X that the measurements motivate.  Skip for a general-audience talk.</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squared-spectrum approach is the same trick MAP144's tone-pair detector uses. Hilbert-phase-derivative measurements gave inflated σ(f) due to MSK modulation leak — squared FFT is cleaner.  Validated against the same WAV with both methods.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ping has stable frequency over its short lifetime — coherent integration could in principle gain on it.  The continuous signal drifts substantially over 15 s — a single frequency estimate is wrong by tens of Hz at the session edges.  Period-mode decode (TODO #42) needs in-window tracking.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Vertical red dashed lines in top-left are the coherent-gain ceilings for N=1,2,3,5,7 frames.  Most bursts exceed even the 1-frame ceiling.  Bottom-right shows that bursts with higher σ(f) tend to have stronger |r| — the multipath signature.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bimodal distribution is the key finding.  WSJT-X's 3-frame averaging works because ~17% of pings genuinely satisfy the coherence criterion.  But 5/7-frame averaging in Deep mode has almost no signal to integrate — those longer averages mostly amplify noise-event coincidences into phantoms.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per-burst drift correction is the key idea — WSJT-X assumes the signal is stationary, MAP144 would estimate the drift and undo it before averaging.  TODO #20 and TODO #42 are versions of this.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Everyone]</a:t>
            </a:r>
          </a:p>
          <a:p/>
          <a:p>
            <a:r>
              <a:t>Close on a light note.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with actual GitHub URL.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answer: the AI that helped write it can also explain it. This usually gets a laugh. Follow up with: 'Claude has read every line of this code'.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Redirect technical questions to GitHub issues so answers are searchable.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time for questions. Common ones:</a:t>
            </a:r>
          </a:p>
          <a:p>
            <a:r>
              <a:t>- Does it work on Windows? (Mostly, with WSL)</a:t>
            </a:r>
          </a:p>
          <a:p>
            <a:r>
              <a:t>- Can it decode FT8? (No — different protocol, different tool)</a:t>
            </a:r>
          </a:p>
          <a:p>
            <a:r>
              <a:t>- What antenna do you use? (Your favourite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r>
              <a:rPr sz="4800" b="1" i="0">
                <a:solidFill>
                  <a:srgbClr val="1B3A6B"/>
                </a:solidFill>
                <a:latin typeface="Calibri"/>
              </a:rPr>
              <a:t>MAP144</a:t>
            </a:r>
          </a:p>
        </p:txBody>
      </p:sp>
      <p:sp>
        <p:nvSpPr>
          <p:cNvPr id="3" name="Subtitle 2"/>
          <p:cNvSpPr>
            <a:spLocks noGrp="1"/>
          </p:cNvSpPr>
          <p:nvPr>
            <p:ph type="subTitle" idx="1"/>
          </p:nvPr>
        </p:nvSpPr>
        <p:spPr/>
        <p:txBody>
          <a:bodyPr/>
          <a:lstStyle/>
          <a:p>
            <a:r>
              <a:rPr sz="2800" b="0" i="0">
                <a:solidFill>
                  <a:srgbClr val="276FBF"/>
                </a:solidFill>
                <a:latin typeface="Calibri"/>
              </a:rPr>
              <a:t>Wideband MSK144 Meteor Scatter Monitor</a:t>
            </a:r>
          </a:p>
        </p:txBody>
      </p:sp>
      <p:sp>
        <p:nvSpPr>
          <p:cNvPr id="4" name="Rectangle 3"/>
          <p:cNvSpPr/>
          <p:nvPr/>
        </p:nvSpPr>
        <p:spPr>
          <a:xfrm>
            <a:off x="0" y="0"/>
            <a:ext cx="12191695" cy="127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217920"/>
            <a:ext cx="12191695" cy="64008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236208"/>
            <a:ext cx="11277295" cy="457200"/>
          </a:xfrm>
          <a:prstGeom prst="rect">
            <a:avLst/>
          </a:prstGeom>
          <a:noFill/>
        </p:spPr>
        <p:txBody>
          <a:bodyPr wrap="square">
            <a:spAutoFit/>
          </a:bodyPr>
          <a:lstStyle/>
          <a:p>
            <a:pPr algn="ctr"/>
            <a:r>
              <a:rPr sz="1800" b="0" i="0">
                <a:solidFill>
                  <a:srgbClr val="FFFFFF"/>
                </a:solidFill>
                <a:latin typeface="Calibri"/>
              </a:rPr>
              <a:t>Jeff Millar  WA1HCO</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Agenda</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1 · Why MAP144?</a:t>
            </a:r>
          </a:p>
          <a:p>
            <a:pPr/>
            <a:r>
              <a:rPr sz="2000" b="1" i="0">
                <a:solidFill>
                  <a:srgbClr val="1A1A2E"/>
                </a:solidFill>
                <a:latin typeface="Calibri"/>
              </a:rPr>
              <a:t>2 · Background — meteor scatter and MSK144</a:t>
            </a:r>
          </a:p>
          <a:p>
            <a:pPr/>
            <a:r>
              <a:rPr sz="2000" b="1" i="0">
                <a:solidFill>
                  <a:srgbClr val="1A1A2E"/>
                </a:solidFill>
                <a:latin typeface="Calibri"/>
              </a:rPr>
              <a:t>3 · Features of MAP144</a:t>
            </a:r>
          </a:p>
          <a:p>
            <a:pPr/>
            <a:r>
              <a:rPr sz="2000" b="1" i="0">
                <a:solidFill>
                  <a:srgbClr val="1A1A2E"/>
                </a:solidFill>
                <a:latin typeface="Calibri"/>
              </a:rPr>
              <a:t>4 · Files generated during operation</a:t>
            </a:r>
          </a:p>
          <a:p>
            <a:pPr/>
            <a:r>
              <a:rPr sz="2000" b="1" i="0">
                <a:solidFill>
                  <a:srgbClr val="1A1A2E"/>
                </a:solidFill>
                <a:latin typeface="Calibri"/>
              </a:rPr>
              <a:t>5 · Installation</a:t>
            </a:r>
          </a:p>
          <a:p>
            <a:pPr/>
            <a:r>
              <a:rPr sz="2000" b="1" i="0">
                <a:solidFill>
                  <a:srgbClr val="1A1A2E"/>
                </a:solidFill>
                <a:latin typeface="Calibri"/>
              </a:rPr>
              <a:t>6 · How to operate MAP144</a:t>
            </a:r>
          </a:p>
          <a:p>
            <a:pPr/>
            <a:r>
              <a:rPr sz="2000" b="1" i="0">
                <a:solidFill>
                  <a:srgbClr val="1A1A2E"/>
                </a:solidFill>
                <a:latin typeface="Calibri"/>
              </a:rPr>
              <a:t>7 · System architecture (technical deep-dive)</a:t>
            </a:r>
          </a:p>
          <a:p>
            <a:pPr/>
            <a:r>
              <a:rPr sz="2000" b="1" i="0">
                <a:solidFill>
                  <a:srgbClr val="1A1A2E"/>
                </a:solidFill>
                <a:latin typeface="Calibri"/>
              </a:rPr>
              <a:t>8 · Building the project with AI assistance</a:t>
            </a:r>
          </a:p>
          <a:p>
            <a:pPr/>
            <a:r>
              <a:rPr sz="2000" b="1" i="0">
                <a:solidFill>
                  <a:srgbClr val="1A1A2E"/>
                </a:solidFill>
                <a:latin typeface="Calibri"/>
              </a:rPr>
              <a:t>9 · Performance engineering — iterative profiling and optimization</a:t>
            </a:r>
          </a:p>
          <a:p>
            <a:pPr/>
            <a:r>
              <a:rPr sz="2000" b="1" i="0">
                <a:solidFill>
                  <a:srgbClr val="1A1A2E"/>
                </a:solidFill>
                <a:latin typeface="Calibri"/>
              </a:rPr>
              <a:t>10 · Decoder sensitivity investigation</a:t>
            </a:r>
          </a:p>
          <a:p>
            <a:pPr/>
            <a:r>
              <a:rPr sz="2000" b="1" i="0">
                <a:solidFill>
                  <a:srgbClr val="1A1A2E"/>
                </a:solidFill>
                <a:latin typeface="Calibri"/>
              </a:rPr>
              <a:t>11 · MAP144 vs WSJT-X real-world comparison</a:t>
            </a:r>
          </a:p>
          <a:p>
            <a:pPr/>
            <a:r>
              <a:rPr sz="2000" b="1" i="0">
                <a:solidFill>
                  <a:srgbClr val="1A1A2E"/>
                </a:solidFill>
                <a:latin typeface="Calibri"/>
              </a:rPr>
              <a:t>12 · Doppler measurements &amp; design opportunities</a:t>
            </a:r>
          </a:p>
          <a:p>
            <a:pPr/>
            <a:r>
              <a:rPr sz="2000" b="1" i="0">
                <a:solidFill>
                  <a:srgbClr val="1A1A2E"/>
                </a:solidFill>
                <a:latin typeface="Calibri"/>
              </a:rPr>
              <a:t>13 · Support and resources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Why MAP144?</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Normal MSK144 activity is concentrated on the calling frequency</a:t>
            </a:r>
          </a:p>
          <a:p>
            <a:pPr lvl="1"/>
            <a:r>
              <a:rPr sz="1800" b="0" i="0">
                <a:solidFill>
                  <a:srgbClr val="444455"/>
                </a:solidFill>
                <a:latin typeface="Calibri"/>
              </a:rPr>
              <a:t>Little interference — few stations active at any one time</a:t>
            </a:r>
          </a:p>
          <a:p>
            <a:pPr lvl="1"/>
            <a:r>
              <a:rPr sz="1800" b="0" i="0">
                <a:solidFill>
                  <a:srgbClr val="444455"/>
                </a:solidFill>
                <a:latin typeface="Calibri"/>
              </a:rPr>
              <a:t>WSJT-X handles this well</a:t>
            </a:r>
          </a:p>
          <a:p>
            <a:pPr/>
            <a:r>
              <a:rPr sz="2000" b="1" i="0">
                <a:solidFill>
                  <a:srgbClr val="1A1A2E"/>
                </a:solidFill>
                <a:latin typeface="Calibri"/>
              </a:rPr>
              <a:t>During contests, increased activity</a:t>
            </a:r>
          </a:p>
          <a:p>
            <a:pPr lvl="1"/>
            <a:r>
              <a:rPr sz="1800" b="0" i="0">
                <a:solidFill>
                  <a:srgbClr val="444455"/>
                </a:solidFill>
                <a:latin typeface="Calibri"/>
              </a:rPr>
              <a:t>Operators spread out from the calling frequency</a:t>
            </a:r>
          </a:p>
          <a:p>
            <a:pPr lvl="1"/>
            <a:r>
              <a:rPr sz="1800" b="0" i="0">
                <a:solidFill>
                  <a:srgbClr val="444455"/>
                </a:solidFill>
                <a:latin typeface="Calibri"/>
              </a:rPr>
              <a:t>Scheduled contacts avoid the calling frequency</a:t>
            </a:r>
          </a:p>
          <a:p>
            <a:pPr lvl="1"/>
            <a:r>
              <a:rPr sz="1800" b="0" i="0">
                <a:solidFill>
                  <a:srgbClr val="444455"/>
                </a:solidFill>
                <a:latin typeface="Calibri"/>
              </a:rPr>
              <a:t>Activity is happening across many frequencies simultaneously</a:t>
            </a:r>
          </a:p>
          <a:p>
            <a:pPr lvl="1"/>
            <a:r>
              <a:rPr sz="1800" b="0" i="0">
                <a:solidFill>
                  <a:srgbClr val="444455"/>
                </a:solidFill>
                <a:latin typeface="Calibri"/>
              </a:rPr>
              <a:t>MAP144 Decodes all MSK144 activity across ±17 kHz from the calling frequency</a:t>
            </a:r>
          </a:p>
          <a:p>
            <a:pPr lvl="1"/>
            <a:r>
              <a:rPr sz="1800" b="0" i="0">
                <a:solidFill>
                  <a:srgbClr val="444455"/>
                </a:solidFill>
                <a:latin typeface="Calibri"/>
              </a:rPr>
              <a:t>Contest operator sees who is active, on what frequency, at what SNR</a:t>
            </a:r>
          </a:p>
          <a:p>
            <a:pPr lvl="1"/>
            <a:r>
              <a:rPr sz="1800" b="0" i="0">
                <a:solidFill>
                  <a:srgbClr val="444455"/>
                </a:solidFill>
                <a:latin typeface="Calibri"/>
              </a:rPr>
              <a:t>Decoded contacts get posted to GridTracker, N1MM, PSKreporter</a:t>
            </a:r>
          </a:p>
          <a:p>
            <a:pPr lvl="1"/>
            <a:r>
              <a:rPr sz="1800" b="0" i="0">
                <a:solidFill>
                  <a:srgbClr val="444455"/>
                </a:solidFill>
                <a:latin typeface="Calibri"/>
              </a:rPr>
              <a:t>Operators act on that information — schedule a contact or tail end</a:t>
            </a:r>
          </a:p>
          <a:p>
            <a:pPr/>
            <a:r>
              <a:rPr sz="2000" b="1" i="0">
                <a:solidFill>
                  <a:srgbClr val="1A1A2E"/>
                </a:solidFill>
                <a:latin typeface="Calibri"/>
              </a:rPr>
              <a:t>Inspired by MAP65 (EME) and QMAP (Q65) — same philosophy, new mode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2</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Background</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Meteor scatter and the MSK144 protocol</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Everyone</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What is Meteor Scatter?</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Meteors burn up in the ionosphere at ~80–120 km altitude</a:t>
            </a:r>
          </a:p>
          <a:p>
            <a:pPr lvl="1"/>
            <a:r>
              <a:rPr sz="1800" b="0" i="0">
                <a:solidFill>
                  <a:srgbClr val="444455"/>
                </a:solidFill>
                <a:latin typeface="Calibri"/>
              </a:rPr>
              <a:t>Ionised trail reflects VHF signals — briefly, unpredictably</a:t>
            </a:r>
          </a:p>
          <a:p>
            <a:pPr/>
            <a:r>
              <a:rPr sz="2000" b="1" i="0">
                <a:solidFill>
                  <a:srgbClr val="1A1A2E"/>
                </a:solidFill>
                <a:latin typeface="Calibri"/>
              </a:rPr>
              <a:t>Useful for 50, 144, and 220 MHz communication beyond line-of-sight</a:t>
            </a:r>
          </a:p>
          <a:p>
            <a:pPr lvl="1"/>
            <a:r>
              <a:rPr sz="1800" b="0" i="0">
                <a:solidFill>
                  <a:srgbClr val="444455"/>
                </a:solidFill>
                <a:latin typeface="Calibri"/>
              </a:rPr>
              <a:t>Typical path: 500–2000 km with no repeater or satellite</a:t>
            </a:r>
          </a:p>
          <a:p>
            <a:pPr/>
            <a:r>
              <a:rPr sz="2000" b="1" i="0">
                <a:solidFill>
                  <a:srgbClr val="1A1A2E"/>
                </a:solidFill>
                <a:latin typeface="Calibri"/>
              </a:rPr>
              <a:t>Pings last milliseconds to a few seconds</a:t>
            </a:r>
          </a:p>
          <a:p>
            <a:pPr lvl="1"/>
            <a:r>
              <a:rPr sz="1800" b="0" i="0">
                <a:solidFill>
                  <a:srgbClr val="444455"/>
                </a:solidFill>
                <a:latin typeface="Calibri"/>
              </a:rPr>
              <a:t>Random arrival — you must monitor continuously</a:t>
            </a:r>
          </a:p>
          <a:p>
            <a:pPr/>
            <a:r>
              <a:rPr sz="2000" b="1" i="0">
                <a:solidFill>
                  <a:srgbClr val="1A1A2E"/>
                </a:solidFill>
                <a:latin typeface="Calibri"/>
              </a:rPr>
              <a:t>Top annual showers: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914400" y="4480560"/>
          <a:ext cx="10332720" cy="1691640"/>
        </p:xfrm>
        <a:graphic>
          <a:graphicData uri="http://schemas.openxmlformats.org/drawingml/2006/table">
            <a:tbl>
              <a:tblPr firstRow="1" bandRow="1">
                <a:tableStyleId>{5C22544A-7EE6-4342-B048-85BDC9FD1C3A}</a:tableStyleId>
              </a:tblPr>
              <a:tblGrid>
                <a:gridCol w="2194560"/>
                <a:gridCol w="1828800"/>
                <a:gridCol w="6309360"/>
              </a:tblGrid>
              <a:tr h="281940">
                <a:tc>
                  <a:txBody>
                    <a:bodyPr/>
                    <a:lstStyle/>
                    <a:p>
                      <a:r>
                        <a:rPr sz="1400" b="1">
                          <a:solidFill>
                            <a:srgbClr val="FFFFFF"/>
                          </a:solidFill>
                          <a:latin typeface="Calibri"/>
                        </a:rPr>
                        <a:t>Shower</a:t>
                      </a:r>
                    </a:p>
                  </a:txBody>
                  <a:tcPr>
                    <a:solidFill>
                      <a:srgbClr val="1B3A6B"/>
                    </a:solidFill>
                  </a:tcPr>
                </a:tc>
                <a:tc>
                  <a:txBody>
                    <a:bodyPr/>
                    <a:lstStyle/>
                    <a:p>
                      <a:r>
                        <a:rPr sz="1400" b="1">
                          <a:solidFill>
                            <a:srgbClr val="FFFFFF"/>
                          </a:solidFill>
                          <a:latin typeface="Calibri"/>
                        </a:rPr>
                        <a:t>Peak date</a:t>
                      </a:r>
                    </a:p>
                  </a:txBody>
                  <a:tcPr>
                    <a:solidFill>
                      <a:srgbClr val="1B3A6B"/>
                    </a:solidFill>
                  </a:tcPr>
                </a:tc>
                <a:tc>
                  <a:txBody>
                    <a:bodyPr/>
                    <a:lstStyle/>
                    <a:p>
                      <a:r>
                        <a:rPr sz="1400" b="1">
                          <a:solidFill>
                            <a:srgbClr val="FFFFFF"/>
                          </a:solidFill>
                          <a:latin typeface="Calibri"/>
                        </a:rPr>
                        <a:t>ZHR</a:t>
                      </a:r>
                    </a:p>
                  </a:txBody>
                  <a:tcPr>
                    <a:solidFill>
                      <a:srgbClr val="1B3A6B"/>
                    </a:solidFill>
                  </a:tcPr>
                </a:tc>
              </a:tr>
              <a:tr h="281940">
                <a:tc>
                  <a:txBody>
                    <a:bodyPr/>
                    <a:lstStyle/>
                    <a:p>
                      <a:r>
                        <a:rPr sz="1400" b="0">
                          <a:solidFill>
                            <a:srgbClr val="1A1A2E"/>
                          </a:solidFill>
                          <a:latin typeface="Calibri"/>
                        </a:rPr>
                        <a:t>Geminids</a:t>
                      </a:r>
                    </a:p>
                  </a:txBody>
                  <a:tcPr>
                    <a:solidFill>
                      <a:srgbClr val="FFFFFF"/>
                    </a:solidFill>
                  </a:tcPr>
                </a:tc>
                <a:tc>
                  <a:txBody>
                    <a:bodyPr/>
                    <a:lstStyle/>
                    <a:p>
                      <a:r>
                        <a:rPr sz="1400" b="0">
                          <a:solidFill>
                            <a:srgbClr val="1A1A2E"/>
                          </a:solidFill>
                          <a:latin typeface="Calibri"/>
                        </a:rPr>
                        <a:t>Dec 13–14</a:t>
                      </a:r>
                    </a:p>
                  </a:txBody>
                  <a:tcPr>
                    <a:solidFill>
                      <a:srgbClr val="FFFFFF"/>
                    </a:solidFill>
                  </a:tcPr>
                </a:tc>
                <a:tc>
                  <a:txBody>
                    <a:bodyPr/>
                    <a:lstStyle/>
                    <a:p>
                      <a:r>
                        <a:rPr sz="1400" b="0">
                          <a:solidFill>
                            <a:srgbClr val="1A1A2E"/>
                          </a:solidFill>
                          <a:latin typeface="Calibri"/>
                        </a:rPr>
                        <a:t>~150</a:t>
                      </a:r>
                    </a:p>
                  </a:txBody>
                  <a:tcPr>
                    <a:solidFill>
                      <a:srgbClr val="FFFFFF"/>
                    </a:solidFill>
                  </a:tcPr>
                </a:tc>
              </a:tr>
              <a:tr h="281940">
                <a:tc>
                  <a:txBody>
                    <a:bodyPr/>
                    <a:lstStyle/>
                    <a:p>
                      <a:r>
                        <a:rPr sz="1400" b="0">
                          <a:solidFill>
                            <a:srgbClr val="1A1A2E"/>
                          </a:solidFill>
                          <a:latin typeface="Calibri"/>
                        </a:rPr>
                        <a:t>Perseids</a:t>
                      </a:r>
                    </a:p>
                  </a:txBody>
                  <a:tcPr>
                    <a:solidFill>
                      <a:srgbClr val="F0F4F8"/>
                    </a:solidFill>
                  </a:tcPr>
                </a:tc>
                <a:tc>
                  <a:txBody>
                    <a:bodyPr/>
                    <a:lstStyle/>
                    <a:p>
                      <a:r>
                        <a:rPr sz="1400" b="0">
                          <a:solidFill>
                            <a:srgbClr val="1A1A2E"/>
                          </a:solidFill>
                          <a:latin typeface="Calibri"/>
                        </a:rPr>
                        <a:t>Aug 11–13</a:t>
                      </a:r>
                    </a:p>
                  </a:txBody>
                  <a:tcPr>
                    <a:solidFill>
                      <a:srgbClr val="F0F4F8"/>
                    </a:solidFill>
                  </a:tcPr>
                </a:tc>
                <a:tc>
                  <a:txBody>
                    <a:bodyPr/>
                    <a:lstStyle/>
                    <a:p>
                      <a:r>
                        <a:rPr sz="1400" b="0">
                          <a:solidFill>
                            <a:srgbClr val="1A1A2E"/>
                          </a:solidFill>
                          <a:latin typeface="Calibri"/>
                        </a:rPr>
                        <a:t>~100</a:t>
                      </a:r>
                    </a:p>
                  </a:txBody>
                  <a:tcPr>
                    <a:solidFill>
                      <a:srgbClr val="F0F4F8"/>
                    </a:solidFill>
                  </a:tcPr>
                </a:tc>
              </a:tr>
              <a:tr h="281940">
                <a:tc>
                  <a:txBody>
                    <a:bodyPr/>
                    <a:lstStyle/>
                    <a:p>
                      <a:r>
                        <a:rPr sz="1400" b="0">
                          <a:solidFill>
                            <a:srgbClr val="1A1A2E"/>
                          </a:solidFill>
                          <a:latin typeface="Calibri"/>
                        </a:rPr>
                        <a:t>Quadrantids</a:t>
                      </a:r>
                    </a:p>
                  </a:txBody>
                  <a:tcPr>
                    <a:solidFill>
                      <a:srgbClr val="FFFFFF"/>
                    </a:solidFill>
                  </a:tcPr>
                </a:tc>
                <a:tc>
                  <a:txBody>
                    <a:bodyPr/>
                    <a:lstStyle/>
                    <a:p>
                      <a:r>
                        <a:rPr sz="1400" b="0">
                          <a:solidFill>
                            <a:srgbClr val="1A1A2E"/>
                          </a:solidFill>
                          <a:latin typeface="Calibri"/>
                        </a:rPr>
                        <a:t>Jan 3–4</a:t>
                      </a:r>
                    </a:p>
                  </a:txBody>
                  <a:tcPr>
                    <a:solidFill>
                      <a:srgbClr val="FFFFFF"/>
                    </a:solidFill>
                  </a:tcPr>
                </a:tc>
                <a:tc>
                  <a:txBody>
                    <a:bodyPr/>
                    <a:lstStyle/>
                    <a:p>
                      <a:r>
                        <a:rPr sz="1400" b="0">
                          <a:solidFill>
                            <a:srgbClr val="1A1A2E"/>
                          </a:solidFill>
                          <a:latin typeface="Calibri"/>
                        </a:rPr>
                        <a:t>~120 (narrow, ~6 hr peak)</a:t>
                      </a:r>
                    </a:p>
                  </a:txBody>
                  <a:tcPr>
                    <a:solidFill>
                      <a:srgbClr val="FFFFFF"/>
                    </a:solidFill>
                  </a:tcPr>
                </a:tc>
              </a:tr>
              <a:tr h="281940">
                <a:tc>
                  <a:txBody>
                    <a:bodyPr/>
                    <a:lstStyle/>
                    <a:p>
                      <a:r>
                        <a:rPr sz="1400" b="0">
                          <a:solidFill>
                            <a:srgbClr val="1A1A2E"/>
                          </a:solidFill>
                          <a:latin typeface="Calibri"/>
                        </a:rPr>
                        <a:t>Leonids</a:t>
                      </a:r>
                    </a:p>
                  </a:txBody>
                  <a:tcPr>
                    <a:solidFill>
                      <a:srgbClr val="F0F4F8"/>
                    </a:solidFill>
                  </a:tcPr>
                </a:tc>
                <a:tc>
                  <a:txBody>
                    <a:bodyPr/>
                    <a:lstStyle/>
                    <a:p>
                      <a:r>
                        <a:rPr sz="1400" b="0">
                          <a:solidFill>
                            <a:srgbClr val="1A1A2E"/>
                          </a:solidFill>
                          <a:latin typeface="Calibri"/>
                        </a:rPr>
                        <a:t>Nov 17–18</a:t>
                      </a:r>
                    </a:p>
                  </a:txBody>
                  <a:tcPr>
                    <a:solidFill>
                      <a:srgbClr val="F0F4F8"/>
                    </a:solidFill>
                  </a:tcPr>
                </a:tc>
                <a:tc>
                  <a:txBody>
                    <a:bodyPr/>
                    <a:lstStyle/>
                    <a:p>
                      <a:r>
                        <a:rPr sz="1400" b="0">
                          <a:solidFill>
                            <a:srgbClr val="1A1A2E"/>
                          </a:solidFill>
                          <a:latin typeface="Calibri"/>
                        </a:rPr>
                        <a:t>~15 typical; storms ~1000+</a:t>
                      </a:r>
                    </a:p>
                  </a:txBody>
                  <a:tcPr>
                    <a:solidFill>
                      <a:srgbClr val="F0F4F8"/>
                    </a:solidFill>
                  </a:tcPr>
                </a:tc>
              </a:tr>
              <a:tr h="281940">
                <a:tc>
                  <a:txBody>
                    <a:bodyPr/>
                    <a:lstStyle/>
                    <a:p>
                      <a:r>
                        <a:rPr sz="1400" b="0">
                          <a:solidFill>
                            <a:srgbClr val="1A1A2E"/>
                          </a:solidFill>
                          <a:latin typeface="Calibri"/>
                        </a:rPr>
                        <a:t>Eta Aquariids</a:t>
                      </a:r>
                    </a:p>
                  </a:txBody>
                  <a:tcPr>
                    <a:solidFill>
                      <a:srgbClr val="FFFFFF"/>
                    </a:solidFill>
                  </a:tcPr>
                </a:tc>
                <a:tc>
                  <a:txBody>
                    <a:bodyPr/>
                    <a:lstStyle/>
                    <a:p>
                      <a:r>
                        <a:rPr sz="1400" b="0">
                          <a:solidFill>
                            <a:srgbClr val="1A1A2E"/>
                          </a:solidFill>
                          <a:latin typeface="Calibri"/>
                        </a:rPr>
                        <a:t>May 5–6</a:t>
                      </a:r>
                    </a:p>
                  </a:txBody>
                  <a:tcPr>
                    <a:solidFill>
                      <a:srgbClr val="FFFFFF"/>
                    </a:solidFill>
                  </a:tcPr>
                </a:tc>
                <a:tc>
                  <a:txBody>
                    <a:bodyPr/>
                    <a:lstStyle/>
                    <a:p>
                      <a:r>
                        <a:rPr sz="1400" b="0">
                          <a:solidFill>
                            <a:srgbClr val="1A1A2E"/>
                          </a:solidFill>
                          <a:latin typeface="Calibri"/>
                        </a:rPr>
                        <a:t>~50–70</a:t>
                      </a:r>
                    </a:p>
                  </a:txBody>
                  <a:tcPr>
                    <a:solidFill>
                      <a:srgbClr val="FFFFFF"/>
                    </a:solidFill>
                  </a:tcPr>
                </a:tc>
              </a:tr>
            </a:tbl>
          </a:graphicData>
        </a:graphic>
      </p:graphicFrame>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Propagation Path</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Meteor trail forms at ~90 km altitude</a:t>
            </a:r>
          </a:p>
          <a:p>
            <a:pPr lvl="1"/>
            <a:r>
              <a:rPr sz="1800" b="0" i="0">
                <a:solidFill>
                  <a:srgbClr val="444455"/>
                </a:solidFill>
                <a:latin typeface="Calibri"/>
              </a:rPr>
              <a:t>Typical path length: 500–2000 km  —  trail midpoint roughly equidistant</a:t>
            </a:r>
          </a:p>
          <a:p>
            <a:pPr/>
            <a:r>
              <a:rPr sz="2000" b="1" i="0">
                <a:solidFill>
                  <a:srgbClr val="1A1A2E"/>
                </a:solidFill>
                <a:latin typeface="Calibri"/>
              </a:rPr>
              <a:t>Trail density — linear electron density (electrons per meter of trail)</a:t>
            </a:r>
          </a:p>
          <a:p>
            <a:pPr lvl="1"/>
            <a:r>
              <a:rPr sz="1800" b="0" i="0">
                <a:solidFill>
                  <a:srgbClr val="444455"/>
                </a:solidFill>
                <a:latin typeface="Calibri"/>
              </a:rPr>
              <a:t>Volume density is not useful — trail diameter expands over time</a:t>
            </a:r>
          </a:p>
          <a:p>
            <a:pPr lvl="1"/>
            <a:r>
              <a:rPr sz="1800" b="0" i="0">
                <a:solidFill>
                  <a:srgbClr val="444455"/>
                </a:solidFill>
                <a:latin typeface="Calibri"/>
              </a:rPr>
              <a:t>Underdense (&lt;10¹⁴ e/m): trail transparent to the wave</a:t>
            </a:r>
          </a:p>
          <a:p>
            <a:pPr lvl="2"/>
            <a:r>
              <a:rPr sz="1600" b="0" i="0">
                <a:solidFill>
                  <a:srgbClr val="444455"/>
                </a:solidFill>
                <a:latin typeface="Calibri"/>
              </a:rPr>
              <a:t>Each electron scatters independently — signal adds in power</a:t>
            </a:r>
          </a:p>
          <a:p>
            <a:pPr lvl="1"/>
            <a:r>
              <a:rPr sz="1800" b="0" i="0">
                <a:solidFill>
                  <a:srgbClr val="444455"/>
                </a:solidFill>
                <a:latin typeface="Calibri"/>
              </a:rPr>
              <a:t>Overdense (&gt;10¹⁴ e/m): trail acts as a reflecting cylinder</a:t>
            </a:r>
          </a:p>
          <a:p>
            <a:pPr lvl="2"/>
            <a:r>
              <a:rPr sz="1600" b="0" i="0">
                <a:solidFill>
                  <a:srgbClr val="444455"/>
                </a:solidFill>
                <a:latin typeface="Calibri"/>
              </a:rPr>
              <a:t>Signal reflects off the surface — stronger but shorter-lived</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Meteor Scatter vs. Operating Frequency</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Most key quantities scale as 1/f²  —  higher frequency = harder</a:t>
            </a:r>
          </a:p>
          <a:p>
            <a:pPr/>
            <a:r>
              <a:rPr sz="2000" b="1" i="0">
                <a:solidFill>
                  <a:srgbClr val="1A1A2E"/>
                </a:solidFill>
                <a:latin typeface="Calibri"/>
              </a:rPr>
              <a:t>Received signal power (underdense trails)</a:t>
            </a:r>
          </a:p>
          <a:p>
            <a:pPr lvl="1"/>
            <a:r>
              <a:rPr sz="1800" b="0" i="0">
                <a:solidFill>
                  <a:srgbClr val="444455"/>
                </a:solidFill>
                <a:latin typeface="Calibri"/>
              </a:rPr>
              <a:t>Power ∝ 1/f²  —  doubling frequency quarters the received power</a:t>
            </a:r>
          </a:p>
          <a:p>
            <a:pPr/>
            <a:r>
              <a:rPr sz="2000" b="1" i="0">
                <a:solidFill>
                  <a:srgbClr val="1A1A2E"/>
                </a:solidFill>
                <a:latin typeface="Calibri"/>
              </a:rPr>
              <a:t>Overdense threshold</a:t>
            </a:r>
          </a:p>
          <a:p>
            <a:pPr lvl="1"/>
            <a:r>
              <a:rPr sz="1800" b="0" i="0">
                <a:solidFill>
                  <a:srgbClr val="444455"/>
                </a:solidFill>
                <a:latin typeface="Calibri"/>
              </a:rPr>
              <a:t>Required electron line density ∝ f²  —  rarer meteors qualify at higher freq</a:t>
            </a:r>
          </a:p>
          <a:p>
            <a:pPr/>
            <a:r>
              <a:rPr sz="2000" b="1" i="0">
                <a:solidFill>
                  <a:srgbClr val="1A1A2E"/>
                </a:solidFill>
                <a:latin typeface="Calibri"/>
              </a:rPr>
              <a:t>Trail duration</a:t>
            </a:r>
          </a:p>
          <a:p>
            <a:pPr lvl="1"/>
            <a:r>
              <a:rPr sz="1800" b="0" i="0">
                <a:solidFill>
                  <a:srgbClr val="444455"/>
                </a:solidFill>
                <a:latin typeface="Calibri"/>
              </a:rPr>
              <a:t>Decay time constant ∝ 1/f²  —  trails fade faster at higher frequencies</a:t>
            </a:r>
          </a:p>
          <a:p>
            <a:pPr lvl="1"/>
            <a:r>
              <a:rPr sz="1800" b="0" i="0">
                <a:solidFill>
                  <a:srgbClr val="444455"/>
                </a:solidFill>
                <a:latin typeface="Calibri"/>
              </a:rPr>
              <a:t>Diffusion spreads the trail; at higher f the density drops below threshold sooner</a:t>
            </a:r>
          </a:p>
          <a:p>
            <a:pPr/>
            <a:r>
              <a:rPr sz="2000" b="1" i="0">
                <a:solidFill>
                  <a:srgbClr val="1A1A2E"/>
                </a:solidFill>
                <a:latin typeface="Calibri"/>
              </a:rPr>
              <a:t>Faraday rotation</a:t>
            </a:r>
          </a:p>
          <a:p>
            <a:pPr lvl="1"/>
            <a:r>
              <a:rPr sz="1800" b="0" i="0">
                <a:solidFill>
                  <a:srgbClr val="444455"/>
                </a:solidFill>
                <a:latin typeface="Calibri"/>
              </a:rPr>
              <a:t>Rotation angle ∝ 1/f²  —  much less significant at 144 MHz than 50 MHz</a:t>
            </a:r>
          </a:p>
          <a:p>
            <a:pPr lvl="1"/>
            <a:r>
              <a:rPr sz="1800" b="0" i="0">
                <a:solidFill>
                  <a:srgbClr val="444455"/>
                </a:solidFill>
                <a:latin typeface="Calibri"/>
              </a:rPr>
              <a:t>At 432 MHz polarization rotation is nearly negligible</a:t>
            </a:r>
          </a:p>
          <a:p>
            <a:pPr/>
            <a:r>
              <a:rPr sz="2000" b="1" i="0">
                <a:solidFill>
                  <a:srgbClr val="1A1A2E"/>
                </a:solidFill>
                <a:latin typeface="Calibri"/>
              </a:rPr>
              <a:t>Practical bands: 50 MHz (best), 144 MHz (common), 222 MHz (marginal), 432 MHz (rare)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Underdense vs. Overdense — Why It Matters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Underdense trail — the common case</a:t>
            </a:r>
          </a:p>
          <a:p>
            <a:pPr lvl="1"/>
            <a:r>
              <a:rPr sz="1800" b="0" i="0">
                <a:solidFill>
                  <a:srgbClr val="444455"/>
                </a:solidFill>
                <a:latin typeface="Calibri"/>
              </a:rPr>
              <a:t>Short ping, fades in 50–300 ms</a:t>
            </a:r>
          </a:p>
          <a:p>
            <a:pPr lvl="1"/>
            <a:r>
              <a:rPr sz="1800" b="0" i="0">
                <a:solidFill>
                  <a:srgbClr val="444455"/>
                </a:solidFill>
                <a:latin typeface="Calibri"/>
              </a:rPr>
              <a:t>MSK144 may capture only one or two 72 ms frames</a:t>
            </a:r>
          </a:p>
          <a:p>
            <a:pPr lvl="1"/>
            <a:r>
              <a:rPr sz="1800" b="0" i="0">
                <a:solidFill>
                  <a:srgbClr val="444455"/>
                </a:solidFill>
                <a:latin typeface="Calibri"/>
              </a:rPr>
              <a:t>Decode success depends heavily on SNR in those few frames</a:t>
            </a:r>
          </a:p>
          <a:p>
            <a:pPr lvl="1"/>
            <a:r>
              <a:rPr sz="1800" b="0" i="0">
                <a:solidFill>
                  <a:srgbClr val="444455"/>
                </a:solidFill>
                <a:latin typeface="Calibri"/>
              </a:rPr>
              <a:t>Missed decodes are common — signal was real but too brief</a:t>
            </a:r>
          </a:p>
          <a:p>
            <a:pPr/>
            <a:r>
              <a:rPr sz="2000" b="1" i="0">
                <a:solidFill>
                  <a:srgbClr val="1A1A2E"/>
                </a:solidFill>
                <a:latin typeface="Calibri"/>
              </a:rPr>
              <a:t>Overdense trail — the dramatic case</a:t>
            </a:r>
          </a:p>
          <a:p>
            <a:pPr lvl="1"/>
            <a:r>
              <a:rPr sz="1800" b="0" i="0">
                <a:solidFill>
                  <a:srgbClr val="444455"/>
                </a:solidFill>
                <a:latin typeface="Calibri"/>
              </a:rPr>
              <a:t>Longer, initially stronger signal — visible on the waterfall</a:t>
            </a:r>
          </a:p>
          <a:p>
            <a:pPr lvl="1"/>
            <a:r>
              <a:rPr sz="1800" b="0" i="0">
                <a:solidFill>
                  <a:srgbClr val="444455"/>
                </a:solidFill>
                <a:latin typeface="Calibri"/>
              </a:rPr>
              <a:t>Trail distorts in upper atmosphere winds → flutter and phase instability</a:t>
            </a:r>
          </a:p>
          <a:p>
            <a:pPr lvl="1"/>
            <a:r>
              <a:rPr sz="1800" b="0" i="0">
                <a:solidFill>
                  <a:srgbClr val="444455"/>
                </a:solidFill>
                <a:latin typeface="Calibri"/>
              </a:rPr>
              <a:t>Phase instability can hurt MSK144 even when signal looks strong</a:t>
            </a:r>
          </a:p>
          <a:p>
            <a:pPr lvl="1"/>
            <a:r>
              <a:rPr sz="1800" b="0" i="0">
                <a:solidFill>
                  <a:srgbClr val="444455"/>
                </a:solidFill>
                <a:latin typeface="Calibri"/>
              </a:rPr>
              <a:t>May decode on the leading edge before the trail saturates</a:t>
            </a:r>
          </a:p>
          <a:p>
            <a:pPr/>
            <a:r>
              <a:rPr sz="2000" b="1" i="0">
                <a:solidFill>
                  <a:srgbClr val="1A1A2E"/>
                </a:solidFill>
                <a:latin typeface="Calibri"/>
              </a:rPr>
              <a:t>Both types appear in normal operation — knowing which helps interpret results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Ping Shape and Duration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Trail formation: meteoroid ablates in ~10–100 ms</a:t>
            </a:r>
          </a:p>
          <a:p>
            <a:pPr lvl="1"/>
            <a:r>
              <a:rPr sz="1800" b="0" i="0">
                <a:solidFill>
                  <a:srgbClr val="444455"/>
                </a:solidFill>
                <a:latin typeface="Calibri"/>
              </a:rPr>
              <a:t>Rise time is nearly instantaneous — follows the ablation event</a:t>
            </a:r>
          </a:p>
          <a:p>
            <a:pPr/>
            <a:r>
              <a:rPr sz="2000" b="1" i="0">
                <a:solidFill>
                  <a:srgbClr val="1A1A2E"/>
                </a:solidFill>
                <a:latin typeface="Calibri"/>
              </a:rPr>
              <a:t>Underdense trail decay: exponential</a:t>
            </a:r>
          </a:p>
          <a:p>
            <a:pPr lvl="1"/>
            <a:r>
              <a:rPr sz="1800" b="0" i="0">
                <a:solidFill>
                  <a:srgbClr val="444455"/>
                </a:solidFill>
                <a:latin typeface="Calibri"/>
              </a:rPr>
              <a:t>Time constant ~50–300 ms — most energy gone within half a second</a:t>
            </a:r>
          </a:p>
          <a:p>
            <a:pPr lvl="1"/>
            <a:r>
              <a:rPr sz="1800" b="0" i="0">
                <a:solidFill>
                  <a:srgbClr val="444455"/>
                </a:solidFill>
                <a:latin typeface="Calibri"/>
              </a:rPr>
              <a:t>Trail expands by diffusion — electron density drops, signal fades</a:t>
            </a:r>
          </a:p>
          <a:p>
            <a:pPr/>
            <a:r>
              <a:rPr sz="2000" b="1" i="0">
                <a:solidFill>
                  <a:srgbClr val="1A1A2E"/>
                </a:solidFill>
                <a:latin typeface="Calibri"/>
              </a:rPr>
              <a:t>Overdense trail decay: slower, more complex</a:t>
            </a:r>
          </a:p>
          <a:p>
            <a:pPr lvl="1"/>
            <a:r>
              <a:rPr sz="1800" b="0" i="0">
                <a:solidFill>
                  <a:srgbClr val="444455"/>
                </a:solidFill>
                <a:latin typeface="Calibri"/>
              </a:rPr>
              <a:t>Can sustain signal for seconds</a:t>
            </a:r>
          </a:p>
          <a:p>
            <a:pPr lvl="1"/>
            <a:r>
              <a:rPr sz="1800" b="0" i="0">
                <a:solidFill>
                  <a:srgbClr val="444455"/>
                </a:solidFill>
                <a:latin typeface="Calibri"/>
              </a:rPr>
              <a:t>Often shows flutter as the trail distorts in winds</a:t>
            </a:r>
          </a:p>
          <a:p>
            <a:pPr/>
            <a:r>
              <a:rPr sz="2000" b="1" i="0">
                <a:solidFill>
                  <a:srgbClr val="1A1A2E"/>
                </a:solidFill>
                <a:latin typeface="Calibri"/>
              </a:rPr>
              <a:t>Total ping duration: 72 ms (minimum MSK144 decode) to several seconds</a:t>
            </a:r>
          </a:p>
          <a:p>
            <a:pPr/>
            <a:r>
              <a:rPr sz="2000" b="1" i="0">
                <a:solidFill>
                  <a:srgbClr val="1A1A2E"/>
                </a:solidFill>
                <a:latin typeface="Calibri"/>
              </a:rPr>
              <a:t>MSK144 designed to decode from a single 72 ms frame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Short Underdense Pings — The Hardest Case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Gamma-envelope model:  A(t) = (t/τ) · exp(−t/τ)</a:t>
            </a:r>
          </a:p>
          <a:p>
            <a:pPr lvl="1"/>
            <a:r>
              <a:rPr sz="1800" b="0" i="0">
                <a:solidFill>
                  <a:srgbClr val="444455"/>
                </a:solidFill>
                <a:latin typeface="Calibri"/>
              </a:rPr>
              <a:t>Named for the Gamma distribution — the formula is Gamma(2, τ) in shape</a:t>
            </a:r>
          </a:p>
          <a:p>
            <a:pPr lvl="1"/>
            <a:r>
              <a:rPr sz="1800" b="0" i="0">
                <a:solidFill>
                  <a:srgbClr val="444455"/>
                </a:solidFill>
                <a:latin typeface="Calibri"/>
              </a:rPr>
              <a:t>Rise  (t/τ):       linear — electrons deposited as meteoroid ablates</a:t>
            </a:r>
          </a:p>
          <a:p>
            <a:pPr lvl="1"/>
            <a:r>
              <a:rPr sz="1800" b="0" i="0">
                <a:solidFill>
                  <a:srgbClr val="444455"/>
                </a:solidFill>
                <a:latin typeface="Calibri"/>
              </a:rPr>
              <a:t>Decay exp(−t/τ):   exponential — ionized trail diffuses radially outward</a:t>
            </a:r>
          </a:p>
          <a:p>
            <a:pPr lvl="1"/>
            <a:r>
              <a:rPr sz="1800" b="0" i="0">
                <a:solidFill>
                  <a:srgbClr val="444455"/>
                </a:solidFill>
                <a:latin typeface="Calibri"/>
              </a:rPr>
              <a:t>Peak at t = τ, then exponential fall</a:t>
            </a:r>
          </a:p>
          <a:p>
            <a:pPr lvl="1"/>
            <a:r>
              <a:rPr sz="1800" b="0" i="0">
                <a:solidFill>
                  <a:srgbClr val="444455"/>
                </a:solidFill>
                <a:latin typeface="Calibri"/>
              </a:rPr>
              <a:t>Short underdense pings: τ = 30–100 ms</a:t>
            </a:r>
          </a:p>
          <a:p>
            <a:pPr/>
            <a:r>
              <a:rPr sz="2000" b="1" i="0">
                <a:solidFill>
                  <a:srgbClr val="1A1A2E"/>
                </a:solidFill>
                <a:latin typeface="Calibri"/>
              </a:rPr>
              <a:t>Implication for detection</a:t>
            </a:r>
          </a:p>
          <a:p>
            <a:pPr lvl="1"/>
            <a:r>
              <a:rPr sz="1800" b="0" i="0">
                <a:solidFill>
                  <a:srgbClr val="444455"/>
                </a:solidFill>
                <a:latin typeface="Calibri"/>
              </a:rPr>
              <a:t>Detection hop = 42.7 ms — the metric window advances once every hop</a:t>
            </a:r>
          </a:p>
          <a:p>
            <a:pPr lvl="1"/>
            <a:r>
              <a:rPr sz="1800" b="0" i="0">
                <a:solidFill>
                  <a:srgbClr val="444455"/>
                </a:solidFill>
                <a:latin typeface="Calibri"/>
              </a:rPr>
              <a:t>A τ=30 ms ping may produce only 1–2 hops above threshold</a:t>
            </a:r>
          </a:p>
          <a:p>
            <a:pPr lvl="1"/>
            <a:r>
              <a:rPr sz="1800" b="0" i="0">
                <a:solidFill>
                  <a:srgbClr val="444455"/>
                </a:solidFill>
                <a:latin typeface="Calibri"/>
              </a:rPr>
              <a:t>Peak signal can fall between two hops — detected metric &lt; instantaneous SNR</a:t>
            </a:r>
          </a:p>
          <a:p>
            <a:pPr/>
            <a:r>
              <a:rPr sz="2000" b="1" i="0">
                <a:solidFill>
                  <a:srgbClr val="1A1A2E"/>
                </a:solidFill>
                <a:latin typeface="Calibri"/>
              </a:rPr>
              <a:t>Implication for decoding</a:t>
            </a:r>
          </a:p>
          <a:p>
            <a:pPr lvl="1"/>
            <a:r>
              <a:rPr sz="1800" b="0" i="0">
                <a:solidFill>
                  <a:srgbClr val="444455"/>
                </a:solidFill>
                <a:latin typeface="Calibri"/>
              </a:rPr>
              <a:t>MSK144 requires ≥72 ms (one frame) to decode — a τ=30 ms ping barely fills it</a:t>
            </a:r>
          </a:p>
          <a:p>
            <a:pPr lvl="1"/>
            <a:r>
              <a:rPr sz="1800" b="0" i="0">
                <a:solidFill>
                  <a:srgbClr val="444455"/>
                </a:solidFill>
                <a:latin typeface="Calibri"/>
              </a:rPr>
              <a:t>Fundamental limit: pings with τ &lt; 40 ms may not contain enough symbols</a:t>
            </a:r>
          </a:p>
          <a:p>
            <a:pPr lvl="1"/>
            <a:r>
              <a:rPr sz="1800" b="0" i="0">
                <a:solidFill>
                  <a:srgbClr val="444455"/>
                </a:solidFill>
                <a:latin typeface="Calibri"/>
              </a:rPr>
              <a:t>Not a system bug — the protocol itself requires a minimum burst duration</a:t>
            </a:r>
          </a:p>
          <a:p>
            <a:pPr/>
            <a:r>
              <a:rPr sz="2000" b="1" i="0">
                <a:solidFill>
                  <a:srgbClr val="1A1A2E"/>
                </a:solidFill>
                <a:latin typeface="Calibri"/>
              </a:rPr>
              <a:t>τ &gt; 40 ms at ≥−1 dB SNR: MAP144 achieves 100% decode rate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Polarization from Faraday Rotation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Transmitted signal has a fixed polarization (usually Horizontal)</a:t>
            </a:r>
          </a:p>
          <a:p>
            <a:pPr/>
            <a:r>
              <a:rPr sz="2000" b="1" i="0">
                <a:solidFill>
                  <a:srgbClr val="1A1A2E"/>
                </a:solidFill>
                <a:latin typeface="Calibri"/>
              </a:rPr>
              <a:t>The ionosphere rotates the polarization plane — Faraday rotation</a:t>
            </a:r>
          </a:p>
          <a:p>
            <a:pPr lvl="1"/>
            <a:r>
              <a:rPr sz="1800" b="0" i="0">
                <a:solidFill>
                  <a:srgbClr val="444455"/>
                </a:solidFill>
                <a:latin typeface="Calibri"/>
              </a:rPr>
              <a:t>Rotation ∝ electron density × magnetic field strength × path length</a:t>
            </a:r>
          </a:p>
          <a:p>
            <a:pPr lvl="1"/>
            <a:r>
              <a:rPr sz="1800" b="0" i="0">
                <a:solidFill>
                  <a:srgbClr val="444455"/>
                </a:solidFill>
                <a:latin typeface="Calibri"/>
              </a:rPr>
              <a:t>Varies with time of day, season, solar activity, and path</a:t>
            </a:r>
          </a:p>
          <a:p>
            <a:pPr lvl="1"/>
            <a:r>
              <a:rPr sz="1800" b="0" i="0">
                <a:solidFill>
                  <a:srgbClr val="444455"/>
                </a:solidFill>
                <a:latin typeface="Calibri"/>
              </a:rPr>
              <a:t>At 50 MHz: hundreds of degrees — multiple full rotations possible</a:t>
            </a:r>
          </a:p>
          <a:p>
            <a:pPr lvl="1"/>
            <a:r>
              <a:rPr sz="1800" b="0" i="0">
                <a:solidFill>
                  <a:srgbClr val="444455"/>
                </a:solidFill>
                <a:latin typeface="Calibri"/>
              </a:rPr>
              <a:t>At 144 MHz: less rotation but still significant and unpredictable</a:t>
            </a:r>
          </a:p>
          <a:p>
            <a:pPr lvl="1"/>
            <a:r>
              <a:rPr sz="1800" b="0" i="0">
                <a:solidFill>
                  <a:srgbClr val="444455"/>
                </a:solidFill>
                <a:latin typeface="Calibri"/>
              </a:rPr>
              <a:t>Practical result: received polarization angle is effectively random</a:t>
            </a:r>
          </a:p>
          <a:p>
            <a:pPr/>
            <a:r>
              <a:rPr sz="2000" b="1" i="0">
                <a:solidFill>
                  <a:srgbClr val="1A1A2E"/>
                </a:solidFill>
                <a:latin typeface="Calibri"/>
              </a:rPr>
              <a:t>Rate of change</a:t>
            </a:r>
          </a:p>
          <a:p>
            <a:pPr lvl="1"/>
            <a:r>
              <a:rPr sz="1800" b="0" i="0">
                <a:solidFill>
                  <a:srgbClr val="444455"/>
                </a:solidFill>
                <a:latin typeface="Calibri"/>
              </a:rPr>
              <a:t>Ionospheric conditions change slowly — seconds to minutes</a:t>
            </a:r>
          </a:p>
          <a:p>
            <a:pPr lvl="1"/>
            <a:r>
              <a:rPr sz="1800" b="0" i="0">
                <a:solidFill>
                  <a:srgbClr val="444455"/>
                </a:solidFill>
                <a:latin typeface="Calibri"/>
              </a:rPr>
              <a:t>Polarization angle is essentially constant during a single ping (~100 ms)</a:t>
            </a:r>
          </a:p>
          <a:p>
            <a:pPr lvl="1"/>
            <a:r>
              <a:rPr sz="1800" b="0" i="0">
                <a:solidFill>
                  <a:srgbClr val="444455"/>
                </a:solidFill>
                <a:latin typeface="Calibri"/>
              </a:rPr>
              <a:t>Angle changes from ping to ping — cannot be predicted or compensated</a:t>
            </a:r>
          </a:p>
          <a:p>
            <a:pPr/>
            <a:r>
              <a:rPr sz="2000" b="1" i="0">
                <a:solidFill>
                  <a:srgbClr val="1A1A2E"/>
                </a:solidFill>
                <a:latin typeface="Calibri"/>
              </a:rPr>
              <a:t>Effect on a single linear antenna</a:t>
            </a:r>
          </a:p>
          <a:p>
            <a:pPr lvl="1"/>
            <a:r>
              <a:rPr sz="1800" b="0" i="0">
                <a:solidFill>
                  <a:srgbClr val="444455"/>
                </a:solidFill>
                <a:latin typeface="Calibri"/>
              </a:rPr>
              <a:t>Signal arrives at an unpredictable angle relative to the antenna</a:t>
            </a:r>
          </a:p>
          <a:p>
            <a:pPr lvl="1"/>
            <a:r>
              <a:rPr sz="1800" b="0" i="0">
                <a:solidFill>
                  <a:srgbClr val="444455"/>
                </a:solidFill>
                <a:latin typeface="Calibri"/>
              </a:rPr>
              <a:t>Worst case: 90° misalignment → near-total loss (~20 dB)</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Polarization from Meteor Trail</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The meteor trail adds further polarization change</a:t>
            </a:r>
          </a:p>
          <a:p>
            <a:pPr lvl="1"/>
            <a:r>
              <a:rPr sz="1800" b="0" i="0">
                <a:solidFill>
                  <a:srgbClr val="444455"/>
                </a:solidFill>
                <a:latin typeface="Calibri"/>
              </a:rPr>
              <a:t>Overdense trails act as a conducting cylinder</a:t>
            </a:r>
          </a:p>
          <a:p>
            <a:pPr lvl="1"/>
            <a:r>
              <a:rPr sz="1800" b="0" i="0">
                <a:solidFill>
                  <a:srgbClr val="444455"/>
                </a:solidFill>
                <a:latin typeface="Calibri"/>
              </a:rPr>
              <a:t>Reflection geometry rotates and shifts the polarization plane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Dual Polarization Solution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Polarization arrival angle is unknown and unpredictable</a:t>
            </a:r>
          </a:p>
          <a:p>
            <a:pPr/>
            <a:r>
              <a:rPr sz="2000" b="1" i="0">
                <a:solidFill>
                  <a:srgbClr val="1A1A2E"/>
                </a:solidFill>
                <a:latin typeface="Calibri"/>
              </a:rPr>
              <a:t>Solution: capture both H and V simultaneously</a:t>
            </a:r>
          </a:p>
          <a:p>
            <a:pPr lvl="1"/>
            <a:r>
              <a:rPr sz="1800" b="0" i="0">
                <a:solidFill>
                  <a:srgbClr val="444455"/>
                </a:solidFill>
                <a:latin typeface="Calibri"/>
              </a:rPr>
              <a:t>H and V together capture all of the incoming energy</a:t>
            </a:r>
          </a:p>
          <a:p>
            <a:pPr lvl="1"/>
            <a:r>
              <a:rPr sz="1800" b="0" i="0">
                <a:solidFill>
                  <a:srgbClr val="444455"/>
                </a:solidFill>
                <a:latin typeface="Calibri"/>
              </a:rPr>
              <a:t>No signal is lost regardless of arrival angle</a:t>
            </a:r>
          </a:p>
          <a:p>
            <a:pPr/>
            <a:r>
              <a:rPr sz="2000" b="1" i="0">
                <a:solidFill>
                  <a:srgbClr val="1A1A2E"/>
                </a:solidFill>
                <a:latin typeface="Calibri"/>
              </a:rPr>
              <a:t>Software combines H and V before decoding:</a:t>
            </a:r>
          </a:p>
          <a:p>
            <a:pPr lvl="1"/>
            <a:r>
              <a:rPr sz="1800" b="0" i="0">
                <a:solidFill>
                  <a:srgbClr val="444455"/>
                </a:solidFill>
                <a:latin typeface="Calibri"/>
              </a:rPr>
              <a:t>combined = H·cos θ + V·e^{jΔφ}·sin θ</a:t>
            </a:r>
          </a:p>
          <a:p>
            <a:pPr lvl="1"/>
            <a:r>
              <a:rPr sz="1800" b="0" i="0">
                <a:solidFill>
                  <a:srgbClr val="444455"/>
                </a:solidFill>
                <a:latin typeface="Calibri"/>
              </a:rPr>
              <a:t>θ = polarization angle — 0° is pure H, 90° is pure V, 45° is equal mix</a:t>
            </a:r>
          </a:p>
          <a:p>
            <a:pPr lvl="1"/>
            <a:r>
              <a:rPr sz="1800" b="0" i="0">
                <a:solidFill>
                  <a:srgbClr val="444455"/>
                </a:solidFill>
                <a:latin typeface="Calibri"/>
              </a:rPr>
              <a:t>cos θ and sin θ are amplitude weights — power sums to 1, no noise amplification</a:t>
            </a:r>
          </a:p>
          <a:p>
            <a:pPr lvl="1"/>
            <a:r>
              <a:rPr sz="1800" b="0" i="0">
                <a:solidFill>
                  <a:srgbClr val="444455"/>
                </a:solidFill>
                <a:latin typeface="Calibri"/>
              </a:rPr>
              <a:t>e^{jΔφ} corrects the feedline and receiver phase between the two paths</a:t>
            </a:r>
          </a:p>
          <a:p>
            <a:pPr/>
            <a:r>
              <a:rPr sz="2000" b="1" i="0">
                <a:solidFill>
                  <a:srgbClr val="1A1A2E"/>
                </a:solidFill>
                <a:latin typeface="Calibri"/>
              </a:rPr>
              <a:t>θ and Δφ are estimated fresh for each ping by searching for maximum SNR</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More about Phase Correction — Δφ</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Sources of phase difference between H and V antenna paths</a:t>
            </a:r>
          </a:p>
          <a:p>
            <a:pPr lvl="1"/>
            <a:r>
              <a:rPr sz="1800" b="0" i="0">
                <a:solidFill>
                  <a:srgbClr val="444455"/>
                </a:solidFill>
                <a:latin typeface="Calibri"/>
              </a:rPr>
              <a:t>Cable length difference — even a few cm of coax shifts phase at VHF</a:t>
            </a:r>
          </a:p>
          <a:p>
            <a:pPr lvl="1"/>
            <a:r>
              <a:rPr sz="1800" b="0" i="0">
                <a:solidFill>
                  <a:srgbClr val="444455"/>
                </a:solidFill>
                <a:latin typeface="Calibri"/>
              </a:rPr>
              <a:t>Connector and hardware asymmetry — preamps, splitters, feed networks</a:t>
            </a:r>
          </a:p>
          <a:p>
            <a:pPr lvl="1"/>
            <a:r>
              <a:rPr sz="1800" b="0" i="0">
                <a:solidFill>
                  <a:srgbClr val="444455"/>
                </a:solidFill>
                <a:latin typeface="Calibri"/>
              </a:rPr>
              <a:t>Antenna geometry — crossed dipoles introduce a fixed phase relationship</a:t>
            </a:r>
          </a:p>
          <a:p>
            <a:pPr lvl="1"/>
            <a:r>
              <a:rPr sz="1800" b="0" i="0">
                <a:solidFill>
                  <a:srgbClr val="444455"/>
                </a:solidFill>
                <a:latin typeface="Calibri"/>
              </a:rPr>
              <a:t>Trail reflection — overdense trails add a ping-to-ping phase shift</a:t>
            </a:r>
          </a:p>
          <a:p>
            <a:pPr/>
            <a:r>
              <a:rPr sz="2000" b="1" i="0">
                <a:solidFill>
                  <a:srgbClr val="1A1A2E"/>
                </a:solidFill>
                <a:latin typeface="Calibri"/>
              </a:rPr>
              <a:t>The hardware contribution is fixed and stable</a:t>
            </a:r>
          </a:p>
          <a:p>
            <a:pPr lvl="1"/>
            <a:r>
              <a:rPr sz="1800" b="0" i="0">
                <a:solidFill>
                  <a:srgbClr val="444455"/>
                </a:solidFill>
                <a:latin typeface="Calibri"/>
              </a:rPr>
              <a:t>Same cables, same connectors, same offset every time</a:t>
            </a:r>
          </a:p>
          <a:p>
            <a:pPr/>
            <a:r>
              <a:rPr sz="2000" b="1" i="0">
                <a:solidFill>
                  <a:srgbClr val="1A1A2E"/>
                </a:solidFill>
                <a:latin typeface="Calibri"/>
              </a:rPr>
              <a:t>The trail contribution varies ping to ping</a:t>
            </a:r>
          </a:p>
          <a:p>
            <a:pPr lvl="1"/>
            <a:r>
              <a:rPr sz="1800" b="0" i="0">
                <a:solidFill>
                  <a:srgbClr val="444455"/>
                </a:solidFill>
                <a:latin typeface="Calibri"/>
              </a:rPr>
              <a:t>Depends on trail orientation, density, and geometry</a:t>
            </a:r>
          </a:p>
          <a:p>
            <a:pPr/>
            <a:r>
              <a:rPr sz="2000" b="1" i="0">
                <a:solidFill>
                  <a:srgbClr val="1A1A2E"/>
                </a:solidFill>
                <a:latin typeface="Calibri"/>
              </a:rPr>
              <a:t>How Δφ is estimated</a:t>
            </a:r>
          </a:p>
          <a:p>
            <a:pPr lvl="1"/>
            <a:r>
              <a:rPr sz="1800" b="0" i="0">
                <a:solidFill>
                  <a:srgbClr val="444455"/>
                </a:solidFill>
                <a:latin typeface="Calibri"/>
              </a:rPr>
              <a:t>Not measured directly — searched over 8 values: 0°, 45°, 90° … 315°</a:t>
            </a:r>
          </a:p>
          <a:p>
            <a:pPr lvl="1"/>
            <a:r>
              <a:rPr sz="1800" b="0" i="0">
                <a:solidFill>
                  <a:srgbClr val="444455"/>
                </a:solidFill>
                <a:latin typeface="Calibri"/>
              </a:rPr>
              <a:t>Combined with the θ search: 9 angles × 8 phases = 72 combinations per ping</a:t>
            </a:r>
          </a:p>
          <a:p>
            <a:pPr lvl="1"/>
            <a:r>
              <a:rPr sz="1800" b="0" i="0">
                <a:solidFill>
                  <a:srgbClr val="444455"/>
                </a:solidFill>
                <a:latin typeface="Calibri"/>
              </a:rPr>
              <a:t>The combination that maximises the MSK144 detection metric wins</a:t>
            </a:r>
          </a:p>
          <a:p>
            <a:pPr lvl="1"/>
            <a:r>
              <a:rPr sz="1800" b="0" i="0">
                <a:solidFill>
                  <a:srgbClr val="444455"/>
                </a:solidFill>
                <a:latin typeface="Calibri"/>
              </a:rPr>
              <a:t>Hardware phase error and trail phase shift both corrected implicitly</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Doppler on the Propagation Path</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On 6 m (50 MHz, λ ≈ 6 m) the path applies Doppler from three sources</a:t>
            </a:r>
          </a:p>
          <a:p>
            <a:pPr/>
            <a:r>
              <a:rPr sz="2000" b="1" i="0">
                <a:solidFill>
                  <a:srgbClr val="1A1A2E"/>
                </a:solidFill>
                <a:latin typeface="Calibri"/>
              </a:rPr>
              <a:t>Trail wind drift  —  upper-atmosphere wind at 90-100 km altitude</a:t>
            </a:r>
          </a:p>
          <a:p>
            <a:pPr lvl="1"/>
            <a:r>
              <a:rPr sz="1800" b="0" i="0">
                <a:solidFill>
                  <a:srgbClr val="444455"/>
                </a:solidFill>
                <a:latin typeface="Calibri"/>
              </a:rPr>
              <a:t>Wind speed 100-200 m/s, radial Doppler ±30-65 Hz</a:t>
            </a:r>
          </a:p>
          <a:p>
            <a:pPr lvl="1"/>
            <a:r>
              <a:rPr sz="1800" b="0" i="0">
                <a:solidFill>
                  <a:srgbClr val="444455"/>
                </a:solidFill>
                <a:latin typeface="Calibri"/>
              </a:rPr>
              <a:t>Quasi-constant within a ping; varies slowly across a session</a:t>
            </a:r>
          </a:p>
          <a:p>
            <a:pPr/>
            <a:r>
              <a:rPr sz="2000" b="1" i="0">
                <a:solidFill>
                  <a:srgbClr val="1A1A2E"/>
                </a:solidFill>
                <a:latin typeface="Calibri"/>
              </a:rPr>
              <a:t>Trail expansion  —  ambipolar diffusion of the ionised column</a:t>
            </a:r>
          </a:p>
          <a:p>
            <a:pPr lvl="1"/>
            <a:r>
              <a:rPr sz="1800" b="0" i="0">
                <a:solidFill>
                  <a:srgbClr val="444455"/>
                </a:solidFill>
                <a:latin typeface="Calibri"/>
              </a:rPr>
              <a:t>Expansion 1-5 m/s, Doppler ±0.3-1.7 Hz</a:t>
            </a:r>
          </a:p>
          <a:p>
            <a:pPr lvl="1"/>
            <a:r>
              <a:rPr sz="1800" b="0" i="0">
                <a:solidFill>
                  <a:srgbClr val="444455"/>
                </a:solidFill>
                <a:latin typeface="Calibri"/>
              </a:rPr>
              <a:t>Monotonic decay toward zero as the trail spreads</a:t>
            </a:r>
          </a:p>
          <a:p>
            <a:pPr/>
            <a:r>
              <a:rPr sz="2000" b="1" i="0">
                <a:solidFill>
                  <a:srgbClr val="1A1A2E"/>
                </a:solidFill>
                <a:latin typeface="Calibri"/>
              </a:rPr>
              <a:t>Multipath between reflection points  —  the fast component</a:t>
            </a:r>
          </a:p>
          <a:p>
            <a:pPr lvl="1"/>
            <a:r>
              <a:rPr sz="1800" b="0" i="0">
                <a:solidFill>
                  <a:srgbClr val="444455"/>
                </a:solidFill>
                <a:latin typeface="Calibri"/>
              </a:rPr>
              <a:t>Multiple ionised regions along the trail reflect simultaneously</a:t>
            </a:r>
          </a:p>
          <a:p>
            <a:pPr lvl="1"/>
            <a:r>
              <a:rPr sz="1800" b="0" i="0">
                <a:solidFill>
                  <a:srgbClr val="444455"/>
                </a:solidFill>
                <a:latin typeface="Calibri"/>
              </a:rPr>
              <a:t>Each at slightly different radial velocity → slightly different Doppler</a:t>
            </a:r>
          </a:p>
          <a:p>
            <a:pPr lvl="1"/>
            <a:r>
              <a:rPr sz="1800" b="0" i="0">
                <a:solidFill>
                  <a:srgbClr val="444455"/>
                </a:solidFill>
                <a:latin typeface="Calibri"/>
              </a:rPr>
              <a:t>Their coherent sum modulates both amplitude and frequency</a:t>
            </a:r>
          </a:p>
          <a:p>
            <a:pPr/>
            <a:r>
              <a:rPr sz="2000" b="1" i="0">
                <a:solidFill>
                  <a:srgbClr val="1A1A2E"/>
                </a:solidFill>
                <a:latin typeface="Calibri"/>
              </a:rPr>
              <a:t>Key insight:  amplitude flutter and frequency flutter are the same phenomenon</a:t>
            </a:r>
          </a:p>
          <a:p>
            <a:pPr lvl="1"/>
            <a:r>
              <a:rPr sz="1800" b="0" i="0">
                <a:solidFill>
                  <a:srgbClr val="444455"/>
                </a:solidFill>
                <a:latin typeface="Calibri"/>
              </a:rPr>
              <a:t>Both are interference between paths with different Doppler</a:t>
            </a:r>
          </a:p>
          <a:p>
            <a:pPr lvl="1"/>
            <a:r>
              <a:rPr sz="1800" b="0" i="0">
                <a:solidFill>
                  <a:srgbClr val="444455"/>
                </a:solidFill>
                <a:latin typeface="Calibri"/>
              </a:rPr>
              <a:t>A ping that flutters in amplitude is also fluttering in frequency</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Coherent Integration Has a Doppler Ceiling</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Coherent averaging gains SNR linearly with N frames  —  IF phase is stable</a:t>
            </a:r>
          </a:p>
          <a:p>
            <a:pPr lvl="1"/>
            <a:r>
              <a:rPr sz="1800" b="0" i="0">
                <a:solidFill>
                  <a:srgbClr val="444455"/>
                </a:solidFill>
                <a:latin typeface="Calibri"/>
              </a:rPr>
              <a:t>Signal sums as N · A (vectors add)</a:t>
            </a:r>
          </a:p>
          <a:p>
            <a:pPr lvl="1"/>
            <a:r>
              <a:rPr sz="1800" b="0" i="0">
                <a:solidFill>
                  <a:srgbClr val="444455"/>
                </a:solidFill>
                <a:latin typeface="Calibri"/>
              </a:rPr>
              <a:t>Noise sums as √N · σ (random phases add as variance)</a:t>
            </a:r>
          </a:p>
          <a:p>
            <a:pPr lvl="1"/>
            <a:r>
              <a:rPr sz="1800" b="0" i="0">
                <a:solidFill>
                  <a:srgbClr val="444455"/>
                </a:solidFill>
                <a:latin typeface="Calibri"/>
              </a:rPr>
              <a:t>Net gain ∝ √N when coherent — none when phase walks freely</a:t>
            </a:r>
          </a:p>
          <a:p>
            <a:pPr/>
            <a:r>
              <a:rPr sz="2000" b="1" i="0">
                <a:solidFill>
                  <a:srgbClr val="1A1A2E"/>
                </a:solidFill>
                <a:latin typeface="Calibri"/>
              </a:rPr>
              <a:t>Phase must stay within ~π/4 over the full integration window</a:t>
            </a:r>
          </a:p>
          <a:p>
            <a:pPr/>
            <a:r>
              <a:rPr sz="2000" b="1" i="0">
                <a:solidFill>
                  <a:srgbClr val="1A1A2E"/>
                </a:solidFill>
                <a:latin typeface="Calibri"/>
              </a:rPr>
              <a:t>Maximum allowable frequency drift per window length:</a:t>
            </a:r>
          </a:p>
          <a:p>
            <a:pPr lvl="1"/>
            <a:r>
              <a:rPr sz="1800" b="0" i="0">
                <a:solidFill>
                  <a:srgbClr val="444455"/>
                </a:solidFill>
                <a:latin typeface="Calibri"/>
              </a:rPr>
              <a:t>1 frame  (72 ms):   ±1.70 Hz</a:t>
            </a:r>
          </a:p>
          <a:p>
            <a:pPr lvl="1"/>
            <a:r>
              <a:rPr sz="1800" b="0" i="0">
                <a:solidFill>
                  <a:srgbClr val="444455"/>
                </a:solidFill>
                <a:latin typeface="Calibri"/>
              </a:rPr>
              <a:t>2 frames (144 ms):  ±0.87 Hz</a:t>
            </a:r>
          </a:p>
          <a:p>
            <a:pPr lvl="1"/>
            <a:r>
              <a:rPr sz="1800" b="0" i="0">
                <a:solidFill>
                  <a:srgbClr val="444455"/>
                </a:solidFill>
                <a:latin typeface="Calibri"/>
              </a:rPr>
              <a:t>3 frames (216 ms):  ±0.58 Hz</a:t>
            </a:r>
          </a:p>
          <a:p>
            <a:pPr lvl="1"/>
            <a:r>
              <a:rPr sz="1800" b="0" i="0">
                <a:solidFill>
                  <a:srgbClr val="444455"/>
                </a:solidFill>
                <a:latin typeface="Calibri"/>
              </a:rPr>
              <a:t>5 frames (360 ms):  ±0.35 Hz</a:t>
            </a:r>
          </a:p>
          <a:p>
            <a:pPr lvl="1"/>
            <a:r>
              <a:rPr sz="1800" b="0" i="0">
                <a:solidFill>
                  <a:srgbClr val="444455"/>
                </a:solidFill>
                <a:latin typeface="Calibri"/>
              </a:rPr>
              <a:t>7 frames (504 ms):  ±0.25 Hz</a:t>
            </a:r>
          </a:p>
          <a:p>
            <a:pPr/>
            <a:r>
              <a:rPr sz="2000" b="1" i="0">
                <a:solidFill>
                  <a:srgbClr val="1A1A2E"/>
                </a:solidFill>
                <a:latin typeface="Calibri"/>
              </a:rPr>
              <a:t>WSJT-X Deep mode (-d 3) attempts 5- and 7-frame averages</a:t>
            </a:r>
          </a:p>
          <a:p>
            <a:pPr lvl="1"/>
            <a:r>
              <a:rPr sz="1800" b="0" i="0">
                <a:solidFill>
                  <a:srgbClr val="444455"/>
                </a:solidFill>
                <a:latin typeface="Calibri"/>
              </a:rPr>
              <a:t>Works on smooth overdense trails (one dominant reflection, stable phase)</a:t>
            </a:r>
          </a:p>
          <a:p>
            <a:pPr lvl="1"/>
            <a:r>
              <a:rPr sz="1800" b="0" i="0">
                <a:solidFill>
                  <a:srgbClr val="444455"/>
                </a:solidFill>
                <a:latin typeface="Calibri"/>
              </a:rPr>
              <a:t>Fails silently on fluttery signals — coherent gain degrades, decoder still tries</a:t>
            </a:r>
          </a:p>
          <a:p>
            <a:pPr lvl="1"/>
            <a:r>
              <a:rPr sz="1800" b="0" i="0">
                <a:solidFill>
                  <a:srgbClr val="444455"/>
                </a:solidFill>
                <a:latin typeface="Calibri"/>
              </a:rPr>
              <a:t>Phantom decodes during noise events come partly from this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MSK144 — The Protocol</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Part of the WSJT-X suite by K1JT et al.</a:t>
            </a:r>
          </a:p>
          <a:p>
            <a:pPr/>
            <a:r>
              <a:rPr sz="2000" b="1" i="0">
                <a:solidFill>
                  <a:srgbClr val="1A1A2E"/>
                </a:solidFill>
                <a:latin typeface="Calibri"/>
              </a:rPr>
              <a:t>Minimum Shift Keying</a:t>
            </a:r>
          </a:p>
          <a:p>
            <a:pPr lvl="1"/>
            <a:r>
              <a:rPr sz="1800" b="0" i="0">
                <a:solidFill>
                  <a:srgbClr val="444455"/>
                </a:solidFill>
                <a:latin typeface="Calibri"/>
              </a:rPr>
              <a:t>2000 baud, 144 characters per second — designed for short bursts</a:t>
            </a:r>
          </a:p>
          <a:p>
            <a:pPr lvl="1"/>
            <a:r>
              <a:rPr sz="1800" b="0" i="0">
                <a:solidFill>
                  <a:srgbClr val="444455"/>
                </a:solidFill>
                <a:latin typeface="Calibri"/>
              </a:rPr>
              <a:t>Decodable from fragments as short as ~72 ms</a:t>
            </a:r>
          </a:p>
          <a:p>
            <a:pPr/>
            <a:r>
              <a:rPr sz="2000" b="1" i="0">
                <a:solidFill>
                  <a:srgbClr val="1A1A2E"/>
                </a:solidFill>
                <a:latin typeface="Calibri"/>
              </a:rPr>
              <a:t>Carries: callsigns, grid square, signal report</a:t>
            </a:r>
          </a:p>
          <a:p>
            <a:pPr lvl="1"/>
            <a:r>
              <a:rPr sz="1800" b="0" i="0">
                <a:solidFill>
                  <a:srgbClr val="444455"/>
                </a:solidFill>
                <a:latin typeface="Calibri"/>
              </a:rPr>
              <a:t>13-character free-text mode also supported</a:t>
            </a:r>
          </a:p>
          <a:p>
            <a:pPr/>
            <a:r>
              <a:rPr sz="2000" b="1" i="0">
                <a:solidFill>
                  <a:srgbClr val="1A1A2E"/>
                </a:solidFill>
                <a:latin typeface="Calibri"/>
              </a:rPr>
              <a:t>Calling frequencies: 50.260, 144.150, 222.100 MHz</a:t>
            </a:r>
          </a:p>
          <a:p>
            <a:pPr/>
            <a:r>
              <a:rPr sz="2000" b="1" i="0">
                <a:solidFill>
                  <a:srgbClr val="1A1A2E"/>
                </a:solidFill>
                <a:latin typeface="Calibri"/>
              </a:rPr>
              <a:t>Standard tool for meteor scatter QSOs worldwide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3</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Features</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What MAP144 does</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Everyone</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What MAP144 Does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Takes a 48 kHz complex IF signal from a digital receiver</a:t>
            </a:r>
          </a:p>
          <a:p>
            <a:pPr lvl="1"/>
            <a:r>
              <a:rPr sz="1800" b="0" i="0">
                <a:solidFill>
                  <a:srgbClr val="444455"/>
                </a:solidFill>
                <a:latin typeface="Calibri"/>
              </a:rPr>
              <a:t>Receiver tuned to the MSK144 calling frequency, looks +/- 17 kHz</a:t>
            </a:r>
          </a:p>
          <a:p>
            <a:pPr lvl="1"/>
            <a:r>
              <a:rPr sz="1800" b="0" i="0">
                <a:solidFill>
                  <a:srgbClr val="444455"/>
                </a:solidFill>
                <a:latin typeface="Calibri"/>
              </a:rPr>
              <a:t>Supports FlexRadio, USRP B210, AirSpy, RTL-SDR, and WAV file replay</a:t>
            </a:r>
          </a:p>
          <a:p>
            <a:pPr/>
            <a:r>
              <a:rPr sz="2000" b="1" i="0">
                <a:solidFill>
                  <a:srgbClr val="1A1A2E"/>
                </a:solidFill>
                <a:latin typeface="Calibri"/>
              </a:rPr>
              <a:t>Finds and decodes all MSK144 signals across ±17 kHz</a:t>
            </a:r>
          </a:p>
          <a:p>
            <a:pPr lvl="1"/>
            <a:r>
              <a:rPr sz="1800" b="0" i="0">
                <a:solidFill>
                  <a:srgbClr val="444455"/>
                </a:solidFill>
                <a:latin typeface="Calibri"/>
              </a:rPr>
              <a:t>Creates 48 channels, on 1 kHz spacing, monitored simultaneously</a:t>
            </a:r>
          </a:p>
          <a:p>
            <a:pPr lvl="1"/>
            <a:r>
              <a:rPr sz="1800" b="0" i="0">
                <a:solidFill>
                  <a:srgbClr val="444455"/>
                </a:solidFill>
                <a:latin typeface="Calibri"/>
              </a:rPr>
              <a:t>No operator intervention required — decodes everything it hears</a:t>
            </a:r>
          </a:p>
          <a:p>
            <a:pPr/>
            <a:r>
              <a:rPr sz="2000" b="1" i="0">
                <a:solidFill>
                  <a:srgbClr val="1A1A2E"/>
                </a:solidFill>
                <a:latin typeface="Calibri"/>
              </a:rPr>
              <a:t>Shows decoded messages in a small window with color-coded aging</a:t>
            </a:r>
          </a:p>
          <a:p>
            <a:pPr/>
            <a:r>
              <a:rPr sz="2000" b="1" i="0">
                <a:solidFill>
                  <a:srgbClr val="1A1A2E"/>
                </a:solidFill>
                <a:latin typeface="Calibri"/>
              </a:rPr>
              <a:t>Reports decoded messages to GridTracker, N1MM, DX cluster, PSKReporter</a:t>
            </a:r>
          </a:p>
          <a:p>
            <a:pPr/>
            <a:r>
              <a:rPr sz="2000" b="1" i="0">
                <a:solidFill>
                  <a:srgbClr val="1A1A2E"/>
                </a:solidFill>
                <a:latin typeface="Calibri"/>
              </a:rPr>
              <a:t>Optional display windows:</a:t>
            </a:r>
          </a:p>
          <a:p>
            <a:pPr lvl="1"/>
            <a:r>
              <a:rPr sz="1800" b="0" i="0">
                <a:solidFill>
                  <a:srgbClr val="444455"/>
                </a:solidFill>
                <a:latin typeface="Calibri"/>
              </a:rPr>
              <a:t>Fast Graph — real-time spectrogram and tone detection SNR display</a:t>
            </a:r>
          </a:p>
          <a:p>
            <a:pPr lvl="1"/>
            <a:r>
              <a:rPr sz="1800" b="0" i="0">
                <a:solidFill>
                  <a:srgbClr val="444455"/>
                </a:solidFill>
                <a:latin typeface="Calibri"/>
              </a:rPr>
              <a:t>Internal decode processing — detector metrics and pipeline status</a:t>
            </a:r>
          </a:p>
          <a:p>
            <a:pPr lvl="1"/>
            <a:r>
              <a:rPr sz="1800" b="0" i="0">
                <a:solidFill>
                  <a:srgbClr val="444455"/>
                </a:solidFill>
                <a:latin typeface="Calibri"/>
              </a:rPr>
              <a:t>Receiver status — source connection, sample rate, noise floor</a:t>
            </a:r>
          </a:p>
          <a:p>
            <a:pPr lvl="1"/>
            <a:r>
              <a:rPr sz="1800" b="0" i="0">
                <a:solidFill>
                  <a:srgbClr val="444455"/>
                </a:solidFill>
                <a:latin typeface="Calibri"/>
              </a:rPr>
              <a:t>Oscilloscope and noise blanker — real-time IQ waveform display</a:t>
            </a:r>
          </a:p>
          <a:p>
            <a:pPr/>
            <a:r>
              <a:rPr sz="2000" b="1" i="0">
                <a:solidFill>
                  <a:srgbClr val="1A1A2E"/>
                </a:solidFill>
                <a:latin typeface="Calibri"/>
              </a:rPr>
              <a:t>Analysis window — operator tool for weak or corrupted signal recovery</a:t>
            </a:r>
          </a:p>
          <a:p>
            <a:pPr lvl="1"/>
            <a:r>
              <a:rPr sz="1800" b="0" i="0">
                <a:solidFill>
                  <a:srgbClr val="444455"/>
                </a:solidFill>
                <a:latin typeface="Calibri"/>
              </a:rPr>
              <a:t>Replay captured IQ, re-run detector, manually trigger decode attempts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pipeline.png"/>
          <p:cNvPicPr>
            <a:picLocks noChangeAspect="1"/>
          </p:cNvPicPr>
          <p:nvPr/>
        </p:nvPicPr>
        <p:blipFill>
          <a:blip r:embed="rId2"/>
          <a:stretch>
            <a:fillRect/>
          </a:stretch>
        </p:blipFill>
        <p:spPr>
          <a:xfrm>
            <a:off x="365760" y="4660975"/>
            <a:ext cx="11460175" cy="1831265"/>
          </a:xfrm>
          <a:prstGeom prst="rect">
            <a:avLst/>
          </a:prstGeom>
        </p:spPr>
      </p:pic>
      <p:sp>
        <p:nvSpPr>
          <p:cNvPr id="4" name="TextBox 3"/>
          <p:cNvSpPr txBox="1"/>
          <p:nvPr/>
        </p:nvSpPr>
        <p:spPr>
          <a:xfrm>
            <a:off x="365760" y="137160"/>
            <a:ext cx="11460175" cy="685800"/>
          </a:xfrm>
          <a:prstGeom prst="rect">
            <a:avLst/>
          </a:prstGeom>
          <a:noFill/>
        </p:spPr>
        <p:txBody>
          <a:bodyPr wrap="square">
            <a:spAutoFit/>
          </a:bodyPr>
          <a:lstStyle/>
          <a:p>
            <a:pPr algn="l"/>
            <a:r>
              <a:rPr sz="2800" b="1" i="0">
                <a:solidFill>
                  <a:srgbClr val="1B3A6B"/>
                </a:solidFill>
                <a:latin typeface="Calibri"/>
              </a:rPr>
              <a:t>Signal Processing Pipeline</a:t>
            </a:r>
          </a:p>
        </p:txBody>
      </p:sp>
      <p:sp>
        <p:nvSpPr>
          <p:cNvPr id="5" name="TextBox 4"/>
          <p:cNvSpPr txBox="1"/>
          <p:nvPr/>
        </p:nvSpPr>
        <p:spPr>
          <a:xfrm>
            <a:off x="365760" y="960120"/>
            <a:ext cx="11460175" cy="3591127"/>
          </a:xfrm>
          <a:prstGeom prst="rect">
            <a:avLst/>
          </a:prstGeom>
          <a:noFill/>
        </p:spPr>
        <p:txBody>
          <a:bodyPr wrap="square">
            <a:normAutofit/>
          </a:bodyPr>
          <a:lstStyle/>
          <a:p>
            <a:pPr marL="342900" indent="-342900">
              <a:buChar char="•"/>
            </a:pPr>
            <a:r>
              <a:rPr sz="2000" b="1" i="0">
                <a:solidFill>
                  <a:srgbClr val="1A1A2E"/>
                </a:solidFill>
                <a:latin typeface="Calibri"/>
              </a:rPr>
              <a:t>Noise blanker  —  impulse rejection before channelization</a:t>
            </a:r>
          </a:p>
          <a:p>
            <a:pPr marL="1028700" indent="-342900">
              <a:buChar char="–"/>
            </a:pPr>
            <a:r>
              <a:rPr sz="1800" b="0" i="0">
                <a:solidFill>
                  <a:srgbClr val="444455"/>
                </a:solidFill>
                <a:latin typeface="Calibri"/>
              </a:rPr>
              <a:t>Wideband FFT; hot bins zeroed and re-synthesised</a:t>
            </a:r>
          </a:p>
          <a:p>
            <a:pPr marL="342900" indent="-342900">
              <a:buChar char="•"/>
            </a:pPr>
            <a:r>
              <a:rPr sz="2000" b="1" i="0">
                <a:solidFill>
                  <a:srgbClr val="1A1A2E"/>
                </a:solidFill>
                <a:latin typeface="Calibri"/>
              </a:rPr>
              <a:t>Polyphase channelizer  —  48-channel filter bank</a:t>
            </a:r>
          </a:p>
          <a:p>
            <a:pPr marL="1028700" indent="-342900">
              <a:buChar char="–"/>
            </a:pPr>
            <a:r>
              <a:rPr sz="1800" b="0" i="0">
                <a:solidFill>
                  <a:srgbClr val="444455"/>
                </a:solidFill>
                <a:latin typeface="Calibri"/>
              </a:rPr>
              <a:t>Each channel 1 kHz wide, decimated 48 kHz → 12 kHz complex IQ</a:t>
            </a:r>
          </a:p>
          <a:p>
            <a:pPr marL="342900" indent="-342900">
              <a:buChar char="•"/>
            </a:pPr>
            <a:r>
              <a:rPr sz="2000" b="1" i="0">
                <a:solidFill>
                  <a:srgbClr val="1A1A2E"/>
                </a:solidFill>
                <a:latin typeface="Calibri"/>
              </a:rPr>
              <a:t>Squared-spectrum detector  —  per channel, every 42.7 ms hop</a:t>
            </a:r>
          </a:p>
          <a:p>
            <a:pPr marL="1028700" indent="-342900">
              <a:buChar char="–"/>
            </a:pPr>
            <a:r>
              <a:rPr sz="1800" b="0" i="0">
                <a:solidFill>
                  <a:srgbClr val="444455"/>
                </a:solidFill>
                <a:latin typeface="Calibri"/>
              </a:rPr>
              <a:t>MSK144 tones ±500 Hz from carrier → lobes 2000 Hz apart when squared</a:t>
            </a:r>
          </a:p>
          <a:p>
            <a:pPr marL="1028700" indent="-342900">
              <a:buChar char="–"/>
            </a:pPr>
            <a:r>
              <a:rPr sz="1800" b="0" i="0">
                <a:solidFill>
                  <a:srgbClr val="444455"/>
                </a:solidFill>
                <a:latin typeface="Calibri"/>
              </a:rPr>
              <a:t>Rolling 25th-percentile baseline over 32 s per channel</a:t>
            </a:r>
          </a:p>
          <a:p>
            <a:pPr marL="342900" indent="-342900">
              <a:buChar char="•"/>
            </a:pPr>
            <a:r>
              <a:rPr sz="2000" b="1" i="0">
                <a:solidFill>
                  <a:srgbClr val="1A1A2E"/>
                </a:solidFill>
                <a:latin typeface="Calibri"/>
              </a:rPr>
              <a:t>Cluster-based coincidence gate  —  counts narrow-band clusters, not channels</a:t>
            </a:r>
          </a:p>
          <a:p>
            <a:pPr marL="1028700" indent="-342900">
              <a:buChar char="–"/>
            </a:pPr>
            <a:r>
              <a:rPr sz="1800" b="0" i="0">
                <a:solidFill>
                  <a:srgbClr val="444455"/>
                </a:solidFill>
                <a:latin typeface="Calibri"/>
              </a:rPr>
              <a:t>Each real ping spreads to ~3 adjacent channels; gate counts separate clusters</a:t>
            </a:r>
          </a:p>
          <a:p>
            <a:pPr marL="342900" indent="-342900">
              <a:buChar char="•"/>
            </a:pPr>
            <a:r>
              <a:rPr sz="2000" b="1" i="0">
                <a:solidFill>
                  <a:srgbClr val="1A1A2E"/>
                </a:solidFill>
                <a:latin typeface="Calibri"/>
              </a:rPr>
              <a:t>Decimate + mix + BPF  —  12 kHz complex IQ, ±1200 Hz audio BPF</a:t>
            </a:r>
          </a:p>
          <a:p>
            <a:pPr marL="342900" indent="-342900">
              <a:buChar char="•"/>
            </a:pPr>
            <a:r>
              <a:rPr sz="2000" b="1" i="0">
                <a:solidFill>
                  <a:srgbClr val="1A1A2E"/>
                </a:solidFill>
                <a:latin typeface="Calibri"/>
              </a:rPr>
              <a:t>SPD decoder  —  Python reimplementation of the WSJT-X Short Ping Decoder</a:t>
            </a:r>
          </a:p>
          <a:p>
            <a:pPr marL="342900" indent="-342900">
              <a:buChar char="•"/>
            </a:pPr>
            <a:r>
              <a:rPr sz="2000" b="1" i="0">
                <a:solidFill>
                  <a:srgbClr val="1A1A2E"/>
                </a:solidFill>
                <a:latin typeface="Calibri"/>
              </a:rPr>
              <a:t>jt9 decoder  —  fallback for pings SPD misses; handles longer bursts</a:t>
            </a:r>
          </a:p>
          <a:p>
            <a:pPr marL="342900" indent="-342900">
              <a:buChar char="•"/>
            </a:pPr>
            <a:r>
              <a:rPr sz="2000" b="1" i="0">
                <a:solidFill>
                  <a:srgbClr val="1A1A2E"/>
                </a:solidFill>
                <a:latin typeface="Calibri"/>
              </a:rPr>
              <a:t>Reporting  —  PSKReporter · WSJT-X UDP · DX cluster</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fast_graph.png"/>
          <p:cNvPicPr>
            <a:picLocks noChangeAspect="1"/>
          </p:cNvPicPr>
          <p:nvPr/>
        </p:nvPicPr>
        <p:blipFill>
          <a:blip r:embed="rId2"/>
          <a:stretch>
            <a:fillRect/>
          </a:stretch>
        </p:blipFill>
        <p:spPr>
          <a:xfrm>
            <a:off x="365760" y="2602593"/>
            <a:ext cx="11460175" cy="3889647"/>
          </a:xfrm>
          <a:prstGeom prst="rect">
            <a:avLst/>
          </a:prstGeom>
        </p:spPr>
      </p:pic>
      <p:sp>
        <p:nvSpPr>
          <p:cNvPr id="4" name="TextBox 3"/>
          <p:cNvSpPr txBox="1"/>
          <p:nvPr/>
        </p:nvSpPr>
        <p:spPr>
          <a:xfrm>
            <a:off x="365760" y="137160"/>
            <a:ext cx="11460175" cy="685800"/>
          </a:xfrm>
          <a:prstGeom prst="rect">
            <a:avLst/>
          </a:prstGeom>
          <a:noFill/>
        </p:spPr>
        <p:txBody>
          <a:bodyPr wrap="square">
            <a:spAutoFit/>
          </a:bodyPr>
          <a:lstStyle/>
          <a:p>
            <a:pPr algn="l"/>
            <a:r>
              <a:rPr sz="2800" b="1" i="0">
                <a:solidFill>
                  <a:srgbClr val="1B3A6B"/>
                </a:solidFill>
                <a:latin typeface="Calibri"/>
              </a:rPr>
              <a:t>Real-Time Fast Graph (like WSJT-X)</a:t>
            </a:r>
          </a:p>
        </p:txBody>
      </p:sp>
      <p:sp>
        <p:nvSpPr>
          <p:cNvPr id="5" name="TextBox 4"/>
          <p:cNvSpPr txBox="1"/>
          <p:nvPr/>
        </p:nvSpPr>
        <p:spPr>
          <a:xfrm>
            <a:off x="365760" y="960120"/>
            <a:ext cx="11460175" cy="1532745"/>
          </a:xfrm>
          <a:prstGeom prst="rect">
            <a:avLst/>
          </a:prstGeom>
          <a:noFill/>
        </p:spPr>
        <p:txBody>
          <a:bodyPr wrap="square">
            <a:normAutofit/>
          </a:bodyPr>
          <a:lstStyle/>
          <a:p>
            <a:pPr marL="342900" indent="-342900">
              <a:buChar char="•"/>
            </a:pPr>
            <a:r>
              <a:rPr sz="2000" b="1" i="0">
                <a:solidFill>
                  <a:srgbClr val="1A1A2E"/>
                </a:solidFill>
                <a:latin typeface="Calibri"/>
              </a:rPr>
              <a:t>48 kHz IQ stream displayed as a scrolling waterfall</a:t>
            </a:r>
          </a:p>
          <a:p>
            <a:pPr marL="1028700" indent="-342900">
              <a:buChar char="–"/>
            </a:pPr>
            <a:r>
              <a:rPr sz="1800" b="0" i="0">
                <a:solidFill>
                  <a:srgbClr val="444455"/>
                </a:solidFill>
                <a:latin typeface="Calibri"/>
              </a:rPr>
              <a:t>Top pane: current 15 s window</a:t>
            </a:r>
          </a:p>
          <a:p>
            <a:pPr marL="1028700" indent="-342900">
              <a:buChar char="–"/>
            </a:pPr>
            <a:r>
              <a:rPr sz="1800" b="0" i="0">
                <a:solidFill>
                  <a:srgbClr val="444455"/>
                </a:solidFill>
                <a:latin typeface="Calibri"/>
              </a:rPr>
              <a:t>Bottom pane: accumulated previous 15 s</a:t>
            </a:r>
          </a:p>
          <a:p>
            <a:pPr marL="342900" indent="-342900">
              <a:buChar char="•"/>
            </a:pPr>
            <a:r>
              <a:rPr sz="2000" b="1" i="0">
                <a:solidFill>
                  <a:srgbClr val="1A1A2E"/>
                </a:solidFill>
                <a:latin typeface="Calibri"/>
              </a:rPr>
              <a:t>Frequency axis</a:t>
            </a:r>
          </a:p>
          <a:p>
            <a:pPr marL="1028700" indent="-342900">
              <a:buChar char="–"/>
            </a:pPr>
            <a:r>
              <a:rPr sz="1800" b="0" i="0">
                <a:solidFill>
                  <a:srgbClr val="444455"/>
                </a:solidFill>
                <a:latin typeface="Calibri"/>
              </a:rPr>
              <a:t>±24 kHz around the calling frequency</a:t>
            </a:r>
          </a:p>
          <a:p>
            <a:pPr marL="342900" indent="-342900">
              <a:buChar char="•"/>
            </a:pPr>
            <a:r>
              <a:rPr sz="2000" b="1" i="0">
                <a:solidFill>
                  <a:srgbClr val="1A1A2E"/>
                </a:solidFill>
                <a:latin typeface="Calibri"/>
              </a:rPr>
              <a:t>Color scale</a:t>
            </a:r>
          </a:p>
          <a:p>
            <a:pPr marL="1028700" indent="-342900">
              <a:buChar char="–"/>
            </a:pPr>
            <a:r>
              <a:rPr sz="1800" b="0" i="0">
                <a:solidFill>
                  <a:srgbClr val="444455"/>
                </a:solidFill>
                <a:latin typeface="Calibri"/>
              </a:rPr>
              <a:t>Adjustable min/max dB</a:t>
            </a:r>
          </a:p>
          <a:p>
            <a:pPr marL="342900" indent="-342900">
              <a:buChar char="•"/>
            </a:pPr>
            <a:r>
              <a:rPr sz="2000" b="1" i="0">
                <a:solidFill>
                  <a:srgbClr val="1A1A2E"/>
                </a:solidFill>
                <a:latin typeface="Calibri"/>
              </a:rPr>
              <a:t>Fast Graph shows test file with 10 pings</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detection_heatmap.png"/>
          <p:cNvPicPr>
            <a:picLocks noChangeAspect="1"/>
          </p:cNvPicPr>
          <p:nvPr/>
        </p:nvPicPr>
        <p:blipFill>
          <a:blip r:embed="rId2"/>
          <a:stretch>
            <a:fillRect/>
          </a:stretch>
        </p:blipFill>
        <p:spPr>
          <a:xfrm>
            <a:off x="365760" y="2076121"/>
            <a:ext cx="11460175" cy="4416119"/>
          </a:xfrm>
          <a:prstGeom prst="rect">
            <a:avLst/>
          </a:prstGeom>
        </p:spPr>
      </p:pic>
      <p:sp>
        <p:nvSpPr>
          <p:cNvPr id="4" name="TextBox 3"/>
          <p:cNvSpPr txBox="1"/>
          <p:nvPr/>
        </p:nvSpPr>
        <p:spPr>
          <a:xfrm>
            <a:off x="365760" y="137160"/>
            <a:ext cx="11460175" cy="685800"/>
          </a:xfrm>
          <a:prstGeom prst="rect">
            <a:avLst/>
          </a:prstGeom>
          <a:noFill/>
        </p:spPr>
        <p:txBody>
          <a:bodyPr wrap="square">
            <a:spAutoFit/>
          </a:bodyPr>
          <a:lstStyle/>
          <a:p>
            <a:pPr algn="l"/>
            <a:r>
              <a:rPr sz="2800" b="1" i="0">
                <a:solidFill>
                  <a:srgbClr val="1B3A6B"/>
                </a:solidFill>
                <a:latin typeface="Calibri"/>
              </a:rPr>
              <a:t>Tone Detection SNR Display</a:t>
            </a:r>
          </a:p>
        </p:txBody>
      </p:sp>
      <p:sp>
        <p:nvSpPr>
          <p:cNvPr id="5" name="TextBox 4"/>
          <p:cNvSpPr txBox="1"/>
          <p:nvPr/>
        </p:nvSpPr>
        <p:spPr>
          <a:xfrm>
            <a:off x="365760" y="960120"/>
            <a:ext cx="11460175" cy="1006273"/>
          </a:xfrm>
          <a:prstGeom prst="rect">
            <a:avLst/>
          </a:prstGeom>
          <a:noFill/>
        </p:spPr>
        <p:txBody>
          <a:bodyPr wrap="square">
            <a:normAutofit/>
          </a:bodyPr>
          <a:lstStyle/>
          <a:p>
            <a:pPr marL="342900" indent="-342900">
              <a:buChar char="•"/>
            </a:pPr>
            <a:r>
              <a:rPr sz="2000" b="1" i="0">
                <a:solidFill>
                  <a:srgbClr val="1A1A2E"/>
                </a:solidFill>
                <a:latin typeface="Calibri"/>
              </a:rPr>
              <a:t>One row per 1 kHz channel across ±24 kHz</a:t>
            </a:r>
          </a:p>
          <a:p>
            <a:pPr marL="342900" indent="-342900">
              <a:buChar char="•"/>
            </a:pPr>
            <a:r>
              <a:rPr sz="2000" b="1" i="0">
                <a:solidFill>
                  <a:srgbClr val="1A1A2E"/>
                </a:solidFill>
                <a:latin typeface="Calibri"/>
              </a:rPr>
              <a:t>Brightness = squared-domain tone SNR above noise floor</a:t>
            </a:r>
          </a:p>
          <a:p>
            <a:pPr marL="1028700" indent="-342900">
              <a:buChar char="–"/>
            </a:pPr>
            <a:r>
              <a:rPr sz="1800" b="0" i="0">
                <a:solidFill>
                  <a:srgbClr val="444455"/>
                </a:solidFill>
                <a:latin typeface="Calibri"/>
              </a:rPr>
              <a:t>Detects MSK144 tone pair without decoding</a:t>
            </a:r>
          </a:p>
          <a:p>
            <a:pPr marL="1028700" indent="-342900">
              <a:buChar char="–"/>
            </a:pPr>
            <a:r>
              <a:rPr sz="1800" b="0" i="0">
                <a:solidFill>
                  <a:srgbClr val="444455"/>
                </a:solidFill>
                <a:latin typeface="Calibri"/>
              </a:rPr>
              <a:t>Insensitive to narrow-band interference</a:t>
            </a:r>
          </a:p>
          <a:p>
            <a:pPr marL="342900" indent="-342900">
              <a:buChar char="•"/>
            </a:pPr>
            <a:r>
              <a:rPr sz="2000" b="1" i="0">
                <a:solidFill>
                  <a:srgbClr val="1A1A2E"/>
                </a:solidFill>
                <a:latin typeface="Calibri"/>
              </a:rPr>
              <a:t>Green circle = successful decode</a:t>
            </a:r>
          </a:p>
          <a:p>
            <a:pPr marL="342900" indent="-342900">
              <a:buChar char="•"/>
            </a:pPr>
            <a:r>
              <a:rPr sz="2000" b="1" i="0">
                <a:solidFill>
                  <a:srgbClr val="1A1A2E"/>
                </a:solidFill>
                <a:latin typeface="Calibri"/>
              </a:rPr>
              <a:t>Orange circle = jt9 launched, no decode</a:t>
            </a:r>
          </a:p>
          <a:p>
            <a:pPr marL="342900" indent="-342900">
              <a:buChar char="•"/>
            </a:pPr>
            <a:r>
              <a:rPr sz="2000" b="1" i="0">
                <a:solidFill>
                  <a:srgbClr val="1A1A2E"/>
                </a:solidFill>
                <a:latin typeface="Calibri"/>
              </a:rPr>
              <a:t>Time axis: 0–15 s, left to right</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Supported Radio Sources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FlexRadio 6000-series</a:t>
            </a:r>
          </a:p>
          <a:p>
            <a:pPr lvl="1"/>
            <a:r>
              <a:rPr sz="1800" b="0" i="0">
                <a:solidFill>
                  <a:srgbClr val="444455"/>
                </a:solidFill>
                <a:latin typeface="Calibri"/>
              </a:rPr>
              <a:t>FlexClient via TCP — reads IQ directly from the panadapter slice</a:t>
            </a:r>
          </a:p>
          <a:p>
            <a:pPr lvl="1"/>
            <a:r>
              <a:rPr sz="1800" b="0" i="0">
                <a:solidFill>
                  <a:srgbClr val="444455"/>
                </a:solidFill>
                <a:latin typeface="Calibri"/>
              </a:rPr>
              <a:t>Tracks pan center frequency automatically</a:t>
            </a:r>
          </a:p>
          <a:p>
            <a:pPr/>
            <a:r>
              <a:rPr sz="2000" b="1" i="0">
                <a:solidFill>
                  <a:srgbClr val="1A1A2E"/>
                </a:solidFill>
                <a:latin typeface="Calibri"/>
              </a:rPr>
              <a:t>USRP B210 (Ettus Research)</a:t>
            </a:r>
          </a:p>
          <a:p>
            <a:pPr lvl="1"/>
            <a:r>
              <a:rPr sz="1800" b="0" i="0">
                <a:solidFill>
                  <a:srgbClr val="444455"/>
                </a:solidFill>
                <a:latin typeface="Calibri"/>
              </a:rPr>
              <a:t>Via UHD — supports dual-polarization (H and V simultaneously)</a:t>
            </a:r>
          </a:p>
          <a:p>
            <a:pPr/>
            <a:r>
              <a:rPr sz="2000" b="1" i="0">
                <a:solidFill>
                  <a:srgbClr val="1A1A2E"/>
                </a:solidFill>
                <a:latin typeface="Calibri"/>
              </a:rPr>
              <a:t>AirSpy R2 / Mini</a:t>
            </a:r>
          </a:p>
          <a:p>
            <a:pPr lvl="1"/>
            <a:r>
              <a:rPr sz="1800" b="0" i="0">
                <a:solidFill>
                  <a:srgbClr val="444455"/>
                </a:solidFill>
                <a:latin typeface="Calibri"/>
              </a:rPr>
              <a:t>Direct sampling via airspy library</a:t>
            </a:r>
          </a:p>
          <a:p>
            <a:pPr/>
            <a:r>
              <a:rPr sz="2000" b="1" i="0">
                <a:solidFill>
                  <a:srgbClr val="1A1A2E"/>
                </a:solidFill>
                <a:latin typeface="Calibri"/>
              </a:rPr>
              <a:t>RTL-SDR</a:t>
            </a:r>
          </a:p>
          <a:p>
            <a:pPr lvl="1"/>
            <a:r>
              <a:rPr sz="1800" b="0" i="0">
                <a:solidFill>
                  <a:srgbClr val="444455"/>
                </a:solidFill>
                <a:latin typeface="Calibri"/>
              </a:rPr>
              <a:t>Low-cost USB dongle — 8-bit but functional</a:t>
            </a:r>
          </a:p>
          <a:p>
            <a:pPr/>
            <a:r>
              <a:rPr sz="2000" b="1" i="0">
                <a:solidFill>
                  <a:srgbClr val="1A1A2E"/>
                </a:solidFill>
                <a:latin typeface="Calibri"/>
              </a:rPr>
              <a:t>WAV file replay</a:t>
            </a:r>
          </a:p>
          <a:p>
            <a:pPr lvl="1"/>
            <a:r>
              <a:rPr sz="1800" b="0" i="0">
                <a:solidFill>
                  <a:srgbClr val="444455"/>
                </a:solidFill>
                <a:latin typeface="Calibri"/>
              </a:rPr>
              <a:t>Offline analysis of recorded IQ — single or dual-polarization</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flex_radio.png"/>
          <p:cNvPicPr>
            <a:picLocks noChangeAspect="1"/>
          </p:cNvPicPr>
          <p:nvPr/>
        </p:nvPicPr>
        <p:blipFill>
          <a:blip r:embed="rId2"/>
          <a:stretch>
            <a:fillRect/>
          </a:stretch>
        </p:blipFill>
        <p:spPr>
          <a:xfrm>
            <a:off x="8571601" y="101600"/>
            <a:ext cx="3620094" cy="6500368"/>
          </a:xfrm>
          <a:prstGeom prst="rect">
            <a:avLst/>
          </a:prstGeom>
        </p:spPr>
      </p:pic>
      <p:sp>
        <p:nvSpPr>
          <p:cNvPr id="4" name="TextBox 3"/>
          <p:cNvSpPr txBox="1"/>
          <p:nvPr/>
        </p:nvSpPr>
        <p:spPr>
          <a:xfrm>
            <a:off x="365760" y="137160"/>
            <a:ext cx="11430000" cy="685800"/>
          </a:xfrm>
          <a:prstGeom prst="rect">
            <a:avLst/>
          </a:prstGeom>
          <a:noFill/>
        </p:spPr>
        <p:txBody>
          <a:bodyPr wrap="square">
            <a:spAutoFit/>
          </a:bodyPr>
          <a:lstStyle/>
          <a:p>
            <a:pPr algn="l"/>
            <a:r>
              <a:rPr sz="2800" b="1" i="0">
                <a:solidFill>
                  <a:srgbClr val="1B3A6B"/>
                </a:solidFill>
                <a:latin typeface="Calibri"/>
              </a:rPr>
              <a:t>FlexRadio Status Window</a:t>
            </a:r>
          </a:p>
        </p:txBody>
      </p:sp>
      <p:sp>
        <p:nvSpPr>
          <p:cNvPr id="5" name="TextBox 4"/>
          <p:cNvSpPr txBox="1"/>
          <p:nvPr/>
        </p:nvSpPr>
        <p:spPr>
          <a:xfrm>
            <a:off x="365760" y="960120"/>
            <a:ext cx="8138160" cy="4572000"/>
          </a:xfrm>
          <a:prstGeom prst="rect">
            <a:avLst/>
          </a:prstGeom>
          <a:noFill/>
        </p:spPr>
        <p:txBody>
          <a:bodyPr wrap="square">
            <a:normAutofit/>
          </a:bodyPr>
          <a:lstStyle/>
          <a:p>
            <a:pPr marL="342900" indent="-342900">
              <a:buChar char="•"/>
            </a:pPr>
            <a:r>
              <a:rPr sz="1800" b="1" i="0">
                <a:solidFill>
                  <a:srgbClr val="1A1A2E"/>
                </a:solidFill>
                <a:latin typeface="Calibri"/>
              </a:rPr>
              <a:t>Discovers radios running FlexClient on the network</a:t>
            </a:r>
          </a:p>
          <a:p>
            <a:pPr marL="1028700" indent="-342900">
              <a:buChar char="–"/>
            </a:pPr>
            <a:r>
              <a:rPr sz="1600" b="0" i="0">
                <a:solidFill>
                  <a:srgbClr val="444455"/>
                </a:solidFill>
                <a:latin typeface="Calibri"/>
              </a:rPr>
              <a:t>Shows radio identity and panadapter/slice table</a:t>
            </a:r>
          </a:p>
          <a:p>
            <a:pPr marL="342900" indent="-342900">
              <a:buChar char="•"/>
            </a:pPr>
            <a:r>
              <a:rPr sz="1800" b="1" i="0">
                <a:solidFill>
                  <a:srgbClr val="1A1A2E"/>
                </a:solidFill>
                <a:latin typeface="Calibri"/>
              </a:rPr>
              <a:t>Connects via TCP to the FlexRadio DAXIQ stream</a:t>
            </a:r>
          </a:p>
          <a:p>
            <a:pPr marL="1028700" indent="-342900">
              <a:buChar char="–"/>
            </a:pPr>
            <a:r>
              <a:rPr sz="1600" b="0" i="0">
                <a:solidFill>
                  <a:srgbClr val="444455"/>
                </a:solidFill>
                <a:latin typeface="Calibri"/>
              </a:rPr>
              <a:t>Shows DAXIQ stream status: packet rate, queue depth, loss</a:t>
            </a:r>
          </a:p>
          <a:p>
            <a:pPr marL="342900" indent="-342900">
              <a:buChar char="•"/>
            </a:pPr>
            <a:r>
              <a:rPr sz="1800" b="1" i="0">
                <a:solidFill>
                  <a:srgbClr val="1A1A2E"/>
                </a:solidFill>
                <a:latin typeface="Calibri"/>
              </a:rPr>
              <a:t>Decodable dial frequency range — which USB freqs are covered</a:t>
            </a:r>
          </a:p>
          <a:p>
            <a:pPr marL="342900" indent="-342900">
              <a:buChar char="•"/>
            </a:pPr>
            <a:r>
              <a:rPr sz="1800" b="1" i="0">
                <a:solidFill>
                  <a:srgbClr val="1A1A2E"/>
                </a:solidFill>
                <a:latin typeface="Calibri"/>
              </a:rPr>
              <a:t>Tracks panadapter center frequency automatically</a:t>
            </a:r>
          </a:p>
          <a:p>
            <a:pPr marL="1028700" indent="-342900">
              <a:buChar char="–"/>
            </a:pPr>
            <a:r>
              <a:rPr sz="1600" b="0" i="0">
                <a:solidFill>
                  <a:srgbClr val="444455"/>
                </a:solidFill>
                <a:latin typeface="Calibri"/>
              </a:rPr>
              <a:t>Channelizer NCO updates when pan moves</a:t>
            </a:r>
          </a:p>
        </p:txBody>
      </p:sp>
      <p:sp>
        <p:nvSpPr>
          <p:cNvPr id="6" name="TextBox 5"/>
          <p:cNvSpPr txBox="1"/>
          <p:nvPr/>
        </p:nvSpPr>
        <p:spPr>
          <a:xfrm>
            <a:off x="365760" y="6080760"/>
            <a:ext cx="11430000" cy="548640"/>
          </a:xfrm>
          <a:prstGeom prst="rect">
            <a:avLst/>
          </a:prstGeom>
          <a:noFill/>
        </p:spPr>
        <p:txBody>
          <a:bodyPr wrap="square">
            <a:spAutoFit/>
          </a:bodyPr>
          <a:lstStyle/>
          <a:p>
            <a:pPr algn="l"/>
            <a:r>
              <a:rPr sz="1400" b="0" i="1">
                <a:solidFill>
                  <a:srgbClr val="888899"/>
                </a:solidFill>
                <a:latin typeface="Calibri"/>
              </a:rPr>
              <a:t>FlexRadio source window showing stream status and decodable dial frequency range.</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usrp_b210.png"/>
          <p:cNvPicPr>
            <a:picLocks noChangeAspect="1"/>
          </p:cNvPicPr>
          <p:nvPr/>
        </p:nvPicPr>
        <p:blipFill>
          <a:blip r:embed="rId2"/>
          <a:stretch>
            <a:fillRect/>
          </a:stretch>
        </p:blipFill>
        <p:spPr>
          <a:xfrm>
            <a:off x="8229600" y="616484"/>
            <a:ext cx="3962095" cy="5470599"/>
          </a:xfrm>
          <a:prstGeom prst="rect">
            <a:avLst/>
          </a:prstGeom>
        </p:spPr>
      </p:pic>
      <p:sp>
        <p:nvSpPr>
          <p:cNvPr id="4" name="TextBox 3"/>
          <p:cNvSpPr txBox="1"/>
          <p:nvPr/>
        </p:nvSpPr>
        <p:spPr>
          <a:xfrm>
            <a:off x="365760" y="137160"/>
            <a:ext cx="11430000" cy="685800"/>
          </a:xfrm>
          <a:prstGeom prst="rect">
            <a:avLst/>
          </a:prstGeom>
          <a:noFill/>
        </p:spPr>
        <p:txBody>
          <a:bodyPr wrap="square">
            <a:spAutoFit/>
          </a:bodyPr>
          <a:lstStyle/>
          <a:p>
            <a:pPr algn="l"/>
            <a:r>
              <a:rPr sz="2800" b="1" i="0">
                <a:solidFill>
                  <a:srgbClr val="1B3A6B"/>
                </a:solidFill>
                <a:latin typeface="Calibri"/>
              </a:rPr>
              <a:t>USRP B210 Status Window</a:t>
            </a:r>
          </a:p>
        </p:txBody>
      </p:sp>
      <p:sp>
        <p:nvSpPr>
          <p:cNvPr id="5" name="TextBox 4"/>
          <p:cNvSpPr txBox="1"/>
          <p:nvPr/>
        </p:nvSpPr>
        <p:spPr>
          <a:xfrm>
            <a:off x="365760" y="960120"/>
            <a:ext cx="7863840" cy="4572000"/>
          </a:xfrm>
          <a:prstGeom prst="rect">
            <a:avLst/>
          </a:prstGeom>
          <a:noFill/>
        </p:spPr>
        <p:txBody>
          <a:bodyPr wrap="square">
            <a:normAutofit/>
          </a:bodyPr>
          <a:lstStyle/>
          <a:p>
            <a:pPr marL="342900" indent="-342900">
              <a:buChar char="•"/>
            </a:pPr>
            <a:r>
              <a:rPr sz="1800" b="1" i="0">
                <a:solidFill>
                  <a:srgbClr val="1A1A2E"/>
                </a:solidFill>
                <a:latin typeface="Calibri"/>
              </a:rPr>
              <a:t>USRP B210 — USB 3.0 software-defined radio</a:t>
            </a:r>
          </a:p>
          <a:p>
            <a:pPr marL="1028700" indent="-342900">
              <a:buChar char="–"/>
            </a:pPr>
            <a:r>
              <a:rPr sz="1600" b="0" i="0">
                <a:solidFill>
                  <a:srgbClr val="444455"/>
                </a:solidFill>
                <a:latin typeface="Calibri"/>
              </a:rPr>
              <a:t>Originally Ettus Research, now NI (National Instruments / Emerson)</a:t>
            </a:r>
          </a:p>
          <a:p>
            <a:pPr marL="342900" indent="-342900">
              <a:buChar char="•"/>
            </a:pPr>
            <a:r>
              <a:rPr sz="1800" b="1" i="0">
                <a:solidFill>
                  <a:srgbClr val="1A1A2E"/>
                </a:solidFill>
                <a:latin typeface="Calibri"/>
              </a:rPr>
              <a:t>Hardware identity and IF stream parameters</a:t>
            </a:r>
          </a:p>
          <a:p>
            <a:pPr marL="1028700" indent="-342900">
              <a:buChar char="–"/>
            </a:pPr>
            <a:r>
              <a:rPr sz="1600" b="0" i="0">
                <a:solidFill>
                  <a:srgbClr val="444455"/>
                </a:solidFill>
                <a:latin typeface="Calibri"/>
              </a:rPr>
              <a:t>Sample rate, center frequency, active channels</a:t>
            </a:r>
          </a:p>
          <a:p>
            <a:pPr marL="342900" indent="-342900">
              <a:buChar char="•"/>
            </a:pPr>
            <a:r>
              <a:rPr sz="1800" b="1" i="0">
                <a:solidFill>
                  <a:srgbClr val="1A1A2E"/>
                </a:solidFill>
                <a:latin typeface="Calibri"/>
              </a:rPr>
              <a:t>Two independent RF channels — H and V for dual-polarization</a:t>
            </a:r>
          </a:p>
          <a:p>
            <a:pPr marL="1028700" indent="-342900">
              <a:buChar char="–"/>
            </a:pPr>
            <a:r>
              <a:rPr sz="1600" b="0" i="0">
                <a:solidFill>
                  <a:srgbClr val="444455"/>
                </a:solidFill>
                <a:latin typeface="Calibri"/>
              </a:rPr>
              <a:t>Independent gain slider per channel (0–76 dB)</a:t>
            </a:r>
          </a:p>
          <a:p>
            <a:pPr marL="1028700" indent="-342900">
              <a:buChar char="–"/>
            </a:pPr>
            <a:r>
              <a:rPr sz="1600" b="0" i="0">
                <a:solidFill>
                  <a:srgbClr val="444455"/>
                </a:solidFill>
                <a:latin typeface="Calibri"/>
              </a:rPr>
              <a:t>Antenna port selection: RX2 or TX-RX</a:t>
            </a:r>
          </a:p>
          <a:p>
            <a:pPr marL="1028700" indent="-342900">
              <a:buChar char="–"/>
            </a:pPr>
            <a:r>
              <a:rPr sz="1600" b="0" i="0">
                <a:solidFill>
                  <a:srgbClr val="444455"/>
                </a:solidFill>
                <a:latin typeface="Calibri"/>
              </a:rPr>
              <a:t>Signal level and noise floor readout per channel</a:t>
            </a:r>
          </a:p>
          <a:p>
            <a:pPr marL="342900" indent="-342900">
              <a:buChar char="•"/>
            </a:pPr>
            <a:r>
              <a:rPr sz="1800" b="1" i="0">
                <a:solidFill>
                  <a:srgbClr val="1A1A2E"/>
                </a:solidFill>
                <a:latin typeface="Calibri"/>
              </a:rPr>
              <a:t>Buffer drop counter flags overrun conditions</a:t>
            </a:r>
          </a:p>
        </p:txBody>
      </p:sp>
      <p:sp>
        <p:nvSpPr>
          <p:cNvPr id="6" name="TextBox 5"/>
          <p:cNvSpPr txBox="1"/>
          <p:nvPr/>
        </p:nvSpPr>
        <p:spPr>
          <a:xfrm>
            <a:off x="365760" y="6080760"/>
            <a:ext cx="11430000" cy="548640"/>
          </a:xfrm>
          <a:prstGeom prst="rect">
            <a:avLst/>
          </a:prstGeom>
          <a:noFill/>
        </p:spPr>
        <p:txBody>
          <a:bodyPr wrap="square">
            <a:spAutoFit/>
          </a:bodyPr>
          <a:lstStyle/>
          <a:p>
            <a:pPr algn="l"/>
            <a:r>
              <a:rPr sz="1400" b="0" i="1">
                <a:solidFill>
                  <a:srgbClr val="888899"/>
                </a:solidFill>
                <a:latin typeface="Calibri"/>
              </a:rPr>
              <a:t>USRP B210 source window — gain and antenna port controls for each RF channel.</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Dual-Polarization Support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Antenna feeds two orthogonal polarizations: H and V</a:t>
            </a:r>
          </a:p>
          <a:p>
            <a:pPr/>
            <a:r>
              <a:rPr sz="2000" b="1" i="0">
                <a:solidFill>
                  <a:srgbClr val="1A1A2E"/>
                </a:solidFill>
                <a:latin typeface="Calibri"/>
              </a:rPr>
              <a:t>Separate IQ streams captured simultaneously</a:t>
            </a:r>
          </a:p>
          <a:p>
            <a:pPr/>
            <a:r>
              <a:rPr sz="2000" b="1" i="0">
                <a:solidFill>
                  <a:srgbClr val="1A1A2E"/>
                </a:solidFill>
                <a:latin typeface="Calibri"/>
              </a:rPr>
              <a:t>Independent waterfall and heatmap for each polarization</a:t>
            </a:r>
          </a:p>
          <a:p>
            <a:pPr/>
            <a:r>
              <a:rPr sz="2000" b="1" i="0">
                <a:solidFill>
                  <a:srgbClr val="1A1A2E"/>
                </a:solidFill>
                <a:latin typeface="Calibri"/>
              </a:rPr>
              <a:t>Software combines H and V to maximise SNR</a:t>
            </a:r>
          </a:p>
          <a:p>
            <a:pPr lvl="1"/>
            <a:r>
              <a:rPr sz="1800" b="0" i="0">
                <a:solidFill>
                  <a:srgbClr val="444455"/>
                </a:solidFill>
                <a:latin typeface="Calibri"/>
              </a:rPr>
              <a:t>combined = H·cos θ + V·e^{jΔφ}·sin θ</a:t>
            </a:r>
          </a:p>
          <a:p>
            <a:pPr/>
            <a:r>
              <a:rPr sz="2000" b="1" i="0">
                <a:solidFill>
                  <a:srgbClr val="1A1A2E"/>
                </a:solidFill>
                <a:latin typeface="Calibri"/>
              </a:rPr>
              <a:t>Polarization angle θ estimated before each decode attempt</a:t>
            </a:r>
          </a:p>
          <a:p>
            <a:pPr/>
            <a:r>
              <a:rPr sz="2000" b="1" i="0">
                <a:solidFill>
                  <a:srgbClr val="1A1A2E"/>
                </a:solidFill>
                <a:latin typeface="Calibri"/>
              </a:rPr>
              <a:t>Useful for:</a:t>
            </a:r>
          </a:p>
          <a:p>
            <a:pPr lvl="1"/>
            <a:r>
              <a:rPr sz="1800" b="0" i="0">
                <a:solidFill>
                  <a:srgbClr val="444455"/>
                </a:solidFill>
                <a:latin typeface="Calibri"/>
              </a:rPr>
              <a:t>Faraday rotation studies</a:t>
            </a:r>
          </a:p>
          <a:p>
            <a:pPr lvl="1"/>
            <a:r>
              <a:rPr sz="1800" b="0" i="0">
                <a:solidFill>
                  <a:srgbClr val="444455"/>
                </a:solidFill>
                <a:latin typeface="Calibri"/>
              </a:rPr>
              <a:t>Cross-polarization meteor burst experiments</a:t>
            </a:r>
          </a:p>
          <a:p>
            <a:pPr lvl="1"/>
            <a:r>
              <a:rPr sz="1800" b="0" i="0">
                <a:solidFill>
                  <a:srgbClr val="444455"/>
                </a:solidFill>
                <a:latin typeface="Calibri"/>
              </a:rPr>
              <a:t>Antenna calibration</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Estimated Polarization Angle</a:t>
            </a:r>
          </a:p>
        </p:txBody>
      </p:sp>
      <p:sp>
        <p:nvSpPr>
          <p:cNvPr id="4" name="Rectangle 3"/>
          <p:cNvSpPr/>
          <p:nvPr/>
        </p:nvSpPr>
        <p:spPr>
          <a:xfrm>
            <a:off x="365760" y="1005840"/>
            <a:ext cx="11430000" cy="4937760"/>
          </a:xfrm>
          <a:prstGeom prst="rect">
            <a:avLst/>
          </a:prstGeom>
          <a:solidFill>
            <a:srgbClr val="D6EAF8"/>
          </a:solidFill>
          <a:ln w="19050">
            <a:solidFill>
              <a:srgbClr val="27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a:solidFill>
                  <a:srgbClr val="276FBF"/>
                </a:solidFill>
                <a:latin typeface="Calibri"/>
              </a:rPr>
              <a:t>[ Screenshot: Dual-pol analysis window showing H and V heatmaps ]</a:t>
            </a:r>
          </a:p>
        </p:txBody>
      </p:sp>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θ estimated by searching a 9×8 grid of (angle, phase offset) — decoded angle shown in the decode list.</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Reporting Outputs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PSKReporter  (pskreporter.info)</a:t>
            </a:r>
          </a:p>
          <a:p>
            <a:pPr lvl="1"/>
            <a:r>
              <a:rPr sz="1800" b="0" i="0">
                <a:solidFill>
                  <a:srgbClr val="444455"/>
                </a:solidFill>
                <a:latin typeface="Calibri"/>
              </a:rPr>
              <a:t>IPFIX upload — decoded stations appear on the worldwide map</a:t>
            </a:r>
          </a:p>
          <a:p>
            <a:pPr lvl="1"/>
            <a:r>
              <a:rPr sz="1800" b="0" i="0">
                <a:solidFill>
                  <a:srgbClr val="444455"/>
                </a:solidFill>
                <a:latin typeface="Calibri"/>
              </a:rPr>
              <a:t>Callsign, grid, frequency, SNR, mode — uploaded every 5 minutes</a:t>
            </a:r>
          </a:p>
          <a:p>
            <a:pPr/>
            <a:r>
              <a:rPr sz="2000" b="1" i="0">
                <a:solidFill>
                  <a:srgbClr val="1A1A2E"/>
                </a:solidFill>
                <a:latin typeface="Calibri"/>
              </a:rPr>
              <a:t>WSJT-X UDP broadcast</a:t>
            </a:r>
          </a:p>
          <a:p>
            <a:pPr lvl="1"/>
            <a:r>
              <a:rPr sz="1800" b="0" i="0">
                <a:solidFill>
                  <a:srgbClr val="444455"/>
                </a:solidFill>
                <a:latin typeface="Calibri"/>
              </a:rPr>
              <a:t>Emulates WSJT-X Status and Decode UDP packets on port 2237</a:t>
            </a:r>
          </a:p>
          <a:p>
            <a:pPr lvl="1"/>
            <a:r>
              <a:rPr sz="1800" b="0" i="0">
                <a:solidFill>
                  <a:srgbClr val="444455"/>
                </a:solidFill>
                <a:latin typeface="Calibri"/>
              </a:rPr>
              <a:t>GridTracker — displays decoded stations on a map in real time</a:t>
            </a:r>
          </a:p>
          <a:p>
            <a:pPr lvl="1"/>
            <a:r>
              <a:rPr sz="1800" b="0" i="0">
                <a:solidFill>
                  <a:srgbClr val="444455"/>
                </a:solidFill>
                <a:latin typeface="Calibri"/>
              </a:rPr>
              <a:t>N1MM Logger+ — logs contacts automatically</a:t>
            </a:r>
          </a:p>
          <a:p>
            <a:pPr lvl="1"/>
            <a:r>
              <a:rPr sz="1800" b="0" i="0">
                <a:solidFill>
                  <a:srgbClr val="444455"/>
                </a:solidFill>
                <a:latin typeface="Calibri"/>
              </a:rPr>
              <a:t>Any software that listens for WSJT-X UDP will work</a:t>
            </a:r>
          </a:p>
          <a:p>
            <a:pPr/>
            <a:r>
              <a:rPr sz="2000" b="1" i="0">
                <a:solidFill>
                  <a:srgbClr val="1A1A2E"/>
                </a:solidFill>
                <a:latin typeface="Calibri"/>
              </a:rPr>
              <a:t>DX cluster</a:t>
            </a:r>
          </a:p>
          <a:p>
            <a:pPr lvl="1"/>
            <a:r>
              <a:rPr sz="1800" b="0" i="0">
                <a:solidFill>
                  <a:srgbClr val="444455"/>
                </a:solidFill>
                <a:latin typeface="Calibri"/>
              </a:rPr>
              <a:t>Posts spots via Telnet to your cluster node</a:t>
            </a:r>
          </a:p>
          <a:p>
            <a:pPr/>
            <a:r>
              <a:rPr sz="2000" b="1" i="0">
                <a:solidFill>
                  <a:srgbClr val="1A1A2E"/>
                </a:solidFill>
                <a:latin typeface="Calibri"/>
              </a:rPr>
              <a:t>All reporting is optional and independently configurable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Analysis Window</a:t>
            </a:r>
          </a:p>
        </p:txBody>
      </p:sp>
      <p:sp>
        <p:nvSpPr>
          <p:cNvPr id="4" name="Rectangle 3"/>
          <p:cNvSpPr/>
          <p:nvPr/>
        </p:nvSpPr>
        <p:spPr>
          <a:xfrm>
            <a:off x="365760" y="1005840"/>
            <a:ext cx="11430000" cy="4937760"/>
          </a:xfrm>
          <a:prstGeom prst="rect">
            <a:avLst/>
          </a:prstGeom>
          <a:solidFill>
            <a:srgbClr val="D6EAF8"/>
          </a:solidFill>
          <a:ln w="19050">
            <a:solidFill>
              <a:srgbClr val="27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a:solidFill>
                  <a:srgbClr val="276FBF"/>
                </a:solidFill>
                <a:latin typeface="Calibri"/>
              </a:rPr>
              <a:t>[ Screenshot: Analysis window — spectrogram, heatmap, audio, decode list ]</a:t>
            </a:r>
          </a:p>
        </p:txBody>
      </p:sp>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Post-capture review: replay IQ, re-run detector, inspect individual pings, listen to 12 kHz audio.</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iq_noise_blanker.png"/>
          <p:cNvPicPr>
            <a:picLocks noChangeAspect="1"/>
          </p:cNvPicPr>
          <p:nvPr/>
        </p:nvPicPr>
        <p:blipFill>
          <a:blip r:embed="rId2"/>
          <a:stretch>
            <a:fillRect/>
          </a:stretch>
        </p:blipFill>
        <p:spPr>
          <a:xfrm>
            <a:off x="5577840" y="1527366"/>
            <a:ext cx="6248095" cy="3437508"/>
          </a:xfrm>
          <a:prstGeom prst="rect">
            <a:avLst/>
          </a:prstGeom>
        </p:spPr>
      </p:pic>
      <p:sp>
        <p:nvSpPr>
          <p:cNvPr id="4" name="TextBox 3"/>
          <p:cNvSpPr txBox="1"/>
          <p:nvPr/>
        </p:nvSpPr>
        <p:spPr>
          <a:xfrm>
            <a:off x="365760" y="137160"/>
            <a:ext cx="11430000" cy="685800"/>
          </a:xfrm>
          <a:prstGeom prst="rect">
            <a:avLst/>
          </a:prstGeom>
          <a:noFill/>
        </p:spPr>
        <p:txBody>
          <a:bodyPr wrap="square">
            <a:spAutoFit/>
          </a:bodyPr>
          <a:lstStyle/>
          <a:p>
            <a:pPr algn="l"/>
            <a:r>
              <a:rPr sz="2800" b="1" i="0">
                <a:solidFill>
                  <a:srgbClr val="1B3A6B"/>
                </a:solidFill>
                <a:latin typeface="Calibri"/>
              </a:rPr>
              <a:t>IQ / Noise Blanker Window</a:t>
            </a:r>
          </a:p>
        </p:txBody>
      </p:sp>
      <p:sp>
        <p:nvSpPr>
          <p:cNvPr id="5" name="TextBox 4"/>
          <p:cNvSpPr txBox="1"/>
          <p:nvPr/>
        </p:nvSpPr>
        <p:spPr>
          <a:xfrm>
            <a:off x="365760" y="960120"/>
            <a:ext cx="5029200" cy="4572000"/>
          </a:xfrm>
          <a:prstGeom prst="rect">
            <a:avLst/>
          </a:prstGeom>
          <a:noFill/>
        </p:spPr>
        <p:txBody>
          <a:bodyPr wrap="square">
            <a:normAutofit/>
          </a:bodyPr>
          <a:lstStyle/>
          <a:p>
            <a:pPr marL="342900" indent="-342900">
              <a:buChar char="•"/>
            </a:pPr>
            <a:r>
              <a:rPr sz="1800" b="1" i="0">
                <a:solidFill>
                  <a:srgbClr val="1A1A2E"/>
                </a:solidFill>
                <a:latin typeface="Calibri"/>
              </a:rPr>
              <a:t>Time-domain plot of the received IF signal</a:t>
            </a:r>
          </a:p>
          <a:p>
            <a:pPr marL="1028700" indent="-342900">
              <a:buChar char="–"/>
            </a:pPr>
            <a:r>
              <a:rPr sz="1600" b="0" i="0">
                <a:solidFill>
                  <a:srgbClr val="444455"/>
                </a:solidFill>
                <a:latin typeface="Calibri"/>
              </a:rPr>
              <a:t>Shows impulse noise spikes clearly</a:t>
            </a:r>
          </a:p>
          <a:p>
            <a:pPr marL="1028700" indent="-342900">
              <a:buChar char="–"/>
            </a:pPr>
            <a:r>
              <a:rPr sz="1600" b="0" i="0">
                <a:solidFill>
                  <a:srgbClr val="444455"/>
                </a:solidFill>
                <a:latin typeface="Calibri"/>
              </a:rPr>
              <a:t>Aids in setting the receiver's wideband noise blanker</a:t>
            </a:r>
          </a:p>
          <a:p>
            <a:pPr marL="1028700" indent="-342900">
              <a:buChar char="–"/>
            </a:pPr>
            <a:r>
              <a:rPr sz="1600" b="0" i="0">
                <a:solidFill>
                  <a:srgbClr val="444455"/>
                </a:solidFill>
                <a:latin typeface="Calibri"/>
              </a:rPr>
              <a:t>Shows the effect of the MAP144 internal noise blanker</a:t>
            </a:r>
          </a:p>
          <a:p>
            <a:pPr marL="342900" indent="-342900">
              <a:buChar char="•"/>
            </a:pPr>
            <a:r>
              <a:rPr sz="1800" b="1" i="0">
                <a:solidFill>
                  <a:srgbClr val="1A1A2E"/>
                </a:solidFill>
                <a:latin typeface="Calibri"/>
              </a:rPr>
              <a:t>MAP144 noise blanker — inspired by Linrad design</a:t>
            </a:r>
          </a:p>
          <a:p>
            <a:pPr marL="1028700" indent="-342900">
              <a:buChar char="–"/>
            </a:pPr>
            <a:r>
              <a:rPr sz="1600" b="0" i="0">
                <a:solidFill>
                  <a:srgbClr val="444455"/>
                </a:solidFill>
                <a:latin typeface="Calibri"/>
              </a:rPr>
              <a:t>Wideband FFT of each block; per-bin running average</a:t>
            </a:r>
          </a:p>
          <a:p>
            <a:pPr marL="1028700" indent="-342900">
              <a:buChar char="–"/>
            </a:pPr>
            <a:r>
              <a:rPr sz="1600" b="0" i="0">
                <a:solidFill>
                  <a:srgbClr val="444455"/>
                </a:solidFill>
                <a:latin typeface="Calibri"/>
              </a:rPr>
              <a:t>Block blanked if too many bins are simultaneously hot</a:t>
            </a:r>
          </a:p>
          <a:p>
            <a:pPr marL="1028700" indent="-342900">
              <a:buChar char="–"/>
            </a:pPr>
            <a:r>
              <a:rPr sz="1600" b="0" i="0">
                <a:solidFill>
                  <a:srgbClr val="444455"/>
                </a:solidFill>
                <a:latin typeface="Calibri"/>
              </a:rPr>
              <a:t>Narrowband signal (meteor burst): only a few bins elevated → passes</a:t>
            </a:r>
          </a:p>
          <a:p>
            <a:pPr marL="1028700" indent="-342900">
              <a:buChar char="–"/>
            </a:pPr>
            <a:r>
              <a:rPr sz="1600" b="0" i="0">
                <a:solidFill>
                  <a:srgbClr val="444455"/>
                </a:solidFill>
                <a:latin typeface="Calibri"/>
              </a:rPr>
              <a:t>Broadband impulse (power line click): nearly all bins hot → blanked</a:t>
            </a:r>
          </a:p>
          <a:p>
            <a:pPr marL="342900" indent="-342900">
              <a:buChar char="•"/>
            </a:pPr>
            <a:r>
              <a:rPr sz="1800" b="1" i="0">
                <a:solidFill>
                  <a:srgbClr val="1A1A2E"/>
                </a:solidFill>
                <a:latin typeface="Calibri"/>
              </a:rPr>
              <a:t>Coincidence gate: MSK144 burst must persist across multiple hops</a:t>
            </a:r>
          </a:p>
          <a:p>
            <a:pPr marL="342900" indent="-342900">
              <a:buChar char="•"/>
            </a:pPr>
            <a:r>
              <a:rPr sz="1800" b="1" i="0">
                <a:solidFill>
                  <a:srgbClr val="1A1A2E"/>
                </a:solidFill>
                <a:latin typeface="Calibri"/>
              </a:rPr>
              <a:t>Blanking rate shown in real time</a:t>
            </a:r>
          </a:p>
        </p:txBody>
      </p:sp>
      <p:sp>
        <p:nvSpPr>
          <p:cNvPr id="6" name="TextBox 5"/>
          <p:cNvSpPr txBox="1"/>
          <p:nvPr/>
        </p:nvSpPr>
        <p:spPr>
          <a:xfrm>
            <a:off x="365760" y="6080760"/>
            <a:ext cx="11430000" cy="548640"/>
          </a:xfrm>
          <a:prstGeom prst="rect">
            <a:avLst/>
          </a:prstGeom>
          <a:noFill/>
        </p:spPr>
        <p:txBody>
          <a:bodyPr wrap="square">
            <a:spAutoFit/>
          </a:bodyPr>
          <a:lstStyle/>
          <a:p>
            <a:pPr algn="l"/>
            <a:r>
              <a:rPr sz="1400" b="0" i="1">
                <a:solidFill>
                  <a:srgbClr val="888899"/>
                </a:solidFill>
                <a:latin typeface="Calibri"/>
              </a:rPr>
              <a:t>IQ magnitude time-domain view with noise blanker controls.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4</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Files Generated</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What MAP144 writes to disk</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Operators and experimenters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IQ Captures  —  MSK144/captures/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Saved by shift-clicking the waterfall or spectrogram</a:t>
            </a:r>
          </a:p>
          <a:p>
            <a:pPr/>
            <a:r>
              <a:rPr sz="2000" b="1" i="0">
                <a:solidFill>
                  <a:srgbClr val="1A1A2E"/>
                </a:solidFill>
                <a:latin typeface="Calibri"/>
              </a:rPr>
              <a:t>WAV file — raw IQ at 48 kHz</a:t>
            </a:r>
          </a:p>
          <a:p>
            <a:pPr lvl="1"/>
            <a:r>
              <a:rPr sz="1800" b="0" i="0">
                <a:solidFill>
                  <a:srgbClr val="444455"/>
                </a:solidFill>
                <a:latin typeface="Calibri"/>
              </a:rPr>
              <a:t>Single-pol: stereo float32  (L = I,  R = Q)</a:t>
            </a:r>
          </a:p>
          <a:p>
            <a:pPr lvl="1"/>
            <a:r>
              <a:rPr sz="1800" b="0" i="0">
                <a:solidFill>
                  <a:srgbClr val="444455"/>
                </a:solidFill>
                <a:latin typeface="Calibri"/>
              </a:rPr>
              <a:t>Dual-pol:   4-channel float32  (H_I  H_Q  V_I  V_Q)</a:t>
            </a:r>
          </a:p>
          <a:p>
            <a:pPr/>
            <a:r>
              <a:rPr sz="2000" b="1" i="0">
                <a:solidFill>
                  <a:srgbClr val="1A1A2E"/>
                </a:solidFill>
                <a:latin typeface="Calibri"/>
              </a:rPr>
              <a:t>JSON sidecar — metadata</a:t>
            </a:r>
          </a:p>
          <a:p>
            <a:pPr lvl="1"/>
            <a:r>
              <a:rPr sz="1800" b="0" i="0">
                <a:solidFill>
                  <a:srgbClr val="444455"/>
                </a:solidFill>
                <a:latin typeface="Calibri"/>
              </a:rPr>
              <a:t>Source, center frequency, sample rate, dual-pol flag</a:t>
            </a:r>
          </a:p>
          <a:p>
            <a:pPr lvl="1"/>
            <a:r>
              <a:rPr sz="1800" b="0" i="0">
                <a:solidFill>
                  <a:srgbClr val="444455"/>
                </a:solidFill>
                <a:latin typeface="Calibri"/>
              </a:rPr>
              <a:t>Timestamp, trigger position</a:t>
            </a:r>
          </a:p>
          <a:p>
            <a:pPr/>
            <a:r>
              <a:rPr sz="2000" b="1" i="0">
                <a:solidFill>
                  <a:srgbClr val="1A1A2E"/>
                </a:solidFill>
                <a:latin typeface="Calibri"/>
              </a:rPr>
              <a:t>Filename pattern:</a:t>
            </a:r>
          </a:p>
          <a:p>
            <a:pPr lvl="1"/>
            <a:r>
              <a:rPr sz="1800" b="0" i="0">
                <a:solidFill>
                  <a:srgbClr val="444455"/>
                </a:solidFill>
                <a:latin typeface="Courier New"/>
              </a:rPr>
              <a:t>YYYYMMDD_HHMMSSZ_capture_{source}_{freq}kHz.wav</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Detection Logs  —  MSK144/detections/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0" i="0">
                <a:solidFill>
                  <a:srgbClr val="1A1A2E"/>
                </a:solidFill>
                <a:latin typeface="Courier New"/>
              </a:rPr>
              <a:t>launches.jsonl  — one entry per jt9 launch</a:t>
            </a:r>
          </a:p>
          <a:p>
            <a:pPr lvl="1"/>
            <a:r>
              <a:rPr sz="1800" b="0" i="0">
                <a:solidFill>
                  <a:srgbClr val="444455"/>
                </a:solidFill>
                <a:latin typeface="Calibri"/>
              </a:rPr>
              <a:t>Outcome: decoded / no_decode / timeout / error</a:t>
            </a:r>
          </a:p>
          <a:p>
            <a:pPr lvl="1"/>
            <a:r>
              <a:rPr sz="1800" b="0" i="0">
                <a:solidFill>
                  <a:srgbClr val="444455"/>
                </a:solidFill>
                <a:latin typeface="Calibri"/>
              </a:rPr>
              <a:t>Time, frequency, estimated polarization angle θ</a:t>
            </a:r>
          </a:p>
          <a:p>
            <a:pPr/>
            <a:r>
              <a:rPr sz="2000" b="0" i="0">
                <a:solidFill>
                  <a:srgbClr val="1A1A2E"/>
                </a:solidFill>
                <a:latin typeface="Courier New"/>
              </a:rPr>
              <a:t>decodes.jsonl  — one entry per successful decode</a:t>
            </a:r>
          </a:p>
          <a:p>
            <a:pPr lvl="1"/>
            <a:r>
              <a:rPr sz="1800" b="0" i="0">
                <a:solidFill>
                  <a:srgbClr val="444455"/>
                </a:solidFill>
                <a:latin typeface="Calibri"/>
              </a:rPr>
              <a:t>Message, SNR, frequency, θ</a:t>
            </a:r>
          </a:p>
          <a:p>
            <a:pPr lvl="1"/>
            <a:r>
              <a:rPr sz="1800" b="0" i="0">
                <a:solidFill>
                  <a:srgbClr val="444455"/>
                </a:solidFill>
                <a:latin typeface="Calibri"/>
              </a:rPr>
              <a:t>Used by the comparison report</a:t>
            </a:r>
          </a:p>
          <a:p>
            <a:pPr/>
            <a:r>
              <a:rPr sz="2000" b="1" i="0">
                <a:solidFill>
                  <a:srgbClr val="1A1A2E"/>
                </a:solidFill>
                <a:latin typeface="Calibri"/>
              </a:rPr>
              <a:t>Written continuously — safe to inspect while the program runs</a:t>
            </a:r>
          </a:p>
          <a:p>
            <a:pPr/>
            <a:r>
              <a:rPr sz="2000" b="0" i="0">
                <a:solidFill>
                  <a:srgbClr val="1A1A2E"/>
                </a:solidFill>
                <a:latin typeface="Courier New"/>
              </a:rPr>
              <a:t>{wavfile}_run001.txt, _run002.txt … — comparison reports</a:t>
            </a:r>
          </a:p>
          <a:p>
            <a:pPr lvl="1"/>
            <a:r>
              <a:rPr sz="1800" b="0" i="0">
                <a:solidFill>
                  <a:srgbClr val="444455"/>
                </a:solidFill>
                <a:latin typeface="Calibri"/>
              </a:rPr>
              <a:t>Human-readable table: DECODED / NO DECODE / MISSED per signal</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Decoded Audio  —  MSK144/detections/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One WAV file per successful decode</a:t>
            </a:r>
          </a:p>
          <a:p>
            <a:pPr/>
            <a:r>
              <a:rPr sz="2000" b="1" i="0">
                <a:solidFill>
                  <a:srgbClr val="1A1A2E"/>
                </a:solidFill>
                <a:latin typeface="Calibri"/>
              </a:rPr>
              <a:t>12 kHz mono — the audio fed to jt9</a:t>
            </a:r>
          </a:p>
          <a:p>
            <a:pPr/>
            <a:r>
              <a:rPr sz="2000" b="1" i="0">
                <a:solidFill>
                  <a:srgbClr val="1A1A2E"/>
                </a:solidFill>
                <a:latin typeface="Calibri"/>
              </a:rPr>
              <a:t>Filename encodes the decode:</a:t>
            </a:r>
          </a:p>
          <a:p>
            <a:pPr lvl="1"/>
            <a:r>
              <a:rPr sz="1800" b="0" i="0">
                <a:solidFill>
                  <a:srgbClr val="444455"/>
                </a:solidFill>
                <a:latin typeface="Courier New"/>
              </a:rPr>
              <a:t>YYYYMMDD_HHMMSSZ_{freq}kHz_{message}.wav</a:t>
            </a:r>
          </a:p>
          <a:p>
            <a:pPr/>
            <a:r>
              <a:rPr sz="2000" b="1" i="0">
                <a:solidFill>
                  <a:srgbClr val="1A1A2E"/>
                </a:solidFill>
                <a:latin typeface="Calibri"/>
              </a:rPr>
              <a:t>Can be opened in Audacity, replayed through WSJT-X, or analyzed</a:t>
            </a:r>
          </a:p>
          <a:p>
            <a:pPr/>
            <a:r>
              <a:rPr sz="2000" b="1" i="0">
                <a:solidFill>
                  <a:srgbClr val="1A1A2E"/>
                </a:solidFill>
                <a:latin typeface="Calibri"/>
              </a:rPr>
              <a:t>Useful for:</a:t>
            </a:r>
          </a:p>
          <a:p>
            <a:pPr lvl="1"/>
            <a:r>
              <a:rPr sz="1800" b="0" i="0">
                <a:solidFill>
                  <a:srgbClr val="444455"/>
                </a:solidFill>
                <a:latin typeface="Calibri"/>
              </a:rPr>
              <a:t>Verifying the decode manually</a:t>
            </a:r>
          </a:p>
          <a:p>
            <a:pPr lvl="1"/>
            <a:r>
              <a:rPr sz="1800" b="0" i="0">
                <a:solidFill>
                  <a:srgbClr val="444455"/>
                </a:solidFill>
                <a:latin typeface="Calibri"/>
              </a:rPr>
              <a:t>Comparing signal quality across antenna experiments</a:t>
            </a:r>
          </a:p>
          <a:p>
            <a:pPr lvl="1"/>
            <a:r>
              <a:rPr sz="1800" b="0" i="0">
                <a:solidFill>
                  <a:srgbClr val="444455"/>
                </a:solidFill>
                <a:latin typeface="Calibri"/>
              </a:rPr>
              <a:t>Archive of every meteor burst heard</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5</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Installation</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Getting MAP144 running</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Operators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Prerequisites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Linux (primary), Windows/Mac may work with minor adjustments</a:t>
            </a:r>
          </a:p>
          <a:p>
            <a:pPr/>
            <a:r>
              <a:rPr sz="2000" b="1" i="0">
                <a:solidFill>
                  <a:srgbClr val="1A1A2E"/>
                </a:solidFill>
                <a:latin typeface="Calibri"/>
              </a:rPr>
              <a:t>Python 3.11 or later</a:t>
            </a:r>
          </a:p>
          <a:p>
            <a:pPr/>
            <a:r>
              <a:rPr sz="2000" b="1" i="0">
                <a:solidFill>
                  <a:srgbClr val="1A1A2E"/>
                </a:solidFill>
                <a:latin typeface="Calibri"/>
              </a:rPr>
              <a:t>jt9 binary from WSJT-X</a:t>
            </a:r>
          </a:p>
          <a:p>
            <a:pPr lvl="1"/>
            <a:r>
              <a:rPr sz="1800" b="0" i="0">
                <a:solidFill>
                  <a:srgbClr val="444455"/>
                </a:solidFill>
                <a:latin typeface="Courier New"/>
              </a:rPr>
              <a:t>Ubuntu/Debian:  sudo apt install wsjtx</a:t>
            </a:r>
          </a:p>
          <a:p>
            <a:pPr lvl="1"/>
            <a:r>
              <a:rPr sz="1800" b="0" i="0">
                <a:solidFill>
                  <a:srgbClr val="444455"/>
                </a:solidFill>
                <a:latin typeface="Courier New"/>
              </a:rPr>
              <a:t>Or build from source: physics.princeton.edu/pulsar/K1JT/wsjtx.html</a:t>
            </a:r>
          </a:p>
          <a:p>
            <a:pPr/>
            <a:r>
              <a:rPr sz="2000" b="1" i="0">
                <a:solidFill>
                  <a:srgbClr val="1A1A2E"/>
                </a:solidFill>
                <a:latin typeface="Calibri"/>
              </a:rPr>
              <a:t>Radio-specific drivers:</a:t>
            </a:r>
          </a:p>
          <a:p>
            <a:pPr lvl="1"/>
            <a:r>
              <a:rPr sz="1800" b="0" i="0">
                <a:solidFill>
                  <a:srgbClr val="444455"/>
                </a:solidFill>
                <a:latin typeface="Calibri"/>
              </a:rPr>
              <a:t>FlexRadio: no extra drivers — TCP connection</a:t>
            </a:r>
          </a:p>
          <a:p>
            <a:pPr lvl="1"/>
            <a:r>
              <a:rPr sz="1800" b="0" i="0">
                <a:solidFill>
                  <a:srgbClr val="444455"/>
                </a:solidFill>
                <a:latin typeface="Calibri"/>
              </a:rPr>
              <a:t>USRP: UHD  (apt install uhd-host)</a:t>
            </a:r>
          </a:p>
          <a:p>
            <a:pPr lvl="1"/>
            <a:r>
              <a:rPr sz="1800" b="0" i="0">
                <a:solidFill>
                  <a:srgbClr val="444455"/>
                </a:solidFill>
                <a:latin typeface="Calibri"/>
              </a:rPr>
              <a:t>AirSpy: libairspy  (apt install airspy)</a:t>
            </a:r>
          </a:p>
          <a:p>
            <a:pPr lvl="1"/>
            <a:r>
              <a:rPr sz="1800" b="0" i="0">
                <a:solidFill>
                  <a:srgbClr val="444455"/>
                </a:solidFill>
                <a:latin typeface="Calibri"/>
              </a:rPr>
              <a:t>RTL-SDR: librtlsdr  (apt install rtl-sdr)</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Install MAP144</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Clone the repository:</a:t>
            </a:r>
          </a:p>
          <a:p>
            <a:pPr lvl="1"/>
            <a:r>
              <a:rPr sz="1800" b="0" i="0">
                <a:solidFill>
                  <a:srgbClr val="444455"/>
                </a:solidFill>
                <a:latin typeface="Courier New"/>
              </a:rPr>
              <a:t>git clone https://github.com/wa1hco/map144.git</a:t>
            </a:r>
          </a:p>
          <a:p>
            <a:pPr/>
            <a:r>
              <a:rPr sz="2000" b="1" i="0">
                <a:solidFill>
                  <a:srgbClr val="1A1A2E"/>
                </a:solidFill>
                <a:latin typeface="Calibri"/>
              </a:rPr>
              <a:t>Create a virtual environment:</a:t>
            </a:r>
          </a:p>
          <a:p>
            <a:pPr lvl="1"/>
            <a:r>
              <a:rPr sz="1800" b="0" i="0">
                <a:solidFill>
                  <a:srgbClr val="444455"/>
                </a:solidFill>
                <a:latin typeface="Courier New"/>
              </a:rPr>
              <a:t>python3 -m venv .venv &amp;&amp; source .venv/bin/activate</a:t>
            </a:r>
          </a:p>
          <a:p>
            <a:pPr/>
            <a:r>
              <a:rPr sz="2000" b="1" i="0">
                <a:solidFill>
                  <a:srgbClr val="1A1A2E"/>
                </a:solidFill>
                <a:latin typeface="Calibri"/>
              </a:rPr>
              <a:t>Install Python dependencies:</a:t>
            </a:r>
          </a:p>
          <a:p>
            <a:pPr lvl="1"/>
            <a:r>
              <a:rPr sz="1800" b="0" i="0">
                <a:solidFill>
                  <a:srgbClr val="444455"/>
                </a:solidFill>
                <a:latin typeface="Courier New"/>
              </a:rPr>
              <a:t>pip install -r requirements.txt</a:t>
            </a:r>
          </a:p>
          <a:p>
            <a:pPr/>
            <a:r>
              <a:rPr sz="2000" b="1" i="0">
                <a:solidFill>
                  <a:srgbClr val="1A1A2E"/>
                </a:solidFill>
                <a:latin typeface="Calibri"/>
              </a:rPr>
              <a:t>Verify:</a:t>
            </a:r>
          </a:p>
          <a:p>
            <a:pPr lvl="1"/>
            <a:r>
              <a:rPr sz="1800" b="0" i="0">
                <a:solidFill>
                  <a:srgbClr val="444455"/>
                </a:solidFill>
                <a:latin typeface="Courier New"/>
              </a:rPr>
              <a:t>python map144.py --help</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First-Run Configuration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0" i="0">
                <a:solidFill>
                  <a:srgbClr val="1A1A2E"/>
                </a:solidFill>
                <a:latin typeface="Courier New"/>
              </a:rPr>
              <a:t>Launch MAP144:  python map144.py</a:t>
            </a:r>
          </a:p>
          <a:p>
            <a:pPr/>
            <a:r>
              <a:rPr sz="2000" b="1" i="0">
                <a:solidFill>
                  <a:srgbClr val="1A1A2E"/>
                </a:solidFill>
                <a:latin typeface="Calibri"/>
              </a:rPr>
              <a:t>Select your radio source from the Source menu</a:t>
            </a:r>
          </a:p>
          <a:p>
            <a:pPr/>
            <a:r>
              <a:rPr sz="2000" b="1" i="0">
                <a:solidFill>
                  <a:srgbClr val="1A1A2E"/>
                </a:solidFill>
                <a:latin typeface="Calibri"/>
              </a:rPr>
              <a:t>Set center frequency to the MSK144 calling frequency</a:t>
            </a:r>
          </a:p>
          <a:p>
            <a:pPr lvl="1"/>
            <a:r>
              <a:rPr sz="1800" b="0" i="0">
                <a:solidFill>
                  <a:srgbClr val="444455"/>
                </a:solidFill>
                <a:latin typeface="Calibri"/>
              </a:rPr>
              <a:t>6 m: 50.260 MHz     2 m: 144.150 MHz</a:t>
            </a:r>
          </a:p>
          <a:p>
            <a:pPr/>
            <a:r>
              <a:rPr sz="2000" b="1" i="0">
                <a:solidFill>
                  <a:srgbClr val="1A1A2E"/>
                </a:solidFill>
                <a:latin typeface="Calibri"/>
              </a:rPr>
              <a:t>Open Reporting window (View menu) to configure:</a:t>
            </a:r>
          </a:p>
          <a:p>
            <a:pPr lvl="1"/>
            <a:r>
              <a:rPr sz="1800" b="0" i="0">
                <a:solidFill>
                  <a:srgbClr val="444455"/>
                </a:solidFill>
                <a:latin typeface="Calibri"/>
              </a:rPr>
              <a:t>Your callsign and grid square</a:t>
            </a:r>
          </a:p>
          <a:p>
            <a:pPr lvl="1"/>
            <a:r>
              <a:rPr sz="1800" b="0" i="0">
                <a:solidFill>
                  <a:srgbClr val="444455"/>
                </a:solidFill>
                <a:latin typeface="Calibri"/>
              </a:rPr>
              <a:t>PSKReporter upload (on/off)</a:t>
            </a:r>
          </a:p>
          <a:p>
            <a:pPr lvl="1"/>
            <a:r>
              <a:rPr sz="1800" b="0" i="0">
                <a:solidFill>
                  <a:srgbClr val="444455"/>
                </a:solidFill>
                <a:latin typeface="Calibri"/>
              </a:rPr>
              <a:t>WSJT-X UDP port (for GridTracker, N1MM, etc.)</a:t>
            </a:r>
          </a:p>
          <a:p>
            <a:pPr lvl="1"/>
            <a:r>
              <a:rPr sz="1800" b="0" i="0">
                <a:solidFill>
                  <a:srgbClr val="444455"/>
                </a:solidFill>
                <a:latin typeface="Calibri"/>
              </a:rPr>
              <a:t>DX cluster hostname and port</a:t>
            </a:r>
          </a:p>
          <a:p>
            <a:pPr/>
            <a:r>
              <a:rPr sz="2000" b="1" i="0">
                <a:solidFill>
                  <a:srgbClr val="1A1A2E"/>
                </a:solidFill>
                <a:latin typeface="Calibri"/>
              </a:rPr>
              <a:t>Settings are saved automatically on exit</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6</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How to Operate</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Day-to-day use</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Operators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Starting a Live Session</a:t>
            </a:r>
          </a:p>
        </p:txBody>
      </p:sp>
      <p:sp>
        <p:nvSpPr>
          <p:cNvPr id="4" name="Rectangle 3"/>
          <p:cNvSpPr/>
          <p:nvPr/>
        </p:nvSpPr>
        <p:spPr>
          <a:xfrm>
            <a:off x="365760" y="1005840"/>
            <a:ext cx="11430000" cy="4937760"/>
          </a:xfrm>
          <a:prstGeom prst="rect">
            <a:avLst/>
          </a:prstGeom>
          <a:solidFill>
            <a:srgbClr val="D6EAF8"/>
          </a:solidFill>
          <a:ln w="19050">
            <a:solidFill>
              <a:srgbClr val="27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a:solidFill>
                  <a:srgbClr val="276FBF"/>
                </a:solidFill>
                <a:latin typeface="Calibri"/>
              </a:rPr>
              <a:t>[ Screenshot: Source selection menu and radio parameters ]</a:t>
            </a:r>
          </a:p>
        </p:txBody>
      </p:sp>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Select source → enter center frequency → press Connect. Status bar shows sample rate and source mode.</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main.png"/>
          <p:cNvPicPr>
            <a:picLocks noChangeAspect="1"/>
          </p:cNvPicPr>
          <p:nvPr/>
        </p:nvPicPr>
        <p:blipFill>
          <a:blip r:embed="rId2"/>
          <a:stretch>
            <a:fillRect/>
          </a:stretch>
        </p:blipFill>
        <p:spPr>
          <a:xfrm>
            <a:off x="7544066" y="960120"/>
            <a:ext cx="2315643" cy="4572000"/>
          </a:xfrm>
          <a:prstGeom prst="rect">
            <a:avLst/>
          </a:prstGeom>
        </p:spPr>
      </p:pic>
      <p:sp>
        <p:nvSpPr>
          <p:cNvPr id="4" name="TextBox 3"/>
          <p:cNvSpPr txBox="1"/>
          <p:nvPr/>
        </p:nvSpPr>
        <p:spPr>
          <a:xfrm>
            <a:off x="365760" y="137160"/>
            <a:ext cx="11430000" cy="685800"/>
          </a:xfrm>
          <a:prstGeom prst="rect">
            <a:avLst/>
          </a:prstGeom>
          <a:noFill/>
        </p:spPr>
        <p:txBody>
          <a:bodyPr wrap="square">
            <a:spAutoFit/>
          </a:bodyPr>
          <a:lstStyle/>
          <a:p>
            <a:pPr algn="l"/>
            <a:r>
              <a:rPr sz="2800" b="1" i="0">
                <a:solidFill>
                  <a:srgbClr val="1B3A6B"/>
                </a:solidFill>
                <a:latin typeface="Calibri"/>
              </a:rPr>
              <a:t>Reading the Waterfall</a:t>
            </a:r>
          </a:p>
        </p:txBody>
      </p:sp>
      <p:sp>
        <p:nvSpPr>
          <p:cNvPr id="5" name="TextBox 4"/>
          <p:cNvSpPr txBox="1"/>
          <p:nvPr/>
        </p:nvSpPr>
        <p:spPr>
          <a:xfrm>
            <a:off x="365760" y="960120"/>
            <a:ext cx="5029200" cy="4572000"/>
          </a:xfrm>
          <a:prstGeom prst="rect">
            <a:avLst/>
          </a:prstGeom>
          <a:noFill/>
        </p:spPr>
        <p:txBody>
          <a:bodyPr wrap="square">
            <a:normAutofit/>
          </a:bodyPr>
          <a:lstStyle/>
          <a:p>
            <a:pPr marL="342900" indent="-342900">
              <a:buChar char="•"/>
            </a:pPr>
            <a:r>
              <a:rPr sz="1800" b="1" i="0">
                <a:solidFill>
                  <a:srgbClr val="1A1A2E"/>
                </a:solidFill>
                <a:latin typeface="Calibri"/>
              </a:rPr>
              <a:t>Top pane: current 15 s — updates continuously</a:t>
            </a:r>
          </a:p>
          <a:p>
            <a:pPr marL="342900" indent="-342900">
              <a:buChar char="•"/>
            </a:pPr>
            <a:r>
              <a:rPr sz="1800" b="1" i="0">
                <a:solidFill>
                  <a:srgbClr val="1A1A2E"/>
                </a:solidFill>
                <a:latin typeface="Calibri"/>
              </a:rPr>
              <a:t>Bottom pane: previous 15 s — frozen, good for review</a:t>
            </a:r>
          </a:p>
          <a:p>
            <a:pPr marL="342900" indent="-342900">
              <a:buChar char="•"/>
            </a:pPr>
            <a:r>
              <a:rPr sz="1800" b="1" i="0">
                <a:solidFill>
                  <a:srgbClr val="1A1A2E"/>
                </a:solidFill>
                <a:latin typeface="Calibri"/>
              </a:rPr>
              <a:t>Meteor ping: brief bright vertical streak</a:t>
            </a:r>
          </a:p>
          <a:p>
            <a:pPr marL="1028700" indent="-342900">
              <a:buChar char="–"/>
            </a:pPr>
            <a:r>
              <a:rPr sz="1600" b="0" i="0">
                <a:solidFill>
                  <a:srgbClr val="444455"/>
                </a:solidFill>
                <a:latin typeface="Calibri"/>
              </a:rPr>
              <a:t>Typically 50–500 ms wide</a:t>
            </a:r>
          </a:p>
          <a:p>
            <a:pPr marL="1028700" indent="-342900">
              <a:buChar char="–"/>
            </a:pPr>
            <a:r>
              <a:rPr sz="1600" b="0" i="0">
                <a:solidFill>
                  <a:srgbClr val="444455"/>
                </a:solidFill>
                <a:latin typeface="Calibri"/>
              </a:rPr>
              <a:t>May appear on one or several adjacent channels</a:t>
            </a:r>
          </a:p>
          <a:p>
            <a:pPr marL="342900" indent="-342900">
              <a:buChar char="•"/>
            </a:pPr>
            <a:r>
              <a:rPr sz="1800" b="1" i="0">
                <a:solidFill>
                  <a:srgbClr val="1A1A2E"/>
                </a:solidFill>
                <a:latin typeface="Calibri"/>
              </a:rPr>
              <a:t>Calling frequency shown as a horizontal reference line</a:t>
            </a:r>
          </a:p>
          <a:p>
            <a:pPr marL="342900" indent="-342900">
              <a:buChar char="•"/>
            </a:pPr>
            <a:r>
              <a:rPr sz="1800" b="1" i="0">
                <a:solidFill>
                  <a:srgbClr val="1A1A2E"/>
                </a:solidFill>
                <a:latin typeface="Calibri"/>
              </a:rPr>
              <a:t>Color scale: adjust min/max dB to taste</a:t>
            </a:r>
          </a:p>
        </p:txBody>
      </p:sp>
      <p:sp>
        <p:nvSpPr>
          <p:cNvPr id="6" name="TextBox 5"/>
          <p:cNvSpPr txBox="1"/>
          <p:nvPr/>
        </p:nvSpPr>
        <p:spPr>
          <a:xfrm>
            <a:off x="365760" y="6080760"/>
            <a:ext cx="11430000" cy="548640"/>
          </a:xfrm>
          <a:prstGeom prst="rect">
            <a:avLst/>
          </a:prstGeom>
          <a:noFill/>
        </p:spPr>
        <p:txBody>
          <a:bodyPr wrap="square">
            <a:spAutoFit/>
          </a:bodyPr>
          <a:lstStyle/>
          <a:p>
            <a:pPr algn="l"/>
            <a:r>
              <a:rPr sz="1400" b="0" i="1">
                <a:solidFill>
                  <a:srgbClr val="888899"/>
                </a:solidFill>
                <a:latin typeface="Calibri"/>
              </a:rPr>
              <a:t>Top: rolling 15 s.  Bottom: accumulated previous 15 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ap144_detection_heatmap.png"/>
          <p:cNvPicPr>
            <a:picLocks noChangeAspect="1"/>
          </p:cNvPicPr>
          <p:nvPr/>
        </p:nvPicPr>
        <p:blipFill>
          <a:blip r:embed="rId2"/>
          <a:stretch>
            <a:fillRect/>
          </a:stretch>
        </p:blipFill>
        <p:spPr>
          <a:xfrm>
            <a:off x="365760" y="2076121"/>
            <a:ext cx="11460175" cy="4416119"/>
          </a:xfrm>
          <a:prstGeom prst="rect">
            <a:avLst/>
          </a:prstGeom>
        </p:spPr>
      </p:pic>
      <p:sp>
        <p:nvSpPr>
          <p:cNvPr id="4" name="TextBox 3"/>
          <p:cNvSpPr txBox="1"/>
          <p:nvPr/>
        </p:nvSpPr>
        <p:spPr>
          <a:xfrm>
            <a:off x="365760" y="137160"/>
            <a:ext cx="11460175" cy="685800"/>
          </a:xfrm>
          <a:prstGeom prst="rect">
            <a:avLst/>
          </a:prstGeom>
          <a:noFill/>
        </p:spPr>
        <p:txBody>
          <a:bodyPr wrap="square">
            <a:spAutoFit/>
          </a:bodyPr>
          <a:lstStyle/>
          <a:p>
            <a:pPr algn="l"/>
            <a:r>
              <a:rPr sz="2800" b="1" i="0">
                <a:solidFill>
                  <a:srgbClr val="1B3A6B"/>
                </a:solidFill>
                <a:latin typeface="Calibri"/>
              </a:rPr>
              <a:t>Reading the Tone Detection SNR Display</a:t>
            </a:r>
          </a:p>
        </p:txBody>
      </p:sp>
      <p:sp>
        <p:nvSpPr>
          <p:cNvPr id="5" name="TextBox 4"/>
          <p:cNvSpPr txBox="1"/>
          <p:nvPr/>
        </p:nvSpPr>
        <p:spPr>
          <a:xfrm>
            <a:off x="365760" y="960120"/>
            <a:ext cx="11460175" cy="1006273"/>
          </a:xfrm>
          <a:prstGeom prst="rect">
            <a:avLst/>
          </a:prstGeom>
          <a:noFill/>
        </p:spPr>
        <p:txBody>
          <a:bodyPr wrap="square">
            <a:normAutofit/>
          </a:bodyPr>
          <a:lstStyle/>
          <a:p>
            <a:pPr marL="342900" indent="-342900">
              <a:buChar char="•"/>
            </a:pPr>
            <a:r>
              <a:rPr sz="2000" b="1" i="0">
                <a:solidFill>
                  <a:srgbClr val="1A1A2E"/>
                </a:solidFill>
                <a:latin typeface="Calibri"/>
              </a:rPr>
              <a:t>Bright row = strong MSK144 tone pair in that channel</a:t>
            </a:r>
          </a:p>
          <a:p>
            <a:pPr marL="342900" indent="-342900">
              <a:buChar char="•"/>
            </a:pPr>
            <a:r>
              <a:rPr sz="2000" b="1" i="0">
                <a:solidFill>
                  <a:srgbClr val="1A1A2E"/>
                </a:solidFill>
                <a:latin typeface="Calibri"/>
              </a:rPr>
              <a:t>Cyan circle  = decoded by SPD  (short ping, sensitive path)</a:t>
            </a:r>
          </a:p>
          <a:p>
            <a:pPr marL="342900" indent="-342900">
              <a:buChar char="•"/>
            </a:pPr>
            <a:r>
              <a:rPr sz="2000" b="1" i="0">
                <a:solidFill>
                  <a:srgbClr val="1A1A2E"/>
                </a:solidFill>
                <a:latin typeface="Calibri"/>
              </a:rPr>
              <a:t>Green circle = decoded by jt9  (fallback, longer burst)</a:t>
            </a:r>
          </a:p>
          <a:p>
            <a:pPr marL="342900" indent="-342900">
              <a:buChar char="•"/>
            </a:pPr>
            <a:r>
              <a:rPr sz="2000" b="1" i="0">
                <a:solidFill>
                  <a:srgbClr val="1A1A2E"/>
                </a:solidFill>
                <a:latin typeface="Calibri"/>
              </a:rPr>
              <a:t>Orange circle = no decode — both SPD and jt9 failed</a:t>
            </a:r>
          </a:p>
          <a:p>
            <a:pPr marL="1028700" indent="-342900">
              <a:buChar char="–"/>
            </a:pPr>
            <a:r>
              <a:rPr sz="1800" b="0" i="0">
                <a:solidFill>
                  <a:srgbClr val="444455"/>
                </a:solidFill>
                <a:latin typeface="Calibri"/>
              </a:rPr>
              <a:t>Signal too weak, too short, or too much phase distortion</a:t>
            </a:r>
          </a:p>
          <a:p>
            <a:pPr marL="342900" indent="-342900">
              <a:buChar char="•"/>
            </a:pPr>
            <a:r>
              <a:rPr sz="2000" b="1" i="0">
                <a:solidFill>
                  <a:srgbClr val="1A1A2E"/>
                </a:solidFill>
                <a:latin typeface="Calibri"/>
              </a:rPr>
              <a:t>Red circle = decode in progress — result pending</a:t>
            </a:r>
          </a:p>
          <a:p>
            <a:pPr marL="342900" indent="-342900">
              <a:buChar char="•"/>
            </a:pPr>
            <a:r>
              <a:rPr sz="2000" b="1" i="0">
                <a:solidFill>
                  <a:srgbClr val="1A1A2E"/>
                </a:solidFill>
                <a:latin typeface="Calibri"/>
              </a:rPr>
              <a:t>Circles appear slightly after the ping — decoder needs the full burst</a:t>
            </a:r>
          </a:p>
          <a:p>
            <a:pPr marL="342900" indent="-342900">
              <a:buChar char="•"/>
            </a:pPr>
            <a:r>
              <a:rPr sz="2000" b="1" i="0">
                <a:solidFill>
                  <a:srgbClr val="1A1A2E"/>
                </a:solidFill>
                <a:latin typeface="Calibri"/>
              </a:rPr>
              <a:t>Detection threshold: 3 dB above 32-second per-channel baseline</a:t>
            </a:r>
          </a:p>
          <a:p>
            <a:pPr marL="1028700" indent="-342900">
              <a:buChar char="–"/>
            </a:pPr>
            <a:r>
              <a:rPr sz="1800" b="0" i="0">
                <a:solidFill>
                  <a:srgbClr val="444455"/>
                </a:solidFill>
                <a:latin typeface="Calibri"/>
              </a:rPr>
              <a:t>Baseline is 25th percentile of rolling metric history per channel</a:t>
            </a:r>
          </a:p>
          <a:p>
            <a:pPr marL="1028700" indent="-342900">
              <a:buChar char="–"/>
            </a:pPr>
            <a:r>
              <a:rPr sz="1800" b="0" i="0">
                <a:solidFill>
                  <a:srgbClr val="444455"/>
                </a:solidFill>
                <a:latin typeface="Calibri"/>
              </a:rPr>
              <a:t>32 s window is long enough to average through IF spurs</a:t>
            </a:r>
          </a:p>
          <a:p>
            <a:pPr marL="1028700" indent="-342900">
              <a:buChar char="–"/>
            </a:pPr>
            <a:r>
              <a:rPr sz="1800" b="0" i="0">
                <a:solidFill>
                  <a:srgbClr val="444455"/>
                </a:solidFill>
                <a:latin typeface="Calibri"/>
              </a:rPr>
              <a:t>Too low → false alarms from noise  |  Too high → missed weak pings</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SPD — Short Ping Decoder</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SPD is MAP144's primary decoder, built specifically for meteor scatter</a:t>
            </a:r>
          </a:p>
          <a:p>
            <a:pPr/>
            <a:r>
              <a:rPr sz="2000" b="1" i="0">
                <a:solidFill>
                  <a:srgbClr val="1A1A2E"/>
                </a:solidFill>
                <a:latin typeface="Calibri"/>
              </a:rPr>
              <a:t>Why not just use jt9?</a:t>
            </a:r>
          </a:p>
          <a:p>
            <a:pPr lvl="1"/>
            <a:r>
              <a:rPr sz="1800" b="0" i="0">
                <a:solidFill>
                  <a:srgbClr val="444455"/>
                </a:solidFill>
                <a:latin typeface="Calibri"/>
              </a:rPr>
              <a:t>jt9 processes a full 15-second frame — it averages over all of it</a:t>
            </a:r>
          </a:p>
          <a:p>
            <a:pPr lvl="1"/>
            <a:r>
              <a:rPr sz="1800" b="0" i="0">
                <a:solidFill>
                  <a:srgbClr val="444455"/>
                </a:solidFill>
                <a:latin typeface="Calibri"/>
              </a:rPr>
              <a:t>A 100 ms ping is a small fraction of 15 seconds; most of the frame is noise</a:t>
            </a:r>
          </a:p>
          <a:p>
            <a:pPr lvl="1"/>
            <a:r>
              <a:rPr sz="1800" b="0" i="0">
                <a:solidFill>
                  <a:srgbClr val="444455"/>
                </a:solidFill>
                <a:latin typeface="Calibri"/>
              </a:rPr>
              <a:t>jt9 also requires real audio; half the signal (the Q channel) is discarded</a:t>
            </a:r>
          </a:p>
          <a:p>
            <a:pPr/>
            <a:r>
              <a:rPr sz="2000" b="1" i="0">
                <a:solidFill>
                  <a:srgbClr val="1A1A2E"/>
                </a:solidFill>
                <a:latin typeface="Calibri"/>
              </a:rPr>
              <a:t>SPD's key insight: coherent frame averaging</a:t>
            </a:r>
          </a:p>
          <a:p>
            <a:pPr lvl="1"/>
            <a:r>
              <a:rPr sz="1800" b="0" i="0">
                <a:solidFill>
                  <a:srgbClr val="444455"/>
                </a:solidFill>
                <a:latin typeface="Calibri"/>
              </a:rPr>
              <a:t>One MSK144 frame = exactly 72 ms at 2000 baud</a:t>
            </a:r>
          </a:p>
          <a:p>
            <a:pPr lvl="1"/>
            <a:r>
              <a:rPr sz="1800" b="0" i="0">
                <a:solidFill>
                  <a:srgbClr val="444455"/>
                </a:solidFill>
                <a:latin typeface="Calibri"/>
              </a:rPr>
              <a:t>Successive frames from the same ping are naturally phase-coherent</a:t>
            </a:r>
          </a:p>
          <a:p>
            <a:pPr lvl="1"/>
            <a:r>
              <a:rPr sz="1800" b="0" i="0">
                <a:solidFill>
                  <a:srgbClr val="444455"/>
                </a:solidFill>
                <a:latin typeface="Calibri"/>
              </a:rPr>
              <a:t>Averaging N frames before decoding improves SNR by √N</a:t>
            </a:r>
          </a:p>
          <a:p>
            <a:pPr lvl="1"/>
            <a:r>
              <a:rPr sz="1800" b="0" i="0">
                <a:solidFill>
                  <a:srgbClr val="444455"/>
                </a:solidFill>
                <a:latin typeface="Calibri"/>
              </a:rPr>
              <a:t>Operates on complex IQ — both I and Q channels, no signal loss</a:t>
            </a:r>
          </a:p>
          <a:p>
            <a:pPr/>
            <a:r>
              <a:rPr sz="2000" b="1" i="0">
                <a:solidFill>
                  <a:srgbClr val="1A1A2E"/>
                </a:solidFill>
                <a:latin typeface="Calibri"/>
              </a:rPr>
              <a:t>SPD runs first on every detection; jt9 is the fallback</a:t>
            </a:r>
          </a:p>
          <a:p>
            <a:pPr lvl="1"/>
            <a:r>
              <a:rPr sz="1800" b="0" i="0">
                <a:solidFill>
                  <a:srgbClr val="444455"/>
                </a:solidFill>
                <a:latin typeface="Calibri"/>
              </a:rPr>
              <a:t>SPD handles the common short underdense case with better sensitivity</a:t>
            </a:r>
          </a:p>
          <a:p>
            <a:pPr lvl="1"/>
            <a:r>
              <a:rPr sz="1800" b="0" i="0">
                <a:solidFill>
                  <a:srgbClr val="444455"/>
                </a:solidFill>
                <a:latin typeface="Calibri"/>
              </a:rPr>
              <a:t>jt9 handles longer overdense bursts that span many frames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Decode Path: What the Circle Colors Mean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Every detection triggers a two-stage decode attempt:</a:t>
            </a:r>
          </a:p>
          <a:p>
            <a:pPr/>
            <a:r>
              <a:rPr sz="2000" b="1" i="0">
                <a:solidFill>
                  <a:srgbClr val="1A1A2E"/>
                </a:solidFill>
                <a:latin typeface="Calibri"/>
              </a:rPr>
              <a:t>Stage 1 — SPD  (Short Ping Decoder)</a:t>
            </a:r>
          </a:p>
          <a:p>
            <a:pPr lvl="1"/>
            <a:r>
              <a:rPr sz="1800" b="0" i="0">
                <a:solidFill>
                  <a:srgbClr val="444455"/>
                </a:solidFill>
                <a:latin typeface="Calibri"/>
              </a:rPr>
              <a:t>Runs first on every detection</a:t>
            </a:r>
          </a:p>
          <a:p>
            <a:pPr lvl="1"/>
            <a:r>
              <a:rPr sz="1800" b="0" i="0">
                <a:solidFill>
                  <a:srgbClr val="444455"/>
                </a:solidFill>
                <a:latin typeface="Calibri"/>
              </a:rPr>
              <a:t>Optimized for 1–3 frame underdense pings</a:t>
            </a:r>
          </a:p>
          <a:p>
            <a:pPr lvl="1"/>
            <a:r>
              <a:rPr sz="1800" b="0" i="0">
                <a:solidFill>
                  <a:srgbClr val="444455"/>
                </a:solidFill>
                <a:latin typeface="Calibri"/>
              </a:rPr>
              <a:t>Operates on complex IQ with audio BPF — near-optimal sensitivity</a:t>
            </a:r>
          </a:p>
          <a:p>
            <a:pPr lvl="1"/>
            <a:r>
              <a:rPr sz="1800" b="0" i="0">
                <a:solidFill>
                  <a:srgbClr val="444455"/>
                </a:solidFill>
                <a:latin typeface="Calibri"/>
              </a:rPr>
              <a:t>Success → cyan circle</a:t>
            </a:r>
          </a:p>
          <a:p>
            <a:pPr/>
            <a:r>
              <a:rPr sz="2000" b="1" i="0">
                <a:solidFill>
                  <a:srgbClr val="1A1A2E"/>
                </a:solidFill>
                <a:latin typeface="Calibri"/>
              </a:rPr>
              <a:t>Stage 2 — jt9  (fallback, only if SPD fails)</a:t>
            </a:r>
          </a:p>
          <a:p>
            <a:pPr lvl="1"/>
            <a:r>
              <a:rPr sz="1800" b="0" i="0">
                <a:solidFill>
                  <a:srgbClr val="444455"/>
                </a:solidFill>
                <a:latin typeface="Calibri"/>
              </a:rPr>
              <a:t>Handles longer overdense bursts and signals SPD misses</a:t>
            </a:r>
          </a:p>
          <a:p>
            <a:pPr lvl="1"/>
            <a:r>
              <a:rPr sz="1800" b="0" i="0">
                <a:solidFill>
                  <a:srgbClr val="444455"/>
                </a:solidFill>
                <a:latin typeface="Calibri"/>
              </a:rPr>
              <a:t>Reads real audio from the 30-second IQ ring buffer</a:t>
            </a:r>
          </a:p>
          <a:p>
            <a:pPr lvl="1"/>
            <a:r>
              <a:rPr sz="1800" b="0" i="0">
                <a:solidFill>
                  <a:srgbClr val="444455"/>
                </a:solidFill>
                <a:latin typeface="Calibri"/>
              </a:rPr>
              <a:t>Success → green circle</a:t>
            </a:r>
          </a:p>
          <a:p>
            <a:pPr/>
            <a:r>
              <a:rPr sz="2000" b="1" i="0">
                <a:solidFill>
                  <a:srgbClr val="1A1A2E"/>
                </a:solidFill>
                <a:latin typeface="Calibri"/>
              </a:rPr>
              <a:t>Both fail → orange circle</a:t>
            </a:r>
          </a:p>
          <a:p>
            <a:pPr/>
            <a:r>
              <a:rPr sz="2000" b="1" i="0">
                <a:solidFill>
                  <a:srgbClr val="1A1A2E"/>
                </a:solidFill>
                <a:latin typeface="Calibri"/>
              </a:rPr>
              <a:t>In practice: most short underdense pings → cyan</a:t>
            </a:r>
          </a:p>
          <a:p>
            <a:pPr lvl="1"/>
            <a:r>
              <a:rPr sz="1800" b="0" i="0">
                <a:solidFill>
                  <a:srgbClr val="444455"/>
                </a:solidFill>
                <a:latin typeface="Calibri"/>
              </a:rPr>
              <a:t>Overdense trails, multi-second bursts → green</a:t>
            </a:r>
          </a:p>
          <a:p>
            <a:pPr lvl="1"/>
            <a:r>
              <a:rPr sz="1800" b="0" i="0">
                <a:solidFill>
                  <a:srgbClr val="444455"/>
                </a:solidFill>
                <a:latin typeface="Calibri"/>
              </a:rPr>
              <a:t>Noise false alarms, very weak signals → orange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Capturing IQ for Analysis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Shift-click anywhere on the waterfall or heatmap</a:t>
            </a:r>
          </a:p>
          <a:p>
            <a:pPr lvl="1"/>
            <a:r>
              <a:rPr sz="1800" b="0" i="0">
                <a:solidFill>
                  <a:srgbClr val="444455"/>
                </a:solidFill>
                <a:latin typeface="Calibri"/>
              </a:rPr>
              <a:t>Saves 30 seconds of IQ centerd on the click time</a:t>
            </a:r>
          </a:p>
          <a:p>
            <a:pPr/>
            <a:r>
              <a:rPr sz="2000" b="1" i="0">
                <a:solidFill>
                  <a:srgbClr val="1A1A2E"/>
                </a:solidFill>
                <a:latin typeface="Calibri"/>
              </a:rPr>
              <a:t>A notification confirms the save location</a:t>
            </a:r>
          </a:p>
          <a:p>
            <a:pPr/>
            <a:r>
              <a:rPr sz="2000" b="1" i="0">
                <a:solidFill>
                  <a:srgbClr val="1A1A2E"/>
                </a:solidFill>
                <a:latin typeface="Calibri"/>
              </a:rPr>
              <a:t>To open for analysis:</a:t>
            </a:r>
          </a:p>
          <a:p>
            <a:pPr lvl="1"/>
            <a:r>
              <a:rPr sz="1800" b="0" i="0">
                <a:solidFill>
                  <a:srgbClr val="444455"/>
                </a:solidFill>
                <a:latin typeface="Calibri"/>
              </a:rPr>
              <a:t>File → Open Capture…</a:t>
            </a:r>
          </a:p>
          <a:p>
            <a:pPr lvl="1"/>
            <a:r>
              <a:rPr sz="1800" b="0" i="0">
                <a:solidFill>
                  <a:srgbClr val="444455"/>
                </a:solidFill>
                <a:latin typeface="Calibri"/>
              </a:rPr>
              <a:t>Or click the Analysis button if shown</a:t>
            </a:r>
          </a:p>
          <a:p>
            <a:pPr/>
            <a:r>
              <a:rPr sz="2000" b="1" i="0">
                <a:solidFill>
                  <a:srgbClr val="1A1A2E"/>
                </a:solidFill>
                <a:latin typeface="Calibri"/>
              </a:rPr>
              <a:t>Analysis window replays the capture through the full pipeline</a:t>
            </a:r>
          </a:p>
          <a:p>
            <a:pPr lvl="1"/>
            <a:r>
              <a:rPr sz="1800" b="0" i="0">
                <a:solidFill>
                  <a:srgbClr val="444455"/>
                </a:solidFill>
                <a:latin typeface="Calibri"/>
              </a:rPr>
              <a:t>Re-runs detection with current settings</a:t>
            </a:r>
          </a:p>
          <a:p>
            <a:pPr lvl="1"/>
            <a:r>
              <a:rPr sz="1800" b="0" i="0">
                <a:solidFill>
                  <a:srgbClr val="444455"/>
                </a:solidFill>
                <a:latin typeface="Calibri"/>
              </a:rPr>
              <a:t>Re-runs jt9 on each detected ping</a:t>
            </a:r>
          </a:p>
          <a:p>
            <a:pPr lvl="1"/>
            <a:r>
              <a:rPr sz="1800" b="0" i="0">
                <a:solidFill>
                  <a:srgbClr val="444455"/>
                </a:solidFill>
                <a:latin typeface="Calibri"/>
              </a:rPr>
              <a:t>Allows manual decode attempts by clicking the heatmap</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Analysis Window Walkthrough</a:t>
            </a:r>
          </a:p>
        </p:txBody>
      </p:sp>
      <p:sp>
        <p:nvSpPr>
          <p:cNvPr id="4" name="Rectangle 3"/>
          <p:cNvSpPr/>
          <p:nvPr/>
        </p:nvSpPr>
        <p:spPr>
          <a:xfrm>
            <a:off x="365760" y="1005840"/>
            <a:ext cx="11430000" cy="4937760"/>
          </a:xfrm>
          <a:prstGeom prst="rect">
            <a:avLst/>
          </a:prstGeom>
          <a:solidFill>
            <a:srgbClr val="D6EAF8"/>
          </a:solidFill>
          <a:ln w="19050">
            <a:solidFill>
              <a:srgbClr val="276F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i="1">
                <a:solidFill>
                  <a:srgbClr val="276FBF"/>
                </a:solidFill>
                <a:latin typeface="Calibri"/>
              </a:rPr>
              <a:t>[ Screenshot: Analysis window — full view ]</a:t>
            </a:r>
          </a:p>
        </p:txBody>
      </p:sp>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Top: IQ spectrogram.  Middle: detection heatmap.  Bottom-left: decode list.  Bottom-right: 12 kHz audio spectrogram.</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Tips and Gotchas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Sample rate: 48 kHz is standard; others may need re-testing</a:t>
            </a:r>
          </a:p>
          <a:p>
            <a:pPr/>
            <a:r>
              <a:rPr sz="2000" b="1" i="0">
                <a:solidFill>
                  <a:srgbClr val="1A1A2E"/>
                </a:solidFill>
                <a:latin typeface="Calibri"/>
              </a:rPr>
              <a:t>jt9 must be on PATH  (test: jt9 --version in a terminal)</a:t>
            </a:r>
          </a:p>
          <a:p>
            <a:pPr/>
            <a:r>
              <a:rPr sz="2000" b="1" i="0">
                <a:solidFill>
                  <a:srgbClr val="1A1A2E"/>
                </a:solidFill>
                <a:latin typeface="Calibri"/>
              </a:rPr>
              <a:t>Noise blanker threshold: start at 6× noise floor</a:t>
            </a:r>
          </a:p>
          <a:p>
            <a:pPr lvl="1"/>
            <a:r>
              <a:rPr sz="1800" b="0" i="0">
                <a:solidFill>
                  <a:srgbClr val="444455"/>
                </a:solidFill>
                <a:latin typeface="Calibri"/>
              </a:rPr>
              <a:t>Reduce if too much is blanked;  raise if false alarms persist</a:t>
            </a:r>
          </a:p>
          <a:p>
            <a:pPr/>
            <a:r>
              <a:rPr sz="2000" b="1" i="0">
                <a:solidFill>
                  <a:srgbClr val="1A1A2E"/>
                </a:solidFill>
                <a:latin typeface="Calibri"/>
              </a:rPr>
              <a:t>PSKReporter uploads every 5 minutes — not real-time</a:t>
            </a:r>
          </a:p>
          <a:p>
            <a:pPr/>
            <a:r>
              <a:rPr sz="2000" b="1" i="0">
                <a:solidFill>
                  <a:srgbClr val="1A1A2E"/>
                </a:solidFill>
                <a:latin typeface="Calibri"/>
              </a:rPr>
              <a:t>WAV replay is faster than real-time — normal behavior</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7</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System Architecture</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How it works under the hood</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Technical — skip for general audience</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DSP Pipeline Overview</a:t>
            </a:r>
          </a:p>
        </p:txBody>
      </p:sp>
      <p:pic>
        <p:nvPicPr>
          <p:cNvPr id="4" name="Picture 3" descr="map144_pipeline.png"/>
          <p:cNvPicPr>
            <a:picLocks noChangeAspect="1"/>
          </p:cNvPicPr>
          <p:nvPr/>
        </p:nvPicPr>
        <p:blipFill>
          <a:blip r:embed="rId2"/>
          <a:stretch>
            <a:fillRect/>
          </a:stretch>
        </p:blipFill>
        <p:spPr>
          <a:xfrm>
            <a:off x="365760" y="2561498"/>
            <a:ext cx="11430000" cy="1826443"/>
          </a:xfrm>
          <a:prstGeom prst="rect">
            <a:avLst/>
          </a:prstGeom>
        </p:spPr>
      </p:pic>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IQ stream at 48 kHz → 48-channel polyphase filter bank → per-channel squared-FFT detector → SPD decoder (jt9 fallback)</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Polyphase channelizer</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48-channel filter bank centerd on the calling frequency</a:t>
            </a:r>
          </a:p>
          <a:p>
            <a:pPr/>
            <a:r>
              <a:rPr sz="2000" b="1" i="0">
                <a:solidFill>
                  <a:srgbClr val="1A1A2E"/>
                </a:solidFill>
                <a:latin typeface="Calibri"/>
              </a:rPr>
              <a:t>Each channel: 1 kHz wide, decimated to 12 kHz</a:t>
            </a:r>
          </a:p>
          <a:p>
            <a:pPr lvl="1"/>
            <a:r>
              <a:rPr sz="1800" b="0" i="0">
                <a:solidFill>
                  <a:srgbClr val="444455"/>
                </a:solidFill>
                <a:latin typeface="Courier New"/>
              </a:rPr>
              <a:t>Channel k captures signals with USB dial at calling_freq + k×1000 Hz</a:t>
            </a:r>
          </a:p>
          <a:p>
            <a:pPr/>
            <a:r>
              <a:rPr sz="2000" b="1" i="0">
                <a:solidFill>
                  <a:srgbClr val="1A1A2E"/>
                </a:solidFill>
                <a:latin typeface="Calibri"/>
              </a:rPr>
              <a:t>NCO offset aligns the channel grid to the calling frequency</a:t>
            </a:r>
          </a:p>
          <a:p>
            <a:pPr lvl="1"/>
            <a:r>
              <a:rPr sz="1800" b="0" i="0">
                <a:solidFill>
                  <a:srgbClr val="444455"/>
                </a:solidFill>
                <a:latin typeface="Courier New"/>
              </a:rPr>
              <a:t>channel_offset_hz = (calling_freq − pan_center) + 1500 Hz</a:t>
            </a:r>
          </a:p>
          <a:p>
            <a:pPr/>
            <a:r>
              <a:rPr sz="2000" b="1" i="0">
                <a:solidFill>
                  <a:srgbClr val="1A1A2E"/>
                </a:solidFill>
                <a:latin typeface="Calibri"/>
              </a:rPr>
              <a:t>Output: complex IQ at 12 kHz per channel, all channels in parallel</a:t>
            </a:r>
          </a:p>
          <a:p>
            <a:pPr/>
            <a:r>
              <a:rPr sz="2000" b="1" i="0">
                <a:solidFill>
                  <a:srgbClr val="1A1A2E"/>
                </a:solidFill>
                <a:latin typeface="Calibri"/>
              </a:rPr>
              <a:t>Implemented with scipy lfilter and numpy — runs in real time at 48 kHz</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Detection: Squared-Spectrum Metric</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MSK144 tones sit ±500 Hz from the carrier — squaring maps f→2f, placing lobes 2000 Hz apart</a:t>
            </a:r>
          </a:p>
          <a:p>
            <a:pPr/>
            <a:r>
              <a:rPr sz="2000" b="1" i="0">
                <a:solidFill>
                  <a:srgbClr val="1A1A2E"/>
                </a:solidFill>
                <a:latin typeface="Calibri"/>
              </a:rPr>
              <a:t>Detection metric: mean power in LO band × mean power in HI band</a:t>
            </a:r>
          </a:p>
          <a:p>
            <a:pPr lvl="1"/>
            <a:r>
              <a:rPr sz="1800" b="0" i="0">
                <a:solidFill>
                  <a:srgbClr val="444455"/>
                </a:solidFill>
                <a:latin typeface="Calibri"/>
              </a:rPr>
              <a:t>metric = mean(|FFT|² in LO) × mean(|FFT|² in HI)</a:t>
            </a:r>
          </a:p>
          <a:p>
            <a:pPr/>
            <a:r>
              <a:rPr sz="2000" b="1" i="0">
                <a:solidFill>
                  <a:srgbClr val="1A1A2E"/>
                </a:solidFill>
                <a:latin typeface="Calibri"/>
              </a:rPr>
              <a:t>Squaring makes it sensitive to simultaneous energy in both lobes</a:t>
            </a:r>
          </a:p>
          <a:p>
            <a:pPr lvl="1"/>
            <a:r>
              <a:rPr sz="1800" b="0" i="0">
                <a:solidFill>
                  <a:srgbClr val="444455"/>
                </a:solidFill>
                <a:latin typeface="Calibri"/>
              </a:rPr>
              <a:t>Random noise: products cancel on average</a:t>
            </a:r>
          </a:p>
          <a:p>
            <a:pPr lvl="1"/>
            <a:r>
              <a:rPr sz="1800" b="0" i="0">
                <a:solidFill>
                  <a:srgbClr val="444455"/>
                </a:solidFill>
                <a:latin typeface="Calibri"/>
              </a:rPr>
              <a:t>MSK144 burst: both bands bright simultaneously → metric spikes</a:t>
            </a:r>
          </a:p>
          <a:p>
            <a:pPr/>
            <a:r>
              <a:rPr sz="2000" b="1" i="0">
                <a:solidFill>
                  <a:srgbClr val="1A1A2E"/>
                </a:solidFill>
                <a:latin typeface="Calibri"/>
              </a:rPr>
              <a:t>Threshold: 3 dB above 25th-percentile of rolling 32-second history per channel</a:t>
            </a:r>
          </a:p>
          <a:p>
            <a:pPr lvl="1"/>
            <a:r>
              <a:rPr sz="1800" b="0" i="0">
                <a:solidFill>
                  <a:srgbClr val="444455"/>
                </a:solidFill>
                <a:latin typeface="Calibri"/>
              </a:rPr>
              <a:t>Long window ensures IF spurs don't bias the baseline</a:t>
            </a:r>
          </a:p>
          <a:p>
            <a:pPr/>
            <a:r>
              <a:rPr sz="2000" b="1" i="0">
                <a:solidFill>
                  <a:srgbClr val="1A1A2E"/>
                </a:solidFill>
                <a:latin typeface="Calibri"/>
              </a:rPr>
              <a:t>Hop size: 42.7 ms — a 72 ms short ping may span only 1–2 hops</a:t>
            </a:r>
          </a:p>
          <a:p>
            <a:pPr lvl="1"/>
            <a:r>
              <a:rPr sz="1800" b="0" i="0">
                <a:solidFill>
                  <a:srgbClr val="444455"/>
                </a:solidFill>
                <a:latin typeface="Calibri"/>
              </a:rPr>
              <a:t>Peak signal may fall between hops → detection metric lower than instantaneous SNR</a:t>
            </a:r>
          </a:p>
          <a:p>
            <a:pPr lvl="1"/>
            <a:r>
              <a:rPr sz="1800" b="0" i="0">
                <a:solidFill>
                  <a:srgbClr val="444455"/>
                </a:solidFill>
                <a:latin typeface="Calibri"/>
              </a:rPr>
              <a:t>Gamma-envelope pings (τ = 30–100 ms) are the hardest short-underdense case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Coincidence Gate — Cluster Count Design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Problem: impulse noise elevates many channels simultaneously</a:t>
            </a:r>
          </a:p>
          <a:p>
            <a:pPr lvl="1"/>
            <a:r>
              <a:rPr sz="1800" b="0" i="0">
                <a:solidFill>
                  <a:srgbClr val="444455"/>
                </a:solidFill>
                <a:latin typeface="Calibri"/>
              </a:rPr>
              <a:t>A single 1 µs impulse raises all 48 channels at once — obvious false trigger</a:t>
            </a:r>
          </a:p>
          <a:p>
            <a:pPr/>
            <a:r>
              <a:rPr sz="2000" b="1" i="0">
                <a:solidFill>
                  <a:srgbClr val="1A1A2E"/>
                </a:solidFill>
                <a:latin typeface="Calibri"/>
              </a:rPr>
              <a:t>Original gate: suppress if ≥ 8 channels exceed threshold in the same hop</a:t>
            </a:r>
          </a:p>
          <a:p>
            <a:pPr lvl="1"/>
            <a:r>
              <a:rPr sz="1800" b="0" i="0">
                <a:solidFill>
                  <a:srgbClr val="444455"/>
                </a:solidFill>
                <a:latin typeface="Calibri"/>
              </a:rPr>
              <a:t>Bug: each real MSK144 ping spreads into ~3 adjacent channels</a:t>
            </a:r>
          </a:p>
          <a:p>
            <a:pPr lvl="1"/>
            <a:r>
              <a:rPr sz="1800" b="0" i="0">
                <a:solidFill>
                  <a:srgbClr val="444455"/>
                </a:solidFill>
                <a:latin typeface="Calibri"/>
              </a:rPr>
              <a:t>Squaring maps ±500 Hz tones to ±1000 Hz; those straddle the 1 kHz channel boundaries</a:t>
            </a:r>
          </a:p>
          <a:p>
            <a:pPr lvl="1"/>
            <a:r>
              <a:rPr sz="1800" b="0" i="0">
                <a:solidFill>
                  <a:srgbClr val="444455"/>
                </a:solidFill>
                <a:latin typeface="Calibri"/>
              </a:rPr>
              <a:t>Three simultaneous pings at 5 kHz spacing → 3 × 3 = 9 channels → gate fires incorrectly</a:t>
            </a:r>
          </a:p>
          <a:p>
            <a:pPr/>
            <a:r>
              <a:rPr sz="2000" b="1" i="0">
                <a:solidFill>
                  <a:srgbClr val="1A1A2E"/>
                </a:solidFill>
                <a:latin typeface="Calibri"/>
              </a:rPr>
              <a:t>Fix: count separate narrow-band clusters, not raw channels</a:t>
            </a:r>
          </a:p>
          <a:p>
            <a:pPr lvl="1"/>
            <a:r>
              <a:rPr sz="1800" b="0" i="0">
                <a:solidFill>
                  <a:srgbClr val="444455"/>
                </a:solidFill>
                <a:latin typeface="Calibri"/>
              </a:rPr>
              <a:t>Cluster = contiguous run of channels; real ping = one cluster of span ≤ 3</a:t>
            </a:r>
          </a:p>
          <a:p>
            <a:pPr lvl="1"/>
            <a:r>
              <a:rPr sz="1800" b="0" i="0">
                <a:solidFill>
                  <a:srgbClr val="444455"/>
                </a:solidFill>
                <a:latin typeface="Calibri"/>
              </a:rPr>
              <a:t>Broadband noise = one wide cluster (span &gt; 8 channels) or many clusters simultaneously</a:t>
            </a:r>
          </a:p>
          <a:p>
            <a:pPr lvl="1"/>
            <a:r>
              <a:rPr sz="1800" b="0" i="0">
                <a:solidFill>
                  <a:srgbClr val="444455"/>
                </a:solidFill>
                <a:latin typeface="Calibri"/>
              </a:rPr>
              <a:t>Gate fires if ≥ 6 fresh narrow clusters in the same hop</a:t>
            </a:r>
          </a:p>
          <a:p>
            <a:pPr/>
            <a:r>
              <a:rPr sz="2000" b="1" i="0">
                <a:solidFill>
                  <a:srgbClr val="1A1A2E"/>
                </a:solidFill>
                <a:latin typeface="Calibri"/>
              </a:rPr>
              <a:t>Three simultaneous real pings → 3 clusters → well below the threshold of 6</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Sliding Window Intervals — Three Layers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Three independent sliding windows operate at different rates and purposes</a:t>
            </a:r>
          </a:p>
          <a:p>
            <a:pPr/>
            <a:r>
              <a:rPr sz="2000" b="1" i="0">
                <a:solidFill>
                  <a:srgbClr val="1A1A2E"/>
                </a:solidFill>
                <a:latin typeface="Calibri"/>
              </a:rPr>
              <a:t>Layer 1 — Channelizer tone detector  (processing.py)</a:t>
            </a:r>
          </a:p>
          <a:p>
            <a:pPr lvl="1"/>
            <a:r>
              <a:rPr sz="1800" b="0" i="0">
                <a:solidFill>
                  <a:srgbClr val="444455"/>
                </a:solidFill>
                <a:latin typeface="Calibri"/>
              </a:rPr>
              <a:t>Window: 512 samples at 12 kHz = 42.7 ms  (one squarer block)</a:t>
            </a:r>
          </a:p>
          <a:p>
            <a:pPr lvl="1"/>
            <a:r>
              <a:rPr sz="1800" b="0" i="0">
                <a:solidFill>
                  <a:srgbClr val="444455"/>
                </a:solidFill>
                <a:latin typeface="Calibri"/>
              </a:rPr>
              <a:t>Hop:    256 samples = 21.3 ms  (50 % overlap)</a:t>
            </a:r>
          </a:p>
          <a:p>
            <a:pPr lvl="1"/>
            <a:r>
              <a:rPr sz="1800" b="0" i="0">
                <a:solidFill>
                  <a:srgbClr val="444455"/>
                </a:solidFill>
                <a:latin typeface="Calibri"/>
              </a:rPr>
              <a:t>Purpose: trip wire — detect tone-pair energy above 25th-pct baseline</a:t>
            </a:r>
          </a:p>
          <a:p>
            <a:pPr lvl="1"/>
            <a:r>
              <a:rPr sz="1800" b="0" i="0">
                <a:solidFill>
                  <a:srgbClr val="444455"/>
                </a:solidFill>
                <a:latin typeface="Calibri"/>
              </a:rPr>
              <a:t>Not aligned to MSK144 frame boundaries; just looking for power</a:t>
            </a:r>
          </a:p>
          <a:p>
            <a:pPr/>
            <a:r>
              <a:rPr sz="2000" b="1" i="0">
                <a:solidFill>
                  <a:srgbClr val="1A1A2E"/>
                </a:solidFill>
                <a:latin typeface="Calibri"/>
              </a:rPr>
              <a:t>Layer 2 — SPD burst search  (msk144_spd.py)</a:t>
            </a:r>
          </a:p>
          <a:p>
            <a:pPr lvl="1"/>
            <a:r>
              <a:rPr sz="1800" b="0" i="0">
                <a:solidFill>
                  <a:srgbClr val="444455"/>
                </a:solidFill>
                <a:latin typeface="Calibri"/>
              </a:rPr>
              <a:t>Window: 864 samples = 72 ms  (one MSK144 frame at 12 kHz)</a:t>
            </a:r>
          </a:p>
          <a:p>
            <a:pPr lvl="1"/>
            <a:r>
              <a:rPr sz="1800" b="0" i="0">
                <a:solidFill>
                  <a:srgbClr val="444455"/>
                </a:solidFill>
                <a:latin typeface="Calibri"/>
              </a:rPr>
              <a:t>Hop:    216 samples = 18 ms  (quarter-frame)</a:t>
            </a:r>
          </a:p>
          <a:p>
            <a:pPr lvl="1"/>
            <a:r>
              <a:rPr sz="1800" b="0" i="0">
                <a:solidFill>
                  <a:srgbClr val="444455"/>
                </a:solidFill>
                <a:latin typeface="Calibri"/>
              </a:rPr>
              <a:t>Purpose: find exact burst start after channelizer fires</a:t>
            </a:r>
          </a:p>
          <a:p>
            <a:pPr lvl="1"/>
            <a:r>
              <a:rPr sz="1800" b="0" i="0">
                <a:solidFill>
                  <a:srgbClr val="444455"/>
                </a:solidFill>
                <a:latin typeface="Calibri"/>
              </a:rPr>
              <a:t>Quarter-frame step ensures burst onset is captured within ±9 ms</a:t>
            </a:r>
          </a:p>
          <a:p>
            <a:pPr/>
            <a:r>
              <a:rPr sz="2000" b="1" i="0">
                <a:solidFill>
                  <a:srgbClr val="1A1A2E"/>
                </a:solidFill>
                <a:latin typeface="Calibri"/>
              </a:rPr>
              <a:t>Layer 3 — Pre-burst SNR estimator  (detection.py)</a:t>
            </a:r>
          </a:p>
          <a:p>
            <a:pPr lvl="1"/>
            <a:r>
              <a:rPr sz="1800" b="0" i="0">
                <a:solidFill>
                  <a:srgbClr val="444455"/>
                </a:solidFill>
                <a:latin typeface="Calibri"/>
              </a:rPr>
              <a:t>Window: 1024 samples = 85 ms  (wider for frequency resolution)</a:t>
            </a:r>
          </a:p>
          <a:p>
            <a:pPr lvl="1"/>
            <a:r>
              <a:rPr sz="1800" b="0" i="0">
                <a:solidFill>
                  <a:srgbClr val="444455"/>
                </a:solidFill>
                <a:latin typeface="Calibri"/>
              </a:rPr>
              <a:t>Hop:    512 samples = 42.7 ms  (50 % overlap)</a:t>
            </a:r>
          </a:p>
          <a:p>
            <a:pPr lvl="1"/>
            <a:r>
              <a:rPr sz="1800" b="0" i="0">
                <a:solidFill>
                  <a:srgbClr val="444455"/>
                </a:solidFill>
                <a:latin typeface="Calibri"/>
              </a:rPr>
              <a:t>Purpose: noise floor estimate over 500–1500 ms pre-burst segment</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Decode Path: SPD First, jt9 Fallback</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After coincidence gate fires, decode attempt starts immediately</a:t>
            </a:r>
          </a:p>
          <a:p>
            <a:pPr/>
            <a:r>
              <a:rPr sz="2000" b="1" i="0">
                <a:solidFill>
                  <a:srgbClr val="1A1A2E"/>
                </a:solidFill>
                <a:latin typeface="Calibri"/>
              </a:rPr>
              <a:t>Step 1 — Capture IQ and estimate SNR (both paths)</a:t>
            </a:r>
          </a:p>
          <a:p>
            <a:pPr lvl="1"/>
            <a:r>
              <a:rPr sz="1800" b="0" i="0">
                <a:solidFill>
                  <a:srgbClr val="444455"/>
                </a:solidFill>
                <a:latin typeface="Calibri"/>
              </a:rPr>
              <a:t>Read [−500 ms, +1200 ms] window from ring buffer; zero-pad 100 ms each end</a:t>
            </a:r>
          </a:p>
          <a:p>
            <a:pPr lvl="1"/>
            <a:r>
              <a:rPr sz="1800" b="0" i="0">
                <a:solidFill>
                  <a:srgbClr val="444455"/>
                </a:solidFill>
                <a:latin typeface="Calibri"/>
              </a:rPr>
              <a:t>Mix fc_hz → 1500 Hz audio centre; decimate 48→12 kHz</a:t>
            </a:r>
          </a:p>
          <a:p>
            <a:pPr lvl="1"/>
            <a:r>
              <a:rPr sz="1800" b="0" i="0">
                <a:solidFill>
                  <a:srgbClr val="444455"/>
                </a:solidFill>
                <a:latin typeface="Calibri"/>
              </a:rPr>
              <a:t>est_snr_db: overlap-averaged PSD over 500 ms pre-burst noise — 9 frames</a:t>
            </a:r>
          </a:p>
          <a:p>
            <a:pPr/>
            <a:r>
              <a:rPr sz="2000" b="1" i="0">
                <a:solidFill>
                  <a:srgbClr val="1A1A2E"/>
                </a:solidFill>
                <a:latin typeface="Calibri"/>
              </a:rPr>
              <a:t>Step 2 — Try SPD decoder on complex baseband IQ</a:t>
            </a:r>
          </a:p>
          <a:p>
            <a:pPr lvl="1"/>
            <a:r>
              <a:rPr sz="1800" b="0" i="0">
                <a:solidFill>
                  <a:srgbClr val="444455"/>
                </a:solidFill>
                <a:latin typeface="Calibri"/>
              </a:rPr>
              <a:t>Short-Ping Decoder: optimized for 1–3 frame bursts</a:t>
            </a:r>
          </a:p>
          <a:p>
            <a:pPr lvl="1"/>
            <a:r>
              <a:rPr sz="1800" b="0" i="0">
                <a:solidFill>
                  <a:srgbClr val="444455"/>
                </a:solidFill>
                <a:latin typeface="Calibri"/>
              </a:rPr>
              <a:t>Searches frequency, aligns sync, averages frames, runs BP+LDPC</a:t>
            </a:r>
          </a:p>
          <a:p>
            <a:pPr lvl="1"/>
            <a:r>
              <a:rPr sz="1800" b="0" i="0">
                <a:solidFill>
                  <a:srgbClr val="444455"/>
                </a:solidFill>
                <a:latin typeface="Calibri"/>
              </a:rPr>
              <a:t>If decoded → log [MSK144 SPD] with est_snr_db, save WAV, report</a:t>
            </a:r>
          </a:p>
          <a:p>
            <a:pPr/>
            <a:r>
              <a:rPr sz="2000" b="1" i="0">
                <a:solidFill>
                  <a:srgbClr val="1A1A2E"/>
                </a:solidFill>
                <a:latin typeface="Calibri"/>
              </a:rPr>
              <a:t>Step 3 — jt9 fallback if SPD returns None</a:t>
            </a:r>
          </a:p>
          <a:p>
            <a:pPr lvl="1"/>
            <a:r>
              <a:rPr sz="1800" b="0" i="0">
                <a:solidFill>
                  <a:srgbClr val="444455"/>
                </a:solidFill>
                <a:latin typeface="Calibri"/>
              </a:rPr>
              <a:t>Re-read ring buffer: extend pre-burst to 1500 ms — 34 PSD frames</a:t>
            </a:r>
          </a:p>
          <a:p>
            <a:pPr lvl="1"/>
            <a:r>
              <a:rPr sz="1800" b="0" i="0">
                <a:solidFill>
                  <a:srgbClr val="444455"/>
                </a:solidFill>
                <a:latin typeface="Calibri"/>
              </a:rPr>
              <a:t>Re-mix + re-decimate; recompute est_snr_db from wider noise window</a:t>
            </a:r>
          </a:p>
          <a:p>
            <a:pPr lvl="1"/>
            <a:r>
              <a:rPr sz="1800" b="0" i="0">
                <a:solidFill>
                  <a:srgbClr val="444455"/>
                </a:solidFill>
                <a:latin typeface="Calibri"/>
              </a:rPr>
              <a:t>Write extended WAV for jt9; handles longer bursts and overdense trails</a:t>
            </a:r>
          </a:p>
          <a:p>
            <a:pPr lvl="1"/>
            <a:r>
              <a:rPr sz="1800" b="0" i="0">
                <a:solidFill>
                  <a:srgbClr val="444455"/>
                </a:solidFill>
                <a:latin typeface="Calibri"/>
              </a:rPr>
              <a:t>If decoded → log [MSK144 DECODE] with est_snr_db, save WAV, report</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SPD Decoder Internal Pipeline</a:t>
            </a:r>
          </a:p>
        </p:txBody>
      </p:sp>
      <p:pic>
        <p:nvPicPr>
          <p:cNvPr id="4" name="Picture 3" descr="map144_spd_detail.png"/>
          <p:cNvPicPr>
            <a:picLocks noChangeAspect="1"/>
          </p:cNvPicPr>
          <p:nvPr/>
        </p:nvPicPr>
        <p:blipFill>
          <a:blip r:embed="rId2"/>
          <a:stretch>
            <a:fillRect/>
          </a:stretch>
        </p:blipFill>
        <p:spPr>
          <a:xfrm>
            <a:off x="365760" y="2620673"/>
            <a:ext cx="11430000" cy="1708094"/>
          </a:xfrm>
          <a:prstGeom prst="rect">
            <a:avLst/>
          </a:prstGeom>
        </p:spPr>
      </p:pic>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Complex IQ → Audio BPF → Squared-spectrum detection → Freq search → Sync correlation → Frame averaging → BP+LDPC decode</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Dual-Polarization Signal Combining</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H and V channels processed independently through channelizer + detector</a:t>
            </a:r>
          </a:p>
          <a:p>
            <a:pPr/>
            <a:r>
              <a:rPr sz="2000" b="1" i="0">
                <a:solidFill>
                  <a:srgbClr val="1A1A2E"/>
                </a:solidFill>
                <a:latin typeface="Calibri"/>
              </a:rPr>
              <a:t>At decode time: search for θ and Δφ that maximise SNR metric</a:t>
            </a:r>
          </a:p>
          <a:p>
            <a:pPr lvl="1"/>
            <a:r>
              <a:rPr sz="1800" b="0" i="0">
                <a:solidFill>
                  <a:srgbClr val="444455"/>
                </a:solidFill>
                <a:latin typeface="Calibri"/>
              </a:rPr>
              <a:t>combined(θ, Δφ) = H·cos θ + V·e^{jΔφ}·sin θ</a:t>
            </a:r>
          </a:p>
          <a:p>
            <a:pPr/>
            <a:r>
              <a:rPr sz="2000" b="1" i="0">
                <a:solidFill>
                  <a:srgbClr val="1A1A2E"/>
                </a:solidFill>
                <a:latin typeface="Calibri"/>
              </a:rPr>
              <a:t>9×8 grid search: θ ∈ {0°,10°,…,80°},  Δφ ∈ {0°,45°,…,315°}</a:t>
            </a:r>
          </a:p>
          <a:p>
            <a:pPr/>
            <a:r>
              <a:rPr sz="2000" b="1" i="0">
                <a:solidFill>
                  <a:srgbClr val="1A1A2E"/>
                </a:solidFill>
                <a:latin typeface="Calibri"/>
              </a:rPr>
              <a:t>Search performed at 12 kHz (decimated) to reduce noise bandwidth</a:t>
            </a:r>
          </a:p>
          <a:p>
            <a:pPr lvl="1"/>
            <a:r>
              <a:rPr sz="1800" b="0" i="0">
                <a:solidFill>
                  <a:srgbClr val="444455"/>
                </a:solidFill>
                <a:latin typeface="Calibri"/>
              </a:rPr>
              <a:t>At 48 kHz noise is 4× wider — metric becomes noise-dominated</a:t>
            </a:r>
          </a:p>
          <a:p>
            <a:pPr/>
            <a:r>
              <a:rPr sz="2000" b="1" i="0">
                <a:solidFill>
                  <a:srgbClr val="1A1A2E"/>
                </a:solidFill>
                <a:latin typeface="Calibri"/>
              </a:rPr>
              <a:t>Best (θ, Δφ) applied to full 48 kHz signal for jt9 decode</a:t>
            </a:r>
          </a:p>
          <a:p>
            <a:pPr/>
            <a:r>
              <a:rPr sz="2000" b="1" i="0">
                <a:solidFill>
                  <a:srgbClr val="1A1A2E"/>
                </a:solidFill>
                <a:latin typeface="Calibri"/>
              </a:rPr>
              <a:t>Estimated θ stored with the decode record</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8</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Building with AI</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A case study in AI-assisted development</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AI/software audience — optional for ham radio clubs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Project Genesis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Starting point: basic MSK144 concept and SDR knowledge</a:t>
            </a:r>
          </a:p>
          <a:p>
            <a:pPr/>
            <a:r>
              <a:rPr sz="2000" b="1" i="0">
                <a:solidFill>
                  <a:srgbClr val="1A1A2E"/>
                </a:solidFill>
                <a:latin typeface="Calibri"/>
              </a:rPr>
              <a:t>Goal: a working real-time monitor, not a research prototype</a:t>
            </a:r>
          </a:p>
          <a:p>
            <a:pPr/>
            <a:r>
              <a:rPr sz="2000" b="1" i="0">
                <a:solidFill>
                  <a:srgbClr val="1A1A2E"/>
                </a:solidFill>
                <a:latin typeface="Calibri"/>
              </a:rPr>
              <a:t>Approach: iterative development with Claude as the coding partner</a:t>
            </a:r>
          </a:p>
          <a:p>
            <a:pPr/>
            <a:r>
              <a:rPr sz="2000" b="1" i="0">
                <a:solidFill>
                  <a:srgbClr val="1A1A2E"/>
                </a:solidFill>
                <a:latin typeface="Calibri"/>
              </a:rPr>
              <a:t>Not 'generate me an app' — more like pair programming</a:t>
            </a:r>
          </a:p>
          <a:p>
            <a:pPr lvl="1"/>
            <a:r>
              <a:rPr sz="1800" b="0" i="0">
                <a:solidFill>
                  <a:srgbClr val="444455"/>
                </a:solidFill>
                <a:latin typeface="Calibri"/>
              </a:rPr>
              <a:t>Describe a feature, review the code, test, report back</a:t>
            </a:r>
          </a:p>
          <a:p>
            <a:pPr lvl="1"/>
            <a:r>
              <a:rPr sz="1800" b="0" i="0">
                <a:solidFill>
                  <a:srgbClr val="444455"/>
                </a:solidFill>
                <a:latin typeface="Calibri"/>
              </a:rPr>
              <a:t>Catch bugs, explain what the code should do, iterate</a:t>
            </a:r>
          </a:p>
          <a:p>
            <a:pPr/>
            <a:r>
              <a:rPr sz="2000" b="1" i="0">
                <a:solidFill>
                  <a:srgbClr val="1A1A2E"/>
                </a:solidFill>
                <a:latin typeface="Calibri"/>
              </a:rPr>
              <a:t>The domain knowledge stayed with the human</a:t>
            </a:r>
          </a:p>
          <a:p>
            <a:pPr lvl="1"/>
            <a:r>
              <a:rPr sz="1800" b="0" i="0">
                <a:solidFill>
                  <a:srgbClr val="444455"/>
                </a:solidFill>
                <a:latin typeface="Calibri"/>
              </a:rPr>
              <a:t>Claude knew Python / Qt / DSP syntax</a:t>
            </a:r>
          </a:p>
          <a:p>
            <a:pPr lvl="1"/>
            <a:r>
              <a:rPr sz="1800" b="0" i="0">
                <a:solidFill>
                  <a:srgbClr val="444455"/>
                </a:solidFill>
                <a:latin typeface="Calibri"/>
              </a:rPr>
              <a:t>The engineer knew project goals, how to test, MSK144, meteor scatter, antenna physics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What AI Was Good At</a:t>
            </a:r>
          </a:p>
        </p:txBody>
      </p:sp>
      <p:sp>
        <p:nvSpPr>
          <p:cNvPr id="4" name="TextBox 3"/>
          <p:cNvSpPr txBox="1"/>
          <p:nvPr/>
        </p:nvSpPr>
        <p:spPr>
          <a:xfrm>
            <a:off x="365760" y="1005840"/>
            <a:ext cx="5394960" cy="502920"/>
          </a:xfrm>
          <a:prstGeom prst="rect">
            <a:avLst/>
          </a:prstGeom>
          <a:noFill/>
        </p:spPr>
        <p:txBody>
          <a:bodyPr wrap="square">
            <a:spAutoFit/>
          </a:bodyPr>
          <a:lstStyle/>
          <a:p>
            <a:pPr algn="l"/>
            <a:r>
              <a:rPr sz="2200" b="1" i="0">
                <a:solidFill>
                  <a:srgbClr val="276FBF"/>
                </a:solidFill>
                <a:latin typeface="Calibri"/>
              </a:rPr>
              <a:t>Strengths</a:t>
            </a:r>
          </a:p>
        </p:txBody>
      </p:sp>
      <p:sp>
        <p:nvSpPr>
          <p:cNvPr id="5" name="TextBox 4"/>
          <p:cNvSpPr txBox="1"/>
          <p:nvPr/>
        </p:nvSpPr>
        <p:spPr>
          <a:xfrm>
            <a:off x="365760" y="1554480"/>
            <a:ext cx="5394960" cy="5120640"/>
          </a:xfrm>
          <a:prstGeom prst="rect">
            <a:avLst/>
          </a:prstGeom>
          <a:noFill/>
        </p:spPr>
        <p:txBody>
          <a:bodyPr wrap="square">
            <a:spAutoFit/>
          </a:bodyPr>
          <a:lstStyle/>
          <a:p>
            <a:pPr/>
            <a:r>
              <a:rPr sz="2000" b="1" i="0">
                <a:solidFill>
                  <a:srgbClr val="1A1A2E"/>
                </a:solidFill>
                <a:latin typeface="Calibri"/>
              </a:rPr>
              <a:t>Boilerplate and scaffolding</a:t>
            </a:r>
          </a:p>
          <a:p>
            <a:pPr lvl="1"/>
            <a:r>
              <a:rPr sz="1800" b="0" i="0">
                <a:solidFill>
                  <a:srgbClr val="444455"/>
                </a:solidFill>
                <a:latin typeface="Calibri"/>
              </a:rPr>
              <a:t>Qt widget layout</a:t>
            </a:r>
          </a:p>
          <a:p>
            <a:pPr lvl="1"/>
            <a:r>
              <a:rPr sz="1800" b="0" i="0">
                <a:solidFill>
                  <a:srgbClr val="444455"/>
                </a:solidFill>
                <a:latin typeface="Calibri"/>
              </a:rPr>
              <a:t>File I/O patterns</a:t>
            </a:r>
          </a:p>
          <a:p>
            <a:pPr lvl="1"/>
            <a:r>
              <a:rPr sz="1800" b="0" i="0">
                <a:solidFill>
                  <a:srgbClr val="444455"/>
                </a:solidFill>
                <a:latin typeface="Calibri"/>
              </a:rPr>
              <a:t>Logging infrastructure</a:t>
            </a:r>
          </a:p>
          <a:p>
            <a:pPr/>
            <a:r>
              <a:rPr sz="2000" b="1" i="0">
                <a:solidFill>
                  <a:srgbClr val="1A1A2E"/>
                </a:solidFill>
                <a:latin typeface="Calibri"/>
              </a:rPr>
              <a:t>Refactoring</a:t>
            </a:r>
          </a:p>
          <a:p>
            <a:pPr lvl="1"/>
            <a:r>
              <a:rPr sz="1800" b="0" i="0">
                <a:solidFill>
                  <a:srgbClr val="444455"/>
                </a:solidFill>
                <a:latin typeface="Calibri"/>
              </a:rPr>
              <a:t>Rename modules without missing imports</a:t>
            </a:r>
          </a:p>
          <a:p>
            <a:pPr lvl="1"/>
            <a:r>
              <a:rPr sz="1800" b="0" i="0">
                <a:solidFill>
                  <a:srgbClr val="444455"/>
                </a:solidFill>
                <a:latin typeface="Calibri"/>
              </a:rPr>
              <a:t>Extract a class from tangled code</a:t>
            </a:r>
          </a:p>
          <a:p>
            <a:pPr/>
            <a:r>
              <a:rPr sz="2000" b="1" i="0">
                <a:solidFill>
                  <a:srgbClr val="1A1A2E"/>
                </a:solidFill>
                <a:latin typeface="Calibri"/>
              </a:rPr>
              <a:t>DSP math</a:t>
            </a:r>
          </a:p>
          <a:p>
            <a:pPr lvl="1"/>
            <a:r>
              <a:rPr sz="1800" b="0" i="0">
                <a:solidFill>
                  <a:srgbClr val="444455"/>
                </a:solidFill>
                <a:latin typeface="Calibri"/>
              </a:rPr>
              <a:t>Filter design (scipy)</a:t>
            </a:r>
          </a:p>
          <a:p>
            <a:pPr lvl="1"/>
            <a:r>
              <a:rPr sz="1800" b="0" i="0">
                <a:solidFill>
                  <a:srgbClr val="444455"/>
                </a:solidFill>
                <a:latin typeface="Calibri"/>
              </a:rPr>
              <a:t>FFT windowing details</a:t>
            </a:r>
          </a:p>
          <a:p>
            <a:pPr lvl="1"/>
            <a:r>
              <a:rPr sz="1800" b="0" i="0">
                <a:solidFill>
                  <a:srgbClr val="444455"/>
                </a:solidFill>
                <a:latin typeface="Calibri"/>
              </a:rPr>
              <a:t>Polyphase filter bank structure</a:t>
            </a:r>
          </a:p>
        </p:txBody>
      </p:sp>
      <p:sp>
        <p:nvSpPr>
          <p:cNvPr id="6" name="TextBox 5"/>
          <p:cNvSpPr txBox="1"/>
          <p:nvPr/>
        </p:nvSpPr>
        <p:spPr>
          <a:xfrm>
            <a:off x="6309360" y="1005840"/>
            <a:ext cx="5394960" cy="502920"/>
          </a:xfrm>
          <a:prstGeom prst="rect">
            <a:avLst/>
          </a:prstGeom>
          <a:noFill/>
        </p:spPr>
        <p:txBody>
          <a:bodyPr wrap="square">
            <a:spAutoFit/>
          </a:bodyPr>
          <a:lstStyle/>
          <a:p>
            <a:pPr algn="l"/>
            <a:r>
              <a:rPr sz="2200" b="1" i="0">
                <a:solidFill>
                  <a:srgbClr val="276FBF"/>
                </a:solidFill>
                <a:latin typeface="Calibri"/>
              </a:rPr>
              <a:t>Also good</a:t>
            </a:r>
          </a:p>
        </p:txBody>
      </p:sp>
      <p:sp>
        <p:nvSpPr>
          <p:cNvPr id="7" name="TextBox 6"/>
          <p:cNvSpPr txBox="1"/>
          <p:nvPr/>
        </p:nvSpPr>
        <p:spPr>
          <a:xfrm>
            <a:off x="6309360" y="1554480"/>
            <a:ext cx="5394960" cy="5120640"/>
          </a:xfrm>
          <a:prstGeom prst="rect">
            <a:avLst/>
          </a:prstGeom>
          <a:noFill/>
        </p:spPr>
        <p:txBody>
          <a:bodyPr wrap="square">
            <a:spAutoFit/>
          </a:bodyPr>
          <a:lstStyle/>
          <a:p>
            <a:pPr/>
            <a:r>
              <a:rPr sz="2000" b="1" i="0">
                <a:solidFill>
                  <a:srgbClr val="1A1A2E"/>
                </a:solidFill>
                <a:latin typeface="Calibri"/>
              </a:rPr>
              <a:t>API and library usage</a:t>
            </a:r>
          </a:p>
          <a:p>
            <a:pPr lvl="1"/>
            <a:r>
              <a:rPr sz="1800" b="0" i="0">
                <a:solidFill>
                  <a:srgbClr val="444455"/>
                </a:solidFill>
                <a:latin typeface="Calibri"/>
              </a:rPr>
              <a:t>python-pptx, pyqtgraph, UHD</a:t>
            </a:r>
          </a:p>
          <a:p>
            <a:pPr lvl="1"/>
            <a:r>
              <a:rPr sz="1800" b="0" i="0">
                <a:solidFill>
                  <a:srgbClr val="444455"/>
                </a:solidFill>
                <a:latin typeface="Calibri"/>
              </a:rPr>
              <a:t>Correct kwargs on first try</a:t>
            </a:r>
          </a:p>
          <a:p>
            <a:pPr/>
            <a:r>
              <a:rPr sz="2000" b="1" i="0">
                <a:solidFill>
                  <a:srgbClr val="1A1A2E"/>
                </a:solidFill>
                <a:latin typeface="Calibri"/>
              </a:rPr>
              <a:t>Writing tests</a:t>
            </a:r>
          </a:p>
          <a:p>
            <a:pPr lvl="1"/>
            <a:r>
              <a:rPr sz="1800" b="0" i="0">
                <a:solidFill>
                  <a:srgbClr val="444455"/>
                </a:solidFill>
                <a:latin typeface="Calibri"/>
              </a:rPr>
              <a:t>Generating test signals at known SNR</a:t>
            </a:r>
          </a:p>
          <a:p>
            <a:pPr lvl="1"/>
            <a:r>
              <a:rPr sz="1800" b="0" i="0">
                <a:solidFill>
                  <a:srgbClr val="444455"/>
                </a:solidFill>
                <a:latin typeface="Calibri"/>
              </a:rPr>
              <a:t>Batch performance evaluation</a:t>
            </a:r>
          </a:p>
          <a:p>
            <a:pPr/>
            <a:r>
              <a:rPr sz="2000" b="1" i="0">
                <a:solidFill>
                  <a:srgbClr val="1A1A2E"/>
                </a:solidFill>
                <a:latin typeface="Calibri"/>
              </a:rPr>
              <a:t>Documentation</a:t>
            </a:r>
          </a:p>
          <a:p>
            <a:pPr lvl="1"/>
            <a:r>
              <a:rPr sz="1800" b="0" i="0">
                <a:solidFill>
                  <a:srgbClr val="444455"/>
                </a:solidFill>
                <a:latin typeface="Calibri"/>
              </a:rPr>
              <a:t>Docstrings, module headers</a:t>
            </a:r>
          </a:p>
          <a:p>
            <a:pPr lvl="1"/>
            <a:r>
              <a:rPr sz="1800" b="0" i="0">
                <a:solidFill>
                  <a:srgbClr val="444455"/>
                </a:solidFill>
                <a:latin typeface="Calibri"/>
              </a:rPr>
              <a:t>This slide deck</a:t>
            </a:r>
          </a:p>
        </p:txBody>
      </p:sp>
      <p:sp>
        <p:nvSpPr>
          <p:cNvPr id="8" name="Rectangle 7"/>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10" name="TextBox 9"/>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A Case Study: The Polarization Search</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Task: estimate polarization angle θ before calling jt9</a:t>
            </a:r>
          </a:p>
          <a:p>
            <a:pPr/>
            <a:r>
              <a:rPr sz="2000" b="1" i="0">
                <a:solidFill>
                  <a:srgbClr val="1A1A2E"/>
                </a:solidFill>
                <a:latin typeface="Calibri"/>
              </a:rPr>
              <a:t>First implementation: search over last 512 samples of the extract window</a:t>
            </a:r>
          </a:p>
          <a:p>
            <a:pPr lvl="1"/>
            <a:r>
              <a:rPr sz="1800" b="0" i="0">
                <a:solidFill>
                  <a:srgbClr val="444455"/>
                </a:solidFill>
                <a:latin typeface="Calibri"/>
              </a:rPr>
              <a:t>Bug 1: those 512 samples were 1.2 s after the detection — pure noise</a:t>
            </a:r>
          </a:p>
          <a:p>
            <a:pPr lvl="1"/>
            <a:r>
              <a:rPr sz="1800" b="0" i="0">
                <a:solidFill>
                  <a:srgbClr val="444455"/>
                </a:solidFill>
                <a:latin typeface="Calibri"/>
              </a:rPr>
              <a:t>Bug 2: frequency masks built for 12 kHz applied to 48 kHz data</a:t>
            </a:r>
          </a:p>
          <a:p>
            <a:pPr/>
            <a:r>
              <a:rPr sz="2000" b="1" i="0">
                <a:solidFill>
                  <a:srgbClr val="1A1A2E"/>
                </a:solidFill>
                <a:latin typeface="Calibri"/>
              </a:rPr>
              <a:t>Fix attempt 1: center the search window on the detection moment</a:t>
            </a:r>
          </a:p>
          <a:p>
            <a:pPr lvl="1"/>
            <a:r>
              <a:rPr sz="1800" b="0" i="0">
                <a:solidFill>
                  <a:srgbClr val="444455"/>
                </a:solidFill>
                <a:latin typeface="Calibri"/>
              </a:rPr>
              <a:t>Result: went backwards — more misses than before</a:t>
            </a:r>
          </a:p>
          <a:p>
            <a:pPr/>
            <a:r>
              <a:rPr sz="2000" b="1" i="0">
                <a:solidFill>
                  <a:srgbClr val="1A1A2E"/>
                </a:solidFill>
                <a:latin typeface="Calibri"/>
              </a:rPr>
              <a:t>Root cause: at 48 kHz, noise bandwidth is 4× wider</a:t>
            </a:r>
          </a:p>
          <a:p>
            <a:pPr lvl="1"/>
            <a:r>
              <a:rPr sz="1800" b="0" i="0">
                <a:solidFill>
                  <a:srgbClr val="444455"/>
                </a:solidFill>
                <a:latin typeface="Calibri"/>
              </a:rPr>
              <a:t>Squared-spectrum metric became noise-dominated regardless of window</a:t>
            </a:r>
          </a:p>
          <a:p>
            <a:pPr/>
            <a:r>
              <a:rPr sz="2000" b="1" i="0">
                <a:solidFill>
                  <a:srgbClr val="1A1A2E"/>
                </a:solidFill>
                <a:latin typeface="Calibri"/>
              </a:rPr>
              <a:t>Correct fix: decimate to 12 kHz before the pol search</a:t>
            </a:r>
          </a:p>
          <a:p>
            <a:pPr lvl="1"/>
            <a:r>
              <a:rPr sz="1800" b="0" i="0">
                <a:solidFill>
                  <a:srgbClr val="444455"/>
                </a:solidFill>
                <a:latin typeface="Calibri"/>
              </a:rPr>
              <a:t>Same metric, correct noise bandwidth — search now finds the right angle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What Required Domain Expertise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Knowing that the metric was designed for 12 kHz data</a:t>
            </a:r>
          </a:p>
          <a:p>
            <a:pPr/>
            <a:r>
              <a:rPr sz="2000" b="1" i="0">
                <a:solidFill>
                  <a:srgbClr val="1A1A2E"/>
                </a:solidFill>
                <a:latin typeface="Calibri"/>
              </a:rPr>
              <a:t>Understanding why 48 kHz breaks the noise assumption</a:t>
            </a:r>
          </a:p>
          <a:p>
            <a:pPr/>
            <a:r>
              <a:rPr sz="2000" b="1" i="0">
                <a:solidFill>
                  <a:srgbClr val="1A1A2E"/>
                </a:solidFill>
                <a:latin typeface="Calibri"/>
              </a:rPr>
              <a:t>The +1500 Hz USB audio convention — not obvious from code alone</a:t>
            </a:r>
          </a:p>
          <a:p>
            <a:pPr/>
            <a:r>
              <a:rPr sz="2000" b="1" i="0">
                <a:solidFill>
                  <a:srgbClr val="1A1A2E"/>
                </a:solidFill>
                <a:latin typeface="Calibri"/>
              </a:rPr>
              <a:t>MSK144 spectral shape: two lobes, why the product metric works</a:t>
            </a:r>
          </a:p>
          <a:p>
            <a:pPr/>
            <a:r>
              <a:rPr sz="2000" b="1" i="0">
                <a:solidFill>
                  <a:srgbClr val="1A1A2E"/>
                </a:solidFill>
                <a:latin typeface="Calibri"/>
              </a:rPr>
              <a:t>Recognising when a 'fix' was moving in the wrong direction</a:t>
            </a:r>
          </a:p>
          <a:p>
            <a:pPr lvl="1"/>
            <a:r>
              <a:rPr sz="1800" b="0" i="0">
                <a:solidFill>
                  <a:srgbClr val="444455"/>
                </a:solidFill>
                <a:latin typeface="Calibri"/>
              </a:rPr>
              <a:t>The regression was subtle — more misses, not a crash</a:t>
            </a:r>
          </a:p>
          <a:p>
            <a:pPr/>
            <a:r>
              <a:rPr sz="2000" b="1" i="0">
                <a:solidFill>
                  <a:srgbClr val="1A1A2E"/>
                </a:solidFill>
                <a:latin typeface="Calibri"/>
              </a:rPr>
              <a:t>Deciding what to test and what 'good' looks like</a:t>
            </a:r>
          </a:p>
          <a:p>
            <a:pPr lvl="1"/>
            <a:r>
              <a:rPr sz="1800" b="0" i="0">
                <a:solidFill>
                  <a:srgbClr val="444455"/>
                </a:solidFill>
                <a:latin typeface="Calibri"/>
              </a:rPr>
              <a:t>Generated test signals at known SNR and angle</a:t>
            </a:r>
          </a:p>
          <a:p>
            <a:pPr lvl="1"/>
            <a:r>
              <a:rPr sz="1800" b="0" i="0">
                <a:solidFill>
                  <a:srgbClr val="444455"/>
                </a:solidFill>
                <a:latin typeface="Calibri"/>
              </a:rPr>
              <a:t>Batch analysis across many signals to measure detection rate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Development Statistics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~62 commits over the development period</a:t>
            </a:r>
          </a:p>
          <a:p>
            <a:pPr/>
            <a:r>
              <a:rPr sz="2000" b="1" i="0">
                <a:solidFill>
                  <a:srgbClr val="1A1A2E"/>
                </a:solidFill>
                <a:latin typeface="Calibri"/>
              </a:rPr>
              <a:t>~15 000 lines of Python across 22 application modules</a:t>
            </a:r>
          </a:p>
          <a:p>
            <a:pPr/>
            <a:r>
              <a:rPr sz="2000" b="1" i="0">
                <a:solidFill>
                  <a:srgbClr val="1A1A2E"/>
                </a:solidFill>
                <a:latin typeface="Calibri"/>
              </a:rPr>
              <a:t>Features added iteratively: detection → display → reporting → dual-pol → sensitivity</a:t>
            </a:r>
          </a:p>
          <a:p>
            <a:pPr/>
            <a:r>
              <a:rPr sz="2000" b="1" i="0">
                <a:solidFill>
                  <a:srgbClr val="1A1A2E"/>
                </a:solidFill>
                <a:latin typeface="Calibri"/>
              </a:rPr>
              <a:t>Time: significantly faster than solo development</a:t>
            </a:r>
          </a:p>
          <a:p>
            <a:pPr lvl="1"/>
            <a:r>
              <a:rPr sz="1800" b="0" i="0">
                <a:solidFill>
                  <a:srgbClr val="444455"/>
                </a:solidFill>
                <a:latin typeface="Calibri"/>
              </a:rPr>
              <a:t>Estimate: 3–5× speed-up on implementation tasks</a:t>
            </a:r>
          </a:p>
          <a:p>
            <a:pPr lvl="1"/>
            <a:r>
              <a:rPr sz="1800" b="0" i="0">
                <a:solidFill>
                  <a:srgbClr val="444455"/>
                </a:solidFill>
                <a:latin typeface="Calibri"/>
              </a:rPr>
              <a:t>Debugging time similar — AI cannot test against hardware</a:t>
            </a:r>
          </a:p>
          <a:p>
            <a:pPr/>
            <a:r>
              <a:rPr sz="2000" b="1" i="0">
                <a:solidFill>
                  <a:srgbClr val="1A1A2E"/>
                </a:solidFill>
                <a:latin typeface="Calibri"/>
              </a:rPr>
              <a:t>Cost: API usage — pennies per session</a:t>
            </a:r>
          </a:p>
          <a:p>
            <a:pPr/>
            <a:r>
              <a:rPr sz="2000" b="1" i="0">
                <a:solidFill>
                  <a:srgbClr val="1A1A2E"/>
                </a:solidFill>
                <a:latin typeface="Calibri"/>
              </a:rPr>
              <a:t>No prior experience with PyQt5, pyqtgraph, or polyphase filter banks</a:t>
            </a:r>
          </a:p>
          <a:p>
            <a:pPr/>
            <a:r>
              <a:rPr sz="2000" b="1" i="0">
                <a:solidFill>
                  <a:srgbClr val="1A1A2E"/>
                </a:solidFill>
                <a:latin typeface="Calibri"/>
              </a:rPr>
              <a:t>Cross-session continuity: CLAUDE.md + persistent memory files</a:t>
            </a:r>
          </a:p>
          <a:p>
            <a:pPr lvl="1"/>
            <a:r>
              <a:rPr sz="1800" b="0" i="0">
                <a:solidFill>
                  <a:srgbClr val="444455"/>
                </a:solidFill>
                <a:latin typeface="Calibri"/>
              </a:rPr>
              <a:t>Findings, thresholds, and architectural decisions survive session boundaries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Lessons Learned</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AI is a force multiplier, not a replacement for expertise</a:t>
            </a:r>
          </a:p>
          <a:p>
            <a:pPr/>
            <a:r>
              <a:rPr sz="2000" b="1" i="0">
                <a:solidFill>
                  <a:srgbClr val="1A1A2E"/>
                </a:solidFill>
                <a:latin typeface="Calibri"/>
              </a:rPr>
              <a:t>The conversation is the product — describe intent clearly</a:t>
            </a:r>
          </a:p>
          <a:p>
            <a:pPr lvl="1"/>
            <a:r>
              <a:rPr sz="1800" b="0" i="0">
                <a:solidFill>
                  <a:srgbClr val="444455"/>
                </a:solidFill>
                <a:latin typeface="Calibri"/>
              </a:rPr>
              <a:t>Vague prompt → plausible-looking but wrong code</a:t>
            </a:r>
          </a:p>
          <a:p>
            <a:pPr lvl="1"/>
            <a:r>
              <a:rPr sz="1800" b="0" i="0">
                <a:solidFill>
                  <a:srgbClr val="444455"/>
                </a:solidFill>
                <a:latin typeface="Calibri"/>
              </a:rPr>
              <a:t>Precise description of expected behavior → good code</a:t>
            </a:r>
          </a:p>
          <a:p>
            <a:pPr/>
            <a:r>
              <a:rPr sz="2000" b="1" i="0">
                <a:solidFill>
                  <a:srgbClr val="1A1A2E"/>
                </a:solidFill>
                <a:latin typeface="Calibri"/>
              </a:rPr>
              <a:t>Test everything, especially at system boundaries</a:t>
            </a:r>
          </a:p>
          <a:p>
            <a:pPr lvl="1"/>
            <a:r>
              <a:rPr sz="1800" b="0" i="0">
                <a:solidFill>
                  <a:srgbClr val="444455"/>
                </a:solidFill>
                <a:latin typeface="Calibri"/>
              </a:rPr>
              <a:t>AI-generated DSP code can be mathematically correct but contextually wrong</a:t>
            </a:r>
          </a:p>
          <a:p>
            <a:pPr/>
            <a:r>
              <a:rPr sz="2000" b="1" i="0">
                <a:solidFill>
                  <a:srgbClr val="1A1A2E"/>
                </a:solidFill>
                <a:latin typeface="Calibri"/>
              </a:rPr>
              <a:t>Regressions happen — maintain a reproducible test signal</a:t>
            </a:r>
          </a:p>
          <a:p>
            <a:pPr/>
            <a:r>
              <a:rPr sz="2000" b="1" i="0">
                <a:solidFill>
                  <a:srgbClr val="1A1A2E"/>
                </a:solidFill>
                <a:latin typeface="Calibri"/>
              </a:rPr>
              <a:t>AI has no ego — it will rewrite anything without complaint</a:t>
            </a:r>
          </a:p>
          <a:p>
            <a:pPr lvl="1"/>
            <a:r>
              <a:rPr sz="1800" b="0" i="0">
                <a:solidFill>
                  <a:srgbClr val="444455"/>
                </a:solidFill>
                <a:latin typeface="Calibri"/>
              </a:rPr>
              <a:t>This makes iterative refinement very fast</a:t>
            </a:r>
          </a:p>
          <a:p>
            <a:pPr/>
            <a:r>
              <a:rPr sz="2000" b="1" i="0">
                <a:solidFill>
                  <a:srgbClr val="1A1A2E"/>
                </a:solidFill>
                <a:latin typeface="Calibri"/>
              </a:rPr>
              <a:t>Good for ham radio projects: moderate complexity, narrow domain</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A Case Study: Finding the CPU Bottleneck</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Tool: py-spy — statistical profiler, attaches to a running process</a:t>
            </a:r>
          </a:p>
          <a:p>
            <a:pPr lvl="1"/>
            <a:r>
              <a:rPr sz="1800" b="0" i="0">
                <a:solidFill>
                  <a:srgbClr val="444455"/>
                </a:solidFill>
                <a:latin typeface="Courier New"/>
              </a:rPr>
              <a:t>sudo py-spy top --pid $(pgrep -u $USER -f map144.py)</a:t>
            </a:r>
          </a:p>
          <a:p>
            <a:pPr/>
            <a:r>
              <a:rPr sz="2000" b="1" i="0">
                <a:solidFill>
                  <a:srgbClr val="1A1A2E"/>
                </a:solidFill>
                <a:latin typeface="Calibri"/>
              </a:rPr>
              <a:t>Test: 50-ping synthetic file, SNR −1 to +2 dB (all near-threshold)</a:t>
            </a:r>
          </a:p>
          <a:p>
            <a:pPr/>
            <a:r>
              <a:rPr sz="2000" b="1" i="0">
                <a:solidFill>
                  <a:srgbClr val="1A1A2E"/>
                </a:solidFill>
                <a:latin typeface="Calibri"/>
              </a:rPr>
              <a:t>Result: one function consumed 97% of all CPU</a:t>
            </a:r>
          </a:p>
          <a:p>
            <a:pPr lvl="1"/>
            <a:r>
              <a:rPr sz="1800" b="0" i="0">
                <a:solidFill>
                  <a:srgbClr val="444455"/>
                </a:solidFill>
                <a:latin typeface="Calibri"/>
              </a:rPr>
              <a:t>_bpdecode128_90  —  137 seconds for 50 pings</a:t>
            </a:r>
          </a:p>
          <a:p>
            <a:pPr lvl="1"/>
            <a:r>
              <a:rPr sz="1800" b="0" i="0">
                <a:solidFill>
                  <a:srgbClr val="444455"/>
                </a:solidFill>
                <a:latin typeface="Calibri"/>
              </a:rPr>
              <a:t>A 15-second file took 165 seconds to fully process</a:t>
            </a:r>
          </a:p>
          <a:p>
            <a:pPr lvl="1"/>
            <a:r>
              <a:rPr sz="1800" b="0" i="0">
                <a:solidFill>
                  <a:srgbClr val="444455"/>
                </a:solidFill>
                <a:latin typeface="Calibri"/>
              </a:rPr>
              <a:t>Everything else — channelizer, display, radio I/O — was rounding error</a:t>
            </a:r>
          </a:p>
          <a:p>
            <a:pPr/>
            <a:r>
              <a:rPr sz="2000" b="1" i="0">
                <a:solidFill>
                  <a:srgbClr val="1A1A2E"/>
                </a:solidFill>
                <a:latin typeface="Calibri"/>
              </a:rPr>
              <a:t>Root cause: pure-Python nested loops over the LDPC parity check graph</a:t>
            </a:r>
          </a:p>
          <a:p>
            <a:pPr lvl="1"/>
            <a:r>
              <a:rPr sz="1800" b="0" i="0">
                <a:solidFill>
                  <a:srgbClr val="444455"/>
                </a:solidFill>
                <a:latin typeface="Calibri"/>
              </a:rPr>
              <a:t>BP iterations: 10 max per frame, each iterates over N=128 variable nodes</a:t>
            </a:r>
          </a:p>
          <a:p>
            <a:pPr lvl="1"/>
            <a:r>
              <a:rPr sz="1800" b="0" i="0">
                <a:solidFill>
                  <a:srgbClr val="444455"/>
                </a:solidFill>
                <a:latin typeface="Calibri"/>
              </a:rPr>
              <a:t>Python executes each loop step as interpreted bytecode — inherently slow</a:t>
            </a:r>
          </a:p>
          <a:p>
            <a:pPr lvl="1"/>
            <a:r>
              <a:rPr sz="1800" b="0" i="0">
                <a:solidFill>
                  <a:srgbClr val="444455"/>
                </a:solidFill>
                <a:latin typeface="Calibri"/>
              </a:rPr>
              <a:t>No numpy vectorisation possible — the graph structure defeats array operations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py-spy Profile: 50-Ping Test File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Top functions by cumulative CPU time (137 s wall clock, 50 pings):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286000"/>
          <a:ext cx="9144000" cy="2944368"/>
        </p:xfrm>
        <a:graphic>
          <a:graphicData uri="http://schemas.openxmlformats.org/drawingml/2006/table">
            <a:tbl>
              <a:tblPr firstRow="1" bandRow="1">
                <a:tableStyleId>{5C22544A-7EE6-4342-B048-85BDC9FD1C3A}</a:tableStyleId>
              </a:tblPr>
              <a:tblGrid>
                <a:gridCol w="3474720"/>
                <a:gridCol w="3200400"/>
                <a:gridCol w="1097280"/>
                <a:gridCol w="1371600"/>
              </a:tblGrid>
              <a:tr h="420624">
                <a:tc>
                  <a:txBody>
                    <a:bodyPr/>
                    <a:lstStyle/>
                    <a:p>
                      <a:pPr algn="ctr"/>
                      <a:r>
                        <a:rPr sz="1400" b="1">
                          <a:solidFill>
                            <a:srgbClr val="FFFFFF"/>
                          </a:solidFill>
                          <a:latin typeface="Calibri"/>
                        </a:rPr>
                        <a:t>Function</a:t>
                      </a:r>
                    </a:p>
                  </a:txBody>
                  <a:tcPr>
                    <a:solidFill>
                      <a:srgbClr val="1B3A6B"/>
                    </a:solidFill>
                  </a:tcPr>
                </a:tc>
                <a:tc>
                  <a:txBody>
                    <a:bodyPr/>
                    <a:lstStyle/>
                    <a:p>
                      <a:pPr algn="ctr"/>
                      <a:r>
                        <a:rPr sz="1400" b="1">
                          <a:solidFill>
                            <a:srgbClr val="FFFFFF"/>
                          </a:solidFill>
                          <a:latin typeface="Calibri"/>
                        </a:rPr>
                        <a:t>File</a:t>
                      </a:r>
                    </a:p>
                  </a:txBody>
                  <a:tcPr>
                    <a:solidFill>
                      <a:srgbClr val="1B3A6B"/>
                    </a:solidFill>
                  </a:tcPr>
                </a:tc>
                <a:tc>
                  <a:txBody>
                    <a:bodyPr/>
                    <a:lstStyle/>
                    <a:p>
                      <a:pPr algn="ctr"/>
                      <a:r>
                        <a:rPr sz="1400" b="1">
                          <a:solidFill>
                            <a:srgbClr val="FFFFFF"/>
                          </a:solidFill>
                          <a:latin typeface="Calibri"/>
                        </a:rPr>
                        <a:t>%Own</a:t>
                      </a:r>
                    </a:p>
                  </a:txBody>
                  <a:tcPr>
                    <a:solidFill>
                      <a:srgbClr val="1B3A6B"/>
                    </a:solidFill>
                  </a:tcPr>
                </a:tc>
                <a:tc>
                  <a:txBody>
                    <a:bodyPr/>
                    <a:lstStyle/>
                    <a:p>
                      <a:pPr algn="ctr"/>
                      <a:r>
                        <a:rPr sz="1400" b="1">
                          <a:solidFill>
                            <a:srgbClr val="FFFFFF"/>
                          </a:solidFill>
                          <a:latin typeface="Calibri"/>
                        </a:rPr>
                        <a:t>Own Time</a:t>
                      </a:r>
                    </a:p>
                  </a:txBody>
                  <a:tcPr>
                    <a:solidFill>
                      <a:srgbClr val="1B3A6B"/>
                    </a:solidFill>
                  </a:tcPr>
                </a:tc>
              </a:tr>
              <a:tr h="420624">
                <a:tc>
                  <a:txBody>
                    <a:bodyPr/>
                    <a:lstStyle/>
                    <a:p>
                      <a:pPr algn="ctr"/>
                      <a:r>
                        <a:rPr sz="1400">
                          <a:solidFill>
                            <a:srgbClr val="1A1A2E"/>
                          </a:solidFill>
                          <a:latin typeface="Calibri"/>
                        </a:rPr>
                        <a:t>_bpdecode128_90</a:t>
                      </a:r>
                    </a:p>
                  </a:txBody>
                  <a:tcPr>
                    <a:solidFill>
                      <a:srgbClr val="F0F4F8"/>
                    </a:solidFill>
                  </a:tcPr>
                </a:tc>
                <a:tc>
                  <a:txBody>
                    <a:bodyPr/>
                    <a:lstStyle/>
                    <a:p>
                      <a:pPr algn="ctr"/>
                      <a:r>
                        <a:rPr sz="1400">
                          <a:solidFill>
                            <a:srgbClr val="1A1A2E"/>
                          </a:solidFill>
                          <a:latin typeface="Calibri"/>
                        </a:rPr>
                        <a:t>msk144_decode.py</a:t>
                      </a:r>
                    </a:p>
                  </a:txBody>
                  <a:tcPr>
                    <a:solidFill>
                      <a:srgbClr val="F0F4F8"/>
                    </a:solidFill>
                  </a:tcPr>
                </a:tc>
                <a:tc>
                  <a:txBody>
                    <a:bodyPr/>
                    <a:lstStyle/>
                    <a:p>
                      <a:pPr algn="ctr"/>
                      <a:r>
                        <a:rPr sz="1400">
                          <a:solidFill>
                            <a:srgbClr val="1A1A2E"/>
                          </a:solidFill>
                          <a:latin typeface="Calibri"/>
                        </a:rPr>
                        <a:t>97%</a:t>
                      </a:r>
                    </a:p>
                  </a:txBody>
                  <a:tcPr>
                    <a:solidFill>
                      <a:srgbClr val="F0F4F8"/>
                    </a:solidFill>
                  </a:tcPr>
                </a:tc>
                <a:tc>
                  <a:txBody>
                    <a:bodyPr/>
                    <a:lstStyle/>
                    <a:p>
                      <a:pPr algn="ctr"/>
                      <a:r>
                        <a:rPr sz="1400">
                          <a:solidFill>
                            <a:srgbClr val="1A1A2E"/>
                          </a:solidFill>
                          <a:latin typeface="Calibri"/>
                        </a:rPr>
                        <a:t>137.3 s</a:t>
                      </a:r>
                    </a:p>
                  </a:txBody>
                  <a:tcPr>
                    <a:solidFill>
                      <a:srgbClr val="F0F4F8"/>
                    </a:solidFill>
                  </a:tcPr>
                </a:tc>
              </a:tr>
              <a:tr h="420624">
                <a:tc>
                  <a:txBody>
                    <a:bodyPr/>
                    <a:lstStyle/>
                    <a:p>
                      <a:pPr algn="ctr"/>
                      <a:r>
                        <a:rPr sz="1400">
                          <a:solidFill>
                            <a:srgbClr val="1A1A2E"/>
                          </a:solidFill>
                          <a:latin typeface="Calibri"/>
                        </a:rPr>
                        <a:t>_sync_correlate</a:t>
                      </a:r>
                    </a:p>
                  </a:txBody>
                  <a:tcPr>
                    <a:solidFill>
                      <a:srgbClr val="FFFFFF"/>
                    </a:solidFill>
                  </a:tcPr>
                </a:tc>
                <a:tc>
                  <a:txBody>
                    <a:bodyPr/>
                    <a:lstStyle/>
                    <a:p>
                      <a:pPr algn="ctr"/>
                      <a:r>
                        <a:rPr sz="1400">
                          <a:solidFill>
                            <a:srgbClr val="1A1A2E"/>
                          </a:solidFill>
                          <a:latin typeface="Calibri"/>
                        </a:rPr>
                        <a:t>msk144_spd.py</a:t>
                      </a:r>
                    </a:p>
                  </a:txBody>
                  <a:tcPr>
                    <a:solidFill>
                      <a:srgbClr val="FFFFFF"/>
                    </a:solidFill>
                  </a:tcPr>
                </a:tc>
                <a:tc>
                  <a:txBody>
                    <a:bodyPr/>
                    <a:lstStyle/>
                    <a:p>
                      <a:pPr algn="ctr"/>
                      <a:r>
                        <a:rPr sz="1400">
                          <a:solidFill>
                            <a:srgbClr val="1A1A2E"/>
                          </a:solidFill>
                          <a:latin typeface="Calibri"/>
                        </a:rPr>
                        <a:t> 0%</a:t>
                      </a:r>
                    </a:p>
                  </a:txBody>
                  <a:tcPr>
                    <a:solidFill>
                      <a:srgbClr val="FFFFFF"/>
                    </a:solidFill>
                  </a:tcPr>
                </a:tc>
                <a:tc>
                  <a:txBody>
                    <a:bodyPr/>
                    <a:lstStyle/>
                    <a:p>
                      <a:pPr algn="ctr"/>
                      <a:r>
                        <a:rPr sz="1400">
                          <a:solidFill>
                            <a:srgbClr val="1A1A2E"/>
                          </a:solidFill>
                          <a:latin typeface="Calibri"/>
                        </a:rPr>
                        <a:t>4.0 s</a:t>
                      </a:r>
                    </a:p>
                  </a:txBody>
                  <a:tcPr>
                    <a:solidFill>
                      <a:srgbClr val="FFFFFF"/>
                    </a:solidFill>
                  </a:tcPr>
                </a:tc>
              </a:tr>
              <a:tr h="420624">
                <a:tc>
                  <a:txBody>
                    <a:bodyPr/>
                    <a:lstStyle/>
                    <a:p>
                      <a:pPr algn="ctr"/>
                      <a:r>
                        <a:rPr sz="1400">
                          <a:solidFill>
                            <a:srgbClr val="1A1A2E"/>
                          </a:solidFill>
                          <a:latin typeface="Calibri"/>
                        </a:rPr>
                        <a:t>_freq_search_avg</a:t>
                      </a:r>
                    </a:p>
                  </a:txBody>
                  <a:tcPr>
                    <a:solidFill>
                      <a:srgbClr val="F0F4F8"/>
                    </a:solidFill>
                  </a:tcPr>
                </a:tc>
                <a:tc>
                  <a:txBody>
                    <a:bodyPr/>
                    <a:lstStyle/>
                    <a:p>
                      <a:pPr algn="ctr"/>
                      <a:r>
                        <a:rPr sz="1400">
                          <a:solidFill>
                            <a:srgbClr val="1A1A2E"/>
                          </a:solidFill>
                          <a:latin typeface="Calibri"/>
                        </a:rPr>
                        <a:t>msk144_spd.py</a:t>
                      </a:r>
                    </a:p>
                  </a:txBody>
                  <a:tcPr>
                    <a:solidFill>
                      <a:srgbClr val="F0F4F8"/>
                    </a:solidFill>
                  </a:tcPr>
                </a:tc>
                <a:tc>
                  <a:txBody>
                    <a:bodyPr/>
                    <a:lstStyle/>
                    <a:p>
                      <a:pPr algn="ctr"/>
                      <a:r>
                        <a:rPr sz="1400">
                          <a:solidFill>
                            <a:srgbClr val="1A1A2E"/>
                          </a:solidFill>
                          <a:latin typeface="Calibri"/>
                        </a:rPr>
                        <a:t> 1%</a:t>
                      </a:r>
                    </a:p>
                  </a:txBody>
                  <a:tcPr>
                    <a:solidFill>
                      <a:srgbClr val="F0F4F8"/>
                    </a:solidFill>
                  </a:tcPr>
                </a:tc>
                <a:tc>
                  <a:txBody>
                    <a:bodyPr/>
                    <a:lstStyle/>
                    <a:p>
                      <a:pPr algn="ctr"/>
                      <a:r>
                        <a:rPr sz="1400">
                          <a:solidFill>
                            <a:srgbClr val="1A1A2E"/>
                          </a:solidFill>
                          <a:latin typeface="Calibri"/>
                        </a:rPr>
                        <a:t>2.1 s</a:t>
                      </a:r>
                    </a:p>
                  </a:txBody>
                  <a:tcPr>
                    <a:solidFill>
                      <a:srgbClr val="F0F4F8"/>
                    </a:solidFill>
                  </a:tcPr>
                </a:tc>
              </a:tr>
              <a:tr h="420624">
                <a:tc>
                  <a:txBody>
                    <a:bodyPr/>
                    <a:lstStyle/>
                    <a:p>
                      <a:pPr algn="ctr"/>
                      <a:r>
                        <a:rPr sz="1400">
                          <a:solidFill>
                            <a:srgbClr val="1A1A2E"/>
                          </a:solidFill>
                          <a:latin typeface="Calibri"/>
                        </a:rPr>
                        <a:t>_rescaleData_nditer</a:t>
                      </a:r>
                    </a:p>
                  </a:txBody>
                  <a:tcPr>
                    <a:solidFill>
                      <a:srgbClr val="FFFFFF"/>
                    </a:solidFill>
                  </a:tcPr>
                </a:tc>
                <a:tc>
                  <a:txBody>
                    <a:bodyPr/>
                    <a:lstStyle/>
                    <a:p>
                      <a:pPr algn="ctr"/>
                      <a:r>
                        <a:rPr sz="1400">
                          <a:solidFill>
                            <a:srgbClr val="1A1A2E"/>
                          </a:solidFill>
                          <a:latin typeface="Calibri"/>
                        </a:rPr>
                        <a:t>pyqtgraph</a:t>
                      </a:r>
                    </a:p>
                  </a:txBody>
                  <a:tcPr>
                    <a:solidFill>
                      <a:srgbClr val="FFFFFF"/>
                    </a:solidFill>
                  </a:tcPr>
                </a:tc>
                <a:tc>
                  <a:txBody>
                    <a:bodyPr/>
                    <a:lstStyle/>
                    <a:p>
                      <a:pPr algn="ctr"/>
                      <a:r>
                        <a:rPr sz="1400">
                          <a:solidFill>
                            <a:srgbClr val="1A1A2E"/>
                          </a:solidFill>
                          <a:latin typeface="Calibri"/>
                        </a:rPr>
                        <a:t> 1%</a:t>
                      </a:r>
                    </a:p>
                  </a:txBody>
                  <a:tcPr>
                    <a:solidFill>
                      <a:srgbClr val="FFFFFF"/>
                    </a:solidFill>
                  </a:tcPr>
                </a:tc>
                <a:tc>
                  <a:txBody>
                    <a:bodyPr/>
                    <a:lstStyle/>
                    <a:p>
                      <a:pPr algn="ctr"/>
                      <a:r>
                        <a:rPr sz="1400">
                          <a:solidFill>
                            <a:srgbClr val="1A1A2E"/>
                          </a:solidFill>
                          <a:latin typeface="Calibri"/>
                        </a:rPr>
                        <a:t>1.7 s</a:t>
                      </a:r>
                    </a:p>
                  </a:txBody>
                  <a:tcPr>
                    <a:solidFill>
                      <a:srgbClr val="FFFFFF"/>
                    </a:solidFill>
                  </a:tcPr>
                </a:tc>
              </a:tr>
              <a:tr h="420624">
                <a:tc>
                  <a:txBody>
                    <a:bodyPr/>
                    <a:lstStyle/>
                    <a:p>
                      <a:pPr algn="ctr"/>
                      <a:r>
                        <a:rPr sz="1400">
                          <a:solidFill>
                            <a:srgbClr val="1A1A2E"/>
                          </a:solidFill>
                          <a:latin typeface="Calibri"/>
                        </a:rPr>
                        <a:t>_fir_filt_2d</a:t>
                      </a:r>
                    </a:p>
                  </a:txBody>
                  <a:tcPr>
                    <a:solidFill>
                      <a:srgbClr val="F0F4F8"/>
                    </a:solidFill>
                  </a:tcPr>
                </a:tc>
                <a:tc>
                  <a:txBody>
                    <a:bodyPr/>
                    <a:lstStyle/>
                    <a:p>
                      <a:pPr algn="ctr"/>
                      <a:r>
                        <a:rPr sz="1400">
                          <a:solidFill>
                            <a:srgbClr val="1A1A2E"/>
                          </a:solidFill>
                          <a:latin typeface="Calibri"/>
                        </a:rPr>
                        <a:t>channelizer.py</a:t>
                      </a:r>
                    </a:p>
                  </a:txBody>
                  <a:tcPr>
                    <a:solidFill>
                      <a:srgbClr val="F0F4F8"/>
                    </a:solidFill>
                  </a:tcPr>
                </a:tc>
                <a:tc>
                  <a:txBody>
                    <a:bodyPr/>
                    <a:lstStyle/>
                    <a:p>
                      <a:pPr algn="ctr"/>
                      <a:r>
                        <a:rPr sz="1400">
                          <a:solidFill>
                            <a:srgbClr val="1A1A2E"/>
                          </a:solidFill>
                          <a:latin typeface="Calibri"/>
                        </a:rPr>
                        <a:t> 0%</a:t>
                      </a:r>
                    </a:p>
                  </a:txBody>
                  <a:tcPr>
                    <a:solidFill>
                      <a:srgbClr val="F0F4F8"/>
                    </a:solidFill>
                  </a:tcPr>
                </a:tc>
                <a:tc>
                  <a:txBody>
                    <a:bodyPr/>
                    <a:lstStyle/>
                    <a:p>
                      <a:pPr algn="ctr"/>
                      <a:r>
                        <a:rPr sz="1400">
                          <a:solidFill>
                            <a:srgbClr val="1A1A2E"/>
                          </a:solidFill>
                          <a:latin typeface="Calibri"/>
                        </a:rPr>
                        <a:t>0.5 s</a:t>
                      </a:r>
                    </a:p>
                  </a:txBody>
                  <a:tcPr>
                    <a:solidFill>
                      <a:srgbClr val="F0F4F8"/>
                    </a:solidFill>
                  </a:tcPr>
                </a:tc>
              </a:tr>
              <a:tr h="420624">
                <a:tc>
                  <a:txBody>
                    <a:bodyPr/>
                    <a:lstStyle/>
                    <a:p>
                      <a:pPr algn="ctr"/>
                      <a:r>
                        <a:rPr sz="1400">
                          <a:solidFill>
                            <a:srgbClr val="1A1A2E"/>
                          </a:solidFill>
                          <a:latin typeface="Calibri"/>
                        </a:rPr>
                        <a:t>Everything else</a:t>
                      </a:r>
                    </a:p>
                  </a:txBody>
                  <a:tcPr>
                    <a:solidFill>
                      <a:srgbClr val="FFFFFF"/>
                    </a:solidFill>
                  </a:tcPr>
                </a:tc>
                <a:tc>
                  <a:txBody>
                    <a:bodyPr/>
                    <a:lstStyle/>
                    <a:p>
                      <a:pPr algn="ctr"/>
                      <a:r>
                        <a:rPr sz="1400">
                          <a:solidFill>
                            <a:srgbClr val="1A1A2E"/>
                          </a:solidFill>
                          <a:latin typeface="Calibri"/>
                        </a:rPr>
                        <a:t>—</a:t>
                      </a:r>
                    </a:p>
                  </a:txBody>
                  <a:tcPr>
                    <a:solidFill>
                      <a:srgbClr val="FFFFFF"/>
                    </a:solidFill>
                  </a:tcPr>
                </a:tc>
                <a:tc>
                  <a:txBody>
                    <a:bodyPr/>
                    <a:lstStyle/>
                    <a:p>
                      <a:pPr algn="ctr"/>
                      <a:r>
                        <a:rPr sz="1400">
                          <a:solidFill>
                            <a:srgbClr val="1A1A2E"/>
                          </a:solidFill>
                          <a:latin typeface="Calibri"/>
                        </a:rPr>
                        <a:t> 1%</a:t>
                      </a:r>
                    </a:p>
                  </a:txBody>
                  <a:tcPr>
                    <a:solidFill>
                      <a:srgbClr val="FFFFFF"/>
                    </a:solidFill>
                  </a:tcPr>
                </a:tc>
                <a:tc>
                  <a:txBody>
                    <a:bodyPr/>
                    <a:lstStyle/>
                    <a:p>
                      <a:pPr algn="ctr"/>
                      <a:r>
                        <a:rPr sz="1400">
                          <a:solidFill>
                            <a:srgbClr val="1A1A2E"/>
                          </a:solidFill>
                          <a:latin typeface="Calibri"/>
                        </a:rPr>
                        <a:t>1.5 s</a:t>
                      </a:r>
                    </a:p>
                  </a:txBody>
                  <a:tcPr>
                    <a:solidFill>
                      <a:srgbClr val="FFFFFF"/>
                    </a:solidFill>
                  </a:tcPr>
                </a:tc>
              </a:tr>
            </a:tbl>
          </a:graphicData>
        </a:graphic>
      </p:graphicFrame>
      <p:sp>
        <p:nvSpPr>
          <p:cNvPr id="6" name="TextBox 5"/>
          <p:cNvSpPr txBox="1"/>
          <p:nvPr/>
        </p:nvSpPr>
        <p:spPr>
          <a:xfrm>
            <a:off x="365760" y="5166360"/>
            <a:ext cx="11430000" cy="548640"/>
          </a:xfrm>
          <a:prstGeom prst="rect">
            <a:avLst/>
          </a:prstGeom>
          <a:noFill/>
        </p:spPr>
        <p:txBody>
          <a:bodyPr wrap="square">
            <a:spAutoFit/>
          </a:bodyPr>
          <a:lstStyle/>
          <a:p>
            <a:pPr algn="l"/>
            <a:r>
              <a:rPr sz="2000" b="1" i="0">
                <a:solidFill>
                  <a:srgbClr val="276FBF"/>
                </a:solidFill>
                <a:latin typeface="Calibri"/>
              </a:rPr>
              <a:t>One function.  97%.  No ambiguity about where to focus.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Fix: One Decorator with Numba JIT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numba.njit compiles Python functions to machine code via LLVM</a:t>
            </a:r>
          </a:p>
          <a:p>
            <a:pPr lvl="1"/>
            <a:r>
              <a:rPr sz="1800" b="0" i="0">
                <a:solidFill>
                  <a:srgbClr val="444455"/>
                </a:solidFill>
                <a:latin typeface="Courier New"/>
              </a:rPr>
              <a:t>Same source code — add @numba.njit(cache=True) and it compiles</a:t>
            </a:r>
          </a:p>
          <a:p>
            <a:pPr lvl="1"/>
            <a:r>
              <a:rPr sz="1800" b="0" i="0">
                <a:solidFill>
                  <a:srgbClr val="444455"/>
                </a:solidFill>
                <a:latin typeface="Calibri"/>
              </a:rPr>
              <a:t>First call: ~1 second to JIT-compile; cached to disk afterward</a:t>
            </a:r>
          </a:p>
          <a:p>
            <a:pPr lvl="1"/>
            <a:r>
              <a:rPr sz="1800" b="0" i="0">
                <a:solidFill>
                  <a:srgbClr val="444455"/>
                </a:solidFill>
                <a:latin typeface="Courier New"/>
              </a:rPr>
              <a:t>All subsequent calls: execute at near-C speed</a:t>
            </a:r>
          </a:p>
          <a:p>
            <a:pPr/>
            <a:r>
              <a:rPr sz="2000" b="1" i="0">
                <a:solidFill>
                  <a:srgbClr val="1A1A2E"/>
                </a:solidFill>
                <a:latin typeface="Calibri"/>
              </a:rPr>
              <a:t>Requirements for numba compatibility:</a:t>
            </a:r>
          </a:p>
          <a:p>
            <a:pPr lvl="1"/>
            <a:r>
              <a:rPr sz="1800" b="0" i="0">
                <a:solidFill>
                  <a:srgbClr val="444455"/>
                </a:solidFill>
                <a:latin typeface="Calibri"/>
              </a:rPr>
              <a:t>Numeric types only — int, float, numpy arrays</a:t>
            </a:r>
          </a:p>
          <a:p>
            <a:pPr lvl="1"/>
            <a:r>
              <a:rPr sz="1800" b="0" i="0">
                <a:solidFill>
                  <a:srgbClr val="444455"/>
                </a:solidFill>
                <a:latin typeface="Calibri"/>
              </a:rPr>
              <a:t>No Python objects, no Optional returns, no bytearray</a:t>
            </a:r>
          </a:p>
          <a:p>
            <a:pPr/>
            <a:r>
              <a:rPr sz="2000" b="1" i="0">
                <a:solidFill>
                  <a:srgbClr val="1A1A2E"/>
                </a:solidFill>
                <a:latin typeface="Calibri"/>
              </a:rPr>
              <a:t>Solution: extract the inner loops into _bp_inner (numba)</a:t>
            </a:r>
          </a:p>
          <a:p>
            <a:pPr lvl="1"/>
            <a:r>
              <a:rPr sz="1800" b="0" i="0">
                <a:solidFill>
                  <a:srgbClr val="444455"/>
                </a:solidFill>
                <a:latin typeface="Courier New"/>
              </a:rPr>
              <a:t>CRC check stays in Python — called at most once per frame</a:t>
            </a:r>
          </a:p>
          <a:p>
            <a:pPr lvl="1"/>
            <a:r>
              <a:rPr sz="1800" b="0" i="0">
                <a:solidFill>
                  <a:srgbClr val="444455"/>
                </a:solidFill>
                <a:latin typeface="Calibri"/>
              </a:rPr>
              <a:t>Outer _bpdecode128_90 wraps _bp_inner, handles Optional return</a:t>
            </a:r>
          </a:p>
          <a:p>
            <a:pPr/>
            <a:r>
              <a:rPr sz="2000" b="0" i="0">
                <a:solidFill>
                  <a:srgbClr val="1A1A2E"/>
                </a:solidFill>
                <a:latin typeface="Courier New"/>
              </a:rPr>
              <a:t>Pure-Python fallback preserved — numba is optional at import time</a:t>
            </a:r>
          </a:p>
          <a:p>
            <a:pPr lvl="1"/>
            <a:r>
              <a:rPr sz="1800" b="0" i="0">
                <a:solidFill>
                  <a:srgbClr val="444455"/>
                </a:solidFill>
                <a:latin typeface="Courier New"/>
              </a:rPr>
              <a:t>if _NUMBA: use _bp_inner   else: original Python loops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Numba Result: 2300× Speedup</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Benchmark: 1000 calls to _bpdecode128_90, threshold-SNR LLRs: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286000"/>
          <a:ext cx="10515600" cy="1828800"/>
        </p:xfrm>
        <a:graphic>
          <a:graphicData uri="http://schemas.openxmlformats.org/drawingml/2006/table">
            <a:tbl>
              <a:tblPr firstRow="1" bandRow="1">
                <a:tableStyleId>{5C22544A-7EE6-4342-B048-85BDC9FD1C3A}</a:tableStyleId>
              </a:tblPr>
              <a:tblGrid>
                <a:gridCol w="3200400"/>
                <a:gridCol w="2560320"/>
                <a:gridCol w="2011680"/>
                <a:gridCol w="2743200"/>
              </a:tblGrid>
              <a:tr h="457200">
                <a:tc>
                  <a:txBody>
                    <a:bodyPr/>
                    <a:lstStyle/>
                    <a:p>
                      <a:pPr algn="ctr"/>
                      <a:r>
                        <a:rPr sz="1400" b="1">
                          <a:solidFill>
                            <a:srgbClr val="FFFFFF"/>
                          </a:solidFill>
                          <a:latin typeface="Calibri"/>
                        </a:rPr>
                        <a:t>Implementation</a:t>
                      </a:r>
                    </a:p>
                  </a:txBody>
                  <a:tcPr>
                    <a:solidFill>
                      <a:srgbClr val="1B3A6B"/>
                    </a:solidFill>
                  </a:tcPr>
                </a:tc>
                <a:tc>
                  <a:txBody>
                    <a:bodyPr/>
                    <a:lstStyle/>
                    <a:p>
                      <a:pPr algn="ctr"/>
                      <a:r>
                        <a:rPr sz="1400" b="1">
                          <a:solidFill>
                            <a:srgbClr val="FFFFFF"/>
                          </a:solidFill>
                          <a:latin typeface="Calibri"/>
                        </a:rPr>
                        <a:t>1000 calls</a:t>
                      </a:r>
                    </a:p>
                  </a:txBody>
                  <a:tcPr>
                    <a:solidFill>
                      <a:srgbClr val="1B3A6B"/>
                    </a:solidFill>
                  </a:tcPr>
                </a:tc>
                <a:tc>
                  <a:txBody>
                    <a:bodyPr/>
                    <a:lstStyle/>
                    <a:p>
                      <a:pPr algn="ctr"/>
                      <a:r>
                        <a:rPr sz="1400" b="1">
                          <a:solidFill>
                            <a:srgbClr val="FFFFFF"/>
                          </a:solidFill>
                          <a:latin typeface="Calibri"/>
                        </a:rPr>
                        <a:t>Per call</a:t>
                      </a:r>
                    </a:p>
                  </a:txBody>
                  <a:tcPr>
                    <a:solidFill>
                      <a:srgbClr val="1B3A6B"/>
                    </a:solidFill>
                  </a:tcPr>
                </a:tc>
                <a:tc>
                  <a:txBody>
                    <a:bodyPr/>
                    <a:lstStyle/>
                    <a:p>
                      <a:pPr algn="ctr"/>
                      <a:r>
                        <a:rPr sz="1400" b="1">
                          <a:solidFill>
                            <a:srgbClr val="FFFFFF"/>
                          </a:solidFill>
                          <a:latin typeface="Calibri"/>
                        </a:rPr>
                        <a:t>50-ping file</a:t>
                      </a:r>
                    </a:p>
                  </a:txBody>
                  <a:tcPr>
                    <a:solidFill>
                      <a:srgbClr val="1B3A6B"/>
                    </a:solidFill>
                  </a:tcPr>
                </a:tc>
              </a:tr>
              <a:tr h="457200">
                <a:tc>
                  <a:txBody>
                    <a:bodyPr/>
                    <a:lstStyle/>
                    <a:p>
                      <a:pPr algn="ctr"/>
                      <a:r>
                        <a:rPr sz="1400">
                          <a:solidFill>
                            <a:srgbClr val="1A1A2E"/>
                          </a:solidFill>
                          <a:latin typeface="Calibri"/>
                        </a:rPr>
                        <a:t>Pure Python</a:t>
                      </a:r>
                    </a:p>
                  </a:txBody>
                  <a:tcPr>
                    <a:solidFill>
                      <a:srgbClr val="F0F4F8"/>
                    </a:solidFill>
                  </a:tcPr>
                </a:tc>
                <a:tc>
                  <a:txBody>
                    <a:bodyPr/>
                    <a:lstStyle/>
                    <a:p>
                      <a:pPr algn="ctr"/>
                      <a:r>
                        <a:rPr sz="1400">
                          <a:solidFill>
                            <a:srgbClr val="1A1A2E"/>
                          </a:solidFill>
                          <a:latin typeface="Calibri"/>
                        </a:rPr>
                        <a:t>~137 s (est.)</a:t>
                      </a:r>
                    </a:p>
                  </a:txBody>
                  <a:tcPr>
                    <a:solidFill>
                      <a:srgbClr val="F0F4F8"/>
                    </a:solidFill>
                  </a:tcPr>
                </a:tc>
                <a:tc>
                  <a:txBody>
                    <a:bodyPr/>
                    <a:lstStyle/>
                    <a:p>
                      <a:pPr algn="ctr"/>
                      <a:r>
                        <a:rPr sz="1400">
                          <a:solidFill>
                            <a:srgbClr val="1A1A2E"/>
                          </a:solidFill>
                          <a:latin typeface="Calibri"/>
                        </a:rPr>
                        <a:t>~137 ms</a:t>
                      </a:r>
                    </a:p>
                  </a:txBody>
                  <a:tcPr>
                    <a:solidFill>
                      <a:srgbClr val="F0F4F8"/>
                    </a:solidFill>
                  </a:tcPr>
                </a:tc>
                <a:tc>
                  <a:txBody>
                    <a:bodyPr/>
                    <a:lstStyle/>
                    <a:p>
                      <a:pPr algn="ctr"/>
                      <a:r>
                        <a:rPr sz="1400">
                          <a:solidFill>
                            <a:srgbClr val="1A1A2E"/>
                          </a:solidFill>
                          <a:latin typeface="Calibri"/>
                        </a:rPr>
                        <a:t>165 s backlog</a:t>
                      </a:r>
                    </a:p>
                  </a:txBody>
                  <a:tcPr>
                    <a:solidFill>
                      <a:srgbClr val="F0F4F8"/>
                    </a:solidFill>
                  </a:tcPr>
                </a:tc>
              </a:tr>
              <a:tr h="457200">
                <a:tc>
                  <a:txBody>
                    <a:bodyPr/>
                    <a:lstStyle/>
                    <a:p>
                      <a:pPr algn="ctr"/>
                      <a:r>
                        <a:rPr sz="1400">
                          <a:solidFill>
                            <a:srgbClr val="1A1A2E"/>
                          </a:solidFill>
                          <a:latin typeface="Calibri"/>
                        </a:rPr>
                        <a:t>Numba @njit</a:t>
                      </a:r>
                    </a:p>
                  </a:txBody>
                  <a:tcPr>
                    <a:solidFill>
                      <a:srgbClr val="FFFFFF"/>
                    </a:solidFill>
                  </a:tcPr>
                </a:tc>
                <a:tc>
                  <a:txBody>
                    <a:bodyPr/>
                    <a:lstStyle/>
                    <a:p>
                      <a:pPr algn="ctr"/>
                      <a:r>
                        <a:rPr sz="1400">
                          <a:solidFill>
                            <a:srgbClr val="1A1A2E"/>
                          </a:solidFill>
                          <a:latin typeface="Calibri"/>
                        </a:rPr>
                        <a:t>0.060 s</a:t>
                      </a:r>
                    </a:p>
                  </a:txBody>
                  <a:tcPr>
                    <a:solidFill>
                      <a:srgbClr val="FFFFFF"/>
                    </a:solidFill>
                  </a:tcPr>
                </a:tc>
                <a:tc>
                  <a:txBody>
                    <a:bodyPr/>
                    <a:lstStyle/>
                    <a:p>
                      <a:pPr algn="ctr"/>
                      <a:r>
                        <a:rPr sz="1400">
                          <a:solidFill>
                            <a:srgbClr val="1A1A2E"/>
                          </a:solidFill>
                          <a:latin typeface="Calibri"/>
                        </a:rPr>
                        <a:t>0.06 ms</a:t>
                      </a:r>
                    </a:p>
                  </a:txBody>
                  <a:tcPr>
                    <a:solidFill>
                      <a:srgbClr val="FFFFFF"/>
                    </a:solidFill>
                  </a:tcPr>
                </a:tc>
                <a:tc>
                  <a:txBody>
                    <a:bodyPr/>
                    <a:lstStyle/>
                    <a:p>
                      <a:pPr algn="ctr"/>
                      <a:r>
                        <a:rPr sz="1400">
                          <a:solidFill>
                            <a:srgbClr val="1A1A2E"/>
                          </a:solidFill>
                          <a:latin typeface="Calibri"/>
                        </a:rPr>
                        <a:t>&lt; 1 s</a:t>
                      </a:r>
                    </a:p>
                  </a:txBody>
                  <a:tcPr>
                    <a:solidFill>
                      <a:srgbClr val="FFFFFF"/>
                    </a:solidFill>
                  </a:tcPr>
                </a:tc>
              </a:tr>
              <a:tr h="457200">
                <a:tc>
                  <a:txBody>
                    <a:bodyPr/>
                    <a:lstStyle/>
                    <a:p>
                      <a:pPr algn="ctr"/>
                      <a:r>
                        <a:rPr sz="1400">
                          <a:solidFill>
                            <a:srgbClr val="1A1A2E"/>
                          </a:solidFill>
                          <a:latin typeface="Calibri"/>
                        </a:rPr>
                        <a:t>Speedup</a:t>
                      </a:r>
                    </a:p>
                  </a:txBody>
                  <a:tcPr>
                    <a:solidFill>
                      <a:srgbClr val="F0F4F8"/>
                    </a:solidFill>
                  </a:tcPr>
                </a:tc>
                <a:tc>
                  <a:txBody>
                    <a:bodyPr/>
                    <a:lstStyle/>
                    <a:p>
                      <a:pPr algn="ctr"/>
                      <a:r>
                        <a:rPr sz="1400">
                          <a:solidFill>
                            <a:srgbClr val="1A1A2E"/>
                          </a:solidFill>
                          <a:latin typeface="Calibri"/>
                        </a:rPr>
                        <a:t>~2300×</a:t>
                      </a:r>
                    </a:p>
                  </a:txBody>
                  <a:tcPr>
                    <a:solidFill>
                      <a:srgbClr val="F0F4F8"/>
                    </a:solidFill>
                  </a:tcPr>
                </a:tc>
                <a:tc>
                  <a:txBody>
                    <a:bodyPr/>
                    <a:lstStyle/>
                    <a:p>
                      <a:pPr algn="ctr"/>
                      <a:r>
                        <a:rPr sz="1400">
                          <a:solidFill>
                            <a:srgbClr val="1A1A2E"/>
                          </a:solidFill>
                          <a:latin typeface="Calibri"/>
                        </a:rPr>
                        <a:t>~2300×</a:t>
                      </a:r>
                    </a:p>
                  </a:txBody>
                  <a:tcPr>
                    <a:solidFill>
                      <a:srgbClr val="F0F4F8"/>
                    </a:solidFill>
                  </a:tcPr>
                </a:tc>
                <a:tc>
                  <a:txBody>
                    <a:bodyPr/>
                    <a:lstStyle/>
                    <a:p>
                      <a:pPr algn="ctr"/>
                      <a:r>
                        <a:rPr sz="1400">
                          <a:solidFill>
                            <a:srgbClr val="1A1A2E"/>
                          </a:solidFill>
                          <a:latin typeface="Calibri"/>
                        </a:rPr>
                        <a:t>real-time</a:t>
                      </a:r>
                    </a:p>
                  </a:txBody>
                  <a:tcPr>
                    <a:solidFill>
                      <a:srgbClr val="F0F4F8"/>
                    </a:solidFill>
                  </a:tcPr>
                </a:tc>
              </a:tr>
            </a:tbl>
          </a:graphicData>
        </a:graphic>
      </p:graphicFrame>
      <p:sp>
        <p:nvSpPr>
          <p:cNvPr id="6" name="TextBox 5"/>
          <p:cNvSpPr txBox="1"/>
          <p:nvPr/>
        </p:nvSpPr>
        <p:spPr>
          <a:xfrm>
            <a:off x="365760" y="4389120"/>
            <a:ext cx="11430000" cy="822960"/>
          </a:xfrm>
          <a:prstGeom prst="rect">
            <a:avLst/>
          </a:prstGeom>
          <a:noFill/>
        </p:spPr>
        <p:txBody>
          <a:bodyPr wrap="square">
            <a:spAutoFit/>
          </a:bodyPr>
          <a:lstStyle/>
          <a:p>
            <a:pPr algn="l"/>
            <a:r>
              <a:rPr sz="1800" b="0" i="1">
                <a:solidFill>
                  <a:srgbClr val="444455"/>
                </a:solidFill>
                <a:latin typeface="Calibri"/>
              </a:rPr>
              <a:t>The 15-second file that created a 165-second processing backlog now clears in real time. No algorithm change — identical numerical results. Just compiled loops.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Python for DSP: The Complete Picture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Common concern: 'Python is too slow for real-time DSP'</a:t>
            </a:r>
          </a:p>
          <a:p>
            <a:pPr/>
            <a:r>
              <a:rPr sz="2000" b="1" i="0">
                <a:solidFill>
                  <a:srgbClr val="1A1A2E"/>
                </a:solidFill>
                <a:latin typeface="Calibri"/>
              </a:rPr>
              <a:t>The reality is more nuanced — Python has three speed tiers:</a:t>
            </a:r>
          </a:p>
          <a:p>
            <a:pPr lvl="1"/>
            <a:r>
              <a:rPr sz="1800" b="0" i="0">
                <a:solidFill>
                  <a:srgbClr val="444455"/>
                </a:solidFill>
                <a:latin typeface="Calibri"/>
              </a:rPr>
              <a:t>Tier 1 — Pure Python loops:  slow  (bytecode, GIL, overhead per op)</a:t>
            </a:r>
          </a:p>
          <a:p>
            <a:pPr lvl="1"/>
            <a:r>
              <a:rPr sz="1800" b="0" i="0">
                <a:solidFill>
                  <a:srgbClr val="444455"/>
                </a:solidFill>
                <a:latin typeface="Calibri"/>
              </a:rPr>
              <a:t>Tier 2 — NumPy array ops:    fast   (C/BLAS under the hood, batch ops)</a:t>
            </a:r>
          </a:p>
          <a:p>
            <a:pPr lvl="1"/>
            <a:r>
              <a:rPr sz="1800" b="0" i="0">
                <a:solidFill>
                  <a:srgbClr val="444455"/>
                </a:solidFill>
                <a:latin typeface="Calibri"/>
              </a:rPr>
              <a:t>Tier 3 — Numba @njit:        very fast  (LLVM machine code, ~C speed)</a:t>
            </a:r>
          </a:p>
          <a:p>
            <a:pPr/>
            <a:r>
              <a:rPr sz="2000" b="1" i="0">
                <a:solidFill>
                  <a:srgbClr val="1A1A2E"/>
                </a:solidFill>
                <a:latin typeface="Calibri"/>
              </a:rPr>
              <a:t>MAP144 uses all three appropriately:</a:t>
            </a:r>
          </a:p>
          <a:p>
            <a:pPr lvl="1"/>
            <a:r>
              <a:rPr sz="1800" b="0" i="0">
                <a:solidFill>
                  <a:srgbClr val="444455"/>
                </a:solidFill>
                <a:latin typeface="Calibri"/>
              </a:rPr>
              <a:t>Channelizer, BPF, FFT, detection metric → NumPy (already fast)</a:t>
            </a:r>
          </a:p>
          <a:p>
            <a:pPr lvl="1"/>
            <a:r>
              <a:rPr sz="1800" b="0" i="0">
                <a:solidFill>
                  <a:srgbClr val="444455"/>
                </a:solidFill>
                <a:latin typeface="Calibri"/>
              </a:rPr>
              <a:t>BP decoder inner loops → Numba (Python syntax, C performance)</a:t>
            </a:r>
          </a:p>
          <a:p>
            <a:pPr lvl="1"/>
            <a:r>
              <a:rPr sz="1800" b="0" i="0">
                <a:solidFill>
                  <a:srgbClr val="444455"/>
                </a:solidFill>
                <a:latin typeface="Calibri"/>
              </a:rPr>
              <a:t>UI, logging, config, reporting → pure Python (speed irrelevant)</a:t>
            </a:r>
          </a:p>
          <a:p>
            <a:pPr/>
            <a:r>
              <a:rPr sz="2000" b="1" i="0">
                <a:solidFill>
                  <a:srgbClr val="1A1A2E"/>
                </a:solidFill>
                <a:latin typeface="Calibri"/>
              </a:rPr>
              <a:t>What about Fortran?</a:t>
            </a:r>
          </a:p>
          <a:p>
            <a:pPr lvl="1"/>
            <a:r>
              <a:rPr sz="1800" b="0" i="0">
                <a:solidFill>
                  <a:srgbClr val="444455"/>
                </a:solidFill>
                <a:latin typeface="Calibri"/>
              </a:rPr>
              <a:t>Fortran BP decoder verified 100% identical output to Python</a:t>
            </a:r>
          </a:p>
          <a:p>
            <a:pPr lvl="1"/>
            <a:r>
              <a:rPr sz="1800" b="0" i="0">
                <a:solidFill>
                  <a:srgbClr val="444455"/>
                </a:solidFill>
                <a:latin typeface="Calibri"/>
              </a:rPr>
              <a:t>Numba BP decoder is now equally fast — Fortran not needed</a:t>
            </a:r>
          </a:p>
          <a:p>
            <a:pPr lvl="1"/>
            <a:r>
              <a:rPr sz="1800" b="0" i="0">
                <a:solidFill>
                  <a:srgbClr val="444455"/>
                </a:solidFill>
                <a:latin typeface="Calibri"/>
              </a:rPr>
              <a:t>Python + NumPy + Numba covers the full performance range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9</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Performance Engineering</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Iterative profiling and optimization — five rounds</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Technical</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What Real-Time Means Here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MAP144 must keep up with dual 48 kHz IQ stream — continuously</a:t>
            </a:r>
          </a:p>
          <a:p>
            <a:pPr/>
            <a:r>
              <a:rPr sz="2000" b="1" i="0">
                <a:solidFill>
                  <a:srgbClr val="1A1A2E"/>
                </a:solidFill>
                <a:latin typeface="Calibri"/>
              </a:rPr>
              <a:t>Core work done every 20 ms (one receive block, 960 output samples):</a:t>
            </a:r>
          </a:p>
          <a:p>
            <a:pPr lvl="1"/>
            <a:r>
              <a:rPr sz="1800" b="0" i="0">
                <a:solidFill>
                  <a:srgbClr val="444455"/>
                </a:solidFill>
                <a:latin typeface="Calibri"/>
              </a:rPr>
              <a:t>Channelizer: 48-channel polyphase FIR bank → (48, 960) complex64</a:t>
            </a:r>
          </a:p>
          <a:p>
            <a:pPr lvl="1"/>
            <a:r>
              <a:rPr sz="1800" b="0" i="0">
                <a:solidFill>
                  <a:srgbClr val="444455"/>
                </a:solidFill>
                <a:latin typeface="Calibri"/>
              </a:rPr>
              <a:t>Squarer + detection metric: per-channel SNR, threshold, cluster gate</a:t>
            </a:r>
          </a:p>
          <a:p>
            <a:pPr lvl="1"/>
            <a:r>
              <a:rPr sz="1800" b="0" i="0">
                <a:solidFill>
                  <a:srgbClr val="444455"/>
                </a:solidFill>
                <a:latin typeface="Calibri"/>
              </a:rPr>
              <a:t>Ring buffer write, IQ capture for jt9 launch</a:t>
            </a:r>
          </a:p>
          <a:p>
            <a:pPr lvl="1"/>
            <a:r>
              <a:rPr sz="1800" b="0" i="0">
                <a:solidFill>
                  <a:srgbClr val="444455"/>
                </a:solidFill>
                <a:latin typeface="Calibri"/>
              </a:rPr>
              <a:t>Display update: waterfall FFT, spectrogram, detection plots</a:t>
            </a:r>
          </a:p>
          <a:p>
            <a:pPr/>
            <a:r>
              <a:rPr sz="2000" b="1" i="0">
                <a:solidFill>
                  <a:srgbClr val="1A1A2E"/>
                </a:solidFill>
                <a:latin typeface="Calibri"/>
              </a:rPr>
              <a:t>When a ping is detected (every few seconds during a shower):</a:t>
            </a:r>
          </a:p>
          <a:p>
            <a:pPr lvl="1"/>
            <a:r>
              <a:rPr sz="1800" b="0" i="0">
                <a:solidFill>
                  <a:srgbClr val="444455"/>
                </a:solidFill>
                <a:latin typeface="Calibri"/>
              </a:rPr>
              <a:t>IQ extract → decimate → SPD decode attempt</a:t>
            </a:r>
          </a:p>
          <a:p>
            <a:pPr lvl="1"/>
            <a:r>
              <a:rPr sz="1800" b="0" i="0">
                <a:solidFill>
                  <a:srgbClr val="444455"/>
                </a:solidFill>
                <a:latin typeface="Calibri"/>
              </a:rPr>
              <a:t>jt9 subprocess launched with 12 kHz audio</a:t>
            </a:r>
          </a:p>
          <a:p>
            <a:pPr/>
            <a:r>
              <a:rPr sz="2000" b="1" i="0">
                <a:solidFill>
                  <a:srgbClr val="1A1A2E"/>
                </a:solidFill>
                <a:latin typeface="Calibri"/>
              </a:rPr>
              <a:t>Budget: all of the above on a single laptop CPU, plus headroom for jt9</a:t>
            </a:r>
          </a:p>
          <a:p>
            <a:pPr/>
            <a:r>
              <a:rPr sz="2000" b="1" i="0">
                <a:solidFill>
                  <a:srgbClr val="1A1A2E"/>
                </a:solidFill>
                <a:latin typeface="Calibri"/>
              </a:rPr>
              <a:t>When any stage exceeds its slot, a backlog grows — missed pings, stale display</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Profiling Tool: py-spy</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py-spy — statistical sampling profiler for Python</a:t>
            </a:r>
          </a:p>
          <a:p>
            <a:pPr lvl="1"/>
            <a:r>
              <a:rPr sz="1800" b="0" i="0">
                <a:solidFill>
                  <a:srgbClr val="444455"/>
                </a:solidFill>
                <a:latin typeface="Courier New"/>
              </a:rPr>
              <a:t>Attaches to a running process with no code changes</a:t>
            </a:r>
          </a:p>
          <a:p>
            <a:pPr lvl="1"/>
            <a:r>
              <a:rPr sz="1800" b="0" i="0">
                <a:solidFill>
                  <a:srgbClr val="444455"/>
                </a:solidFill>
                <a:latin typeface="Calibri"/>
              </a:rPr>
              <a:t>sudo py-spy top --pid $(pgrep -u $USER -f map144.py)</a:t>
            </a:r>
          </a:p>
          <a:p>
            <a:pPr lvl="1"/>
            <a:r>
              <a:rPr sz="1800" b="0" i="0">
                <a:solidFill>
                  <a:srgbClr val="444455"/>
                </a:solidFill>
                <a:latin typeface="Calibri"/>
              </a:rPr>
              <a:t>Samples the call stack at ~100 Hz — no instrumentation overhead</a:t>
            </a:r>
          </a:p>
          <a:p>
            <a:pPr/>
            <a:r>
              <a:rPr sz="2000" b="1" i="0">
                <a:solidFill>
                  <a:srgbClr val="1A1A2E"/>
                </a:solidFill>
                <a:latin typeface="Calibri"/>
              </a:rPr>
              <a:t>Key columns in the output:</a:t>
            </a:r>
          </a:p>
          <a:p>
            <a:pPr lvl="1"/>
            <a:r>
              <a:rPr sz="1800" b="0" i="0">
                <a:solidFill>
                  <a:srgbClr val="444455"/>
                </a:solidFill>
                <a:latin typeface="Calibri"/>
              </a:rPr>
              <a:t>Own%    — time spent inside the function body (excludes callees)</a:t>
            </a:r>
          </a:p>
          <a:p>
            <a:pPr lvl="1"/>
            <a:r>
              <a:rPr sz="1800" b="0" i="0">
                <a:solidFill>
                  <a:srgbClr val="444455"/>
                </a:solidFill>
                <a:latin typeface="Calibri"/>
              </a:rPr>
              <a:t>Total%  — time in this function including all callees</a:t>
            </a:r>
          </a:p>
          <a:p>
            <a:pPr lvl="1"/>
            <a:r>
              <a:rPr sz="1800" b="0" i="0">
                <a:solidFill>
                  <a:srgbClr val="444455"/>
                </a:solidFill>
                <a:latin typeface="Calibri"/>
              </a:rPr>
              <a:t>OwnTime — absolute seconds in the function body over the profiling window</a:t>
            </a:r>
          </a:p>
          <a:p>
            <a:pPr/>
            <a:r>
              <a:rPr sz="2000" b="1" i="0">
                <a:solidFill>
                  <a:srgbClr val="1A1A2E"/>
                </a:solidFill>
                <a:latin typeface="Calibri"/>
              </a:rPr>
              <a:t>Two headline metrics reveal the bottleneck type:</a:t>
            </a:r>
          </a:p>
          <a:p>
            <a:pPr lvl="1"/>
            <a:r>
              <a:rPr sz="1800" b="0" i="0">
                <a:solidFill>
                  <a:srgbClr val="444455"/>
                </a:solidFill>
                <a:latin typeface="Calibri"/>
              </a:rPr>
              <a:t>Active%: fraction of time at least one Python frame was on-CPU</a:t>
            </a:r>
          </a:p>
          <a:p>
            <a:pPr lvl="1"/>
            <a:r>
              <a:rPr sz="1800" b="0" i="0">
                <a:solidFill>
                  <a:srgbClr val="444455"/>
                </a:solidFill>
                <a:latin typeface="Calibri"/>
              </a:rPr>
              <a:t>GIL%:    fraction of time the GIL was held — high means Python bytecode</a:t>
            </a:r>
          </a:p>
          <a:p>
            <a:pPr lvl="1"/>
            <a:r>
              <a:rPr sz="1800" b="0" i="0">
                <a:solidFill>
                  <a:srgbClr val="444455"/>
                </a:solidFill>
                <a:latin typeface="Calibri"/>
              </a:rPr>
              <a:t>GIL% ≈ Active% → pure Python compute; GIL% ≪ Active% → C extension work</a:t>
            </a:r>
          </a:p>
          <a:p>
            <a:pPr/>
            <a:r>
              <a:rPr sz="2000" b="1" i="0">
                <a:solidFill>
                  <a:srgbClr val="1A1A2E"/>
                </a:solidFill>
                <a:latin typeface="Calibri"/>
              </a:rPr>
              <a:t>Workflow: run under realistic load, sample for 60–120 s, compare across rounds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Round 1 — The BP Decoder (97% of CPU)</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First profiling run.  One function.  Unmistakable.</a:t>
            </a:r>
          </a:p>
          <a:p>
            <a:pPr/>
            <a:r>
              <a:rPr sz="2000" b="1" i="0">
                <a:solidFill>
                  <a:srgbClr val="1A1A2E"/>
                </a:solidFill>
                <a:latin typeface="Calibri"/>
              </a:rPr>
              <a:t>py-spy profile: 137 s wall clock, 50-ping synthetic test file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331720"/>
          <a:ext cx="10698480" cy="2103120"/>
        </p:xfrm>
        <a:graphic>
          <a:graphicData uri="http://schemas.openxmlformats.org/drawingml/2006/table">
            <a:tbl>
              <a:tblPr firstRow="1" bandRow="1">
                <a:tableStyleId>{5C22544A-7EE6-4342-B048-85BDC9FD1C3A}</a:tableStyleId>
              </a:tblPr>
              <a:tblGrid>
                <a:gridCol w="3291840"/>
                <a:gridCol w="914400"/>
                <a:gridCol w="1645920"/>
                <a:gridCol w="4846320"/>
              </a:tblGrid>
              <a:tr h="420624">
                <a:tc>
                  <a:txBody>
                    <a:bodyPr/>
                    <a:lstStyle/>
                    <a:p>
                      <a:pPr algn="ctr"/>
                      <a:r>
                        <a:rPr sz="1400" b="1">
                          <a:solidFill>
                            <a:srgbClr val="FFFFFF"/>
                          </a:solidFill>
                          <a:latin typeface="Calibri"/>
                        </a:rPr>
                        <a:t>Function</a:t>
                      </a:r>
                    </a:p>
                  </a:txBody>
                  <a:tcPr>
                    <a:solidFill>
                      <a:srgbClr val="1B3A6B"/>
                    </a:solidFill>
                  </a:tcPr>
                </a:tc>
                <a:tc>
                  <a:txBody>
                    <a:bodyPr/>
                    <a:lstStyle/>
                    <a:p>
                      <a:pPr algn="ctr"/>
                      <a:r>
                        <a:rPr sz="1400" b="1">
                          <a:solidFill>
                            <a:srgbClr val="FFFFFF"/>
                          </a:solidFill>
                          <a:latin typeface="Calibri"/>
                        </a:rPr>
                        <a:t>Own%</a:t>
                      </a:r>
                    </a:p>
                  </a:txBody>
                  <a:tcPr>
                    <a:solidFill>
                      <a:srgbClr val="1B3A6B"/>
                    </a:solidFill>
                  </a:tcPr>
                </a:tc>
                <a:tc>
                  <a:txBody>
                    <a:bodyPr/>
                    <a:lstStyle/>
                    <a:p>
                      <a:pPr algn="ctr"/>
                      <a:r>
                        <a:rPr sz="1400" b="1">
                          <a:solidFill>
                            <a:srgbClr val="FFFFFF"/>
                          </a:solidFill>
                          <a:latin typeface="Calibri"/>
                        </a:rPr>
                        <a:t>OwnTime</a:t>
                      </a:r>
                    </a:p>
                  </a:txBody>
                  <a:tcPr>
                    <a:solidFill>
                      <a:srgbClr val="1B3A6B"/>
                    </a:solidFill>
                  </a:tcPr>
                </a:tc>
                <a:tc>
                  <a:txBody>
                    <a:bodyPr/>
                    <a:lstStyle/>
                    <a:p>
                      <a:pPr algn="ctr"/>
                      <a:r>
                        <a:rPr sz="1400" b="1">
                          <a:solidFill>
                            <a:srgbClr val="FFFFFF"/>
                          </a:solidFill>
                          <a:latin typeface="Calibri"/>
                        </a:rPr>
                        <a:t>What it does</a:t>
                      </a:r>
                    </a:p>
                  </a:txBody>
                  <a:tcPr>
                    <a:solidFill>
                      <a:srgbClr val="1B3A6B"/>
                    </a:solidFill>
                  </a:tcPr>
                </a:tc>
              </a:tr>
              <a:tr h="420624">
                <a:tc>
                  <a:txBody>
                    <a:bodyPr/>
                    <a:lstStyle/>
                    <a:p>
                      <a:pPr algn="ctr"/>
                      <a:r>
                        <a:rPr sz="1400">
                          <a:solidFill>
                            <a:srgbClr val="1A1A2E"/>
                          </a:solidFill>
                          <a:latin typeface="Calibri"/>
                        </a:rPr>
                        <a:t>_bpdecode128_90</a:t>
                      </a:r>
                    </a:p>
                  </a:txBody>
                  <a:tcPr>
                    <a:solidFill>
                      <a:srgbClr val="F0F4F8"/>
                    </a:solidFill>
                  </a:tcPr>
                </a:tc>
                <a:tc>
                  <a:txBody>
                    <a:bodyPr/>
                    <a:lstStyle/>
                    <a:p>
                      <a:pPr algn="ctr"/>
                      <a:r>
                        <a:rPr sz="1400">
                          <a:solidFill>
                            <a:srgbClr val="1A1A2E"/>
                          </a:solidFill>
                          <a:latin typeface="Calibri"/>
                        </a:rPr>
                        <a:t>97%</a:t>
                      </a:r>
                    </a:p>
                  </a:txBody>
                  <a:tcPr>
                    <a:solidFill>
                      <a:srgbClr val="F0F4F8"/>
                    </a:solidFill>
                  </a:tcPr>
                </a:tc>
                <a:tc>
                  <a:txBody>
                    <a:bodyPr/>
                    <a:lstStyle/>
                    <a:p>
                      <a:pPr algn="ctr"/>
                      <a:r>
                        <a:rPr sz="1400">
                          <a:solidFill>
                            <a:srgbClr val="1A1A2E"/>
                          </a:solidFill>
                          <a:latin typeface="Calibri"/>
                        </a:rPr>
                        <a:t>133.1 s</a:t>
                      </a:r>
                    </a:p>
                  </a:txBody>
                  <a:tcPr>
                    <a:solidFill>
                      <a:srgbClr val="F0F4F8"/>
                    </a:solidFill>
                  </a:tcPr>
                </a:tc>
                <a:tc>
                  <a:txBody>
                    <a:bodyPr/>
                    <a:lstStyle/>
                    <a:p>
                      <a:pPr algn="ctr"/>
                      <a:r>
                        <a:rPr sz="1400">
                          <a:solidFill>
                            <a:srgbClr val="1A1A2E"/>
                          </a:solidFill>
                          <a:latin typeface="Calibri"/>
                        </a:rPr>
                        <a:t>LDPC belief-propagation decoder</a:t>
                      </a:r>
                    </a:p>
                  </a:txBody>
                  <a:tcPr>
                    <a:solidFill>
                      <a:srgbClr val="F0F4F8"/>
                    </a:solidFill>
                  </a:tcPr>
                </a:tc>
              </a:tr>
              <a:tr h="420624">
                <a:tc>
                  <a:txBody>
                    <a:bodyPr/>
                    <a:lstStyle/>
                    <a:p>
                      <a:pPr algn="ctr"/>
                      <a:r>
                        <a:rPr sz="1400">
                          <a:solidFill>
                            <a:srgbClr val="1A1A2E"/>
                          </a:solidFill>
                          <a:latin typeface="Calibri"/>
                        </a:rPr>
                        <a:t>_sync_correlate</a:t>
                      </a:r>
                    </a:p>
                  </a:txBody>
                  <a:tcPr>
                    <a:solidFill>
                      <a:srgbClr val="FFFFFF"/>
                    </a:solidFill>
                  </a:tcPr>
                </a:tc>
                <a:tc>
                  <a:txBody>
                    <a:bodyPr/>
                    <a:lstStyle/>
                    <a:p>
                      <a:pPr algn="ctr"/>
                      <a:r>
                        <a:rPr sz="1400">
                          <a:solidFill>
                            <a:srgbClr val="1A1A2E"/>
                          </a:solidFill>
                          <a:latin typeface="Calibri"/>
                        </a:rPr>
                        <a:t> 0%</a:t>
                      </a:r>
                    </a:p>
                  </a:txBody>
                  <a:tcPr>
                    <a:solidFill>
                      <a:srgbClr val="FFFFFF"/>
                    </a:solidFill>
                  </a:tcPr>
                </a:tc>
                <a:tc>
                  <a:txBody>
                    <a:bodyPr/>
                    <a:lstStyle/>
                    <a:p>
                      <a:pPr algn="ctr"/>
                      <a:r>
                        <a:rPr sz="1400">
                          <a:solidFill>
                            <a:srgbClr val="1A1A2E"/>
                          </a:solidFill>
                          <a:latin typeface="Calibri"/>
                        </a:rPr>
                        <a:t>4.0 s</a:t>
                      </a:r>
                    </a:p>
                  </a:txBody>
                  <a:tcPr>
                    <a:solidFill>
                      <a:srgbClr val="FFFFFF"/>
                    </a:solidFill>
                  </a:tcPr>
                </a:tc>
                <a:tc>
                  <a:txBody>
                    <a:bodyPr/>
                    <a:lstStyle/>
                    <a:p>
                      <a:pPr algn="ctr"/>
                      <a:r>
                        <a:rPr sz="1400">
                          <a:solidFill>
                            <a:srgbClr val="1A1A2E"/>
                          </a:solidFill>
                          <a:latin typeface="Calibri"/>
                        </a:rPr>
                        <a:t>MSK144 sync correlation</a:t>
                      </a:r>
                    </a:p>
                  </a:txBody>
                  <a:tcPr>
                    <a:solidFill>
                      <a:srgbClr val="FFFFFF"/>
                    </a:solidFill>
                  </a:tcPr>
                </a:tc>
              </a:tr>
              <a:tr h="420624">
                <a:tc>
                  <a:txBody>
                    <a:bodyPr/>
                    <a:lstStyle/>
                    <a:p>
                      <a:pPr algn="ctr"/>
                      <a:r>
                        <a:rPr sz="1400">
                          <a:solidFill>
                            <a:srgbClr val="1A1A2E"/>
                          </a:solidFill>
                          <a:latin typeface="Calibri"/>
                        </a:rPr>
                        <a:t>_freq_search_avg</a:t>
                      </a:r>
                    </a:p>
                  </a:txBody>
                  <a:tcPr>
                    <a:solidFill>
                      <a:srgbClr val="F0F4F8"/>
                    </a:solidFill>
                  </a:tcPr>
                </a:tc>
                <a:tc>
                  <a:txBody>
                    <a:bodyPr/>
                    <a:lstStyle/>
                    <a:p>
                      <a:pPr algn="ctr"/>
                      <a:r>
                        <a:rPr sz="1400">
                          <a:solidFill>
                            <a:srgbClr val="1A1A2E"/>
                          </a:solidFill>
                          <a:latin typeface="Calibri"/>
                        </a:rPr>
                        <a:t> 1%</a:t>
                      </a:r>
                    </a:p>
                  </a:txBody>
                  <a:tcPr>
                    <a:solidFill>
                      <a:srgbClr val="F0F4F8"/>
                    </a:solidFill>
                  </a:tcPr>
                </a:tc>
                <a:tc>
                  <a:txBody>
                    <a:bodyPr/>
                    <a:lstStyle/>
                    <a:p>
                      <a:pPr algn="ctr"/>
                      <a:r>
                        <a:rPr sz="1400">
                          <a:solidFill>
                            <a:srgbClr val="1A1A2E"/>
                          </a:solidFill>
                          <a:latin typeface="Calibri"/>
                        </a:rPr>
                        <a:t>2.1 s</a:t>
                      </a:r>
                    </a:p>
                  </a:txBody>
                  <a:tcPr>
                    <a:solidFill>
                      <a:srgbClr val="F0F4F8"/>
                    </a:solidFill>
                  </a:tcPr>
                </a:tc>
                <a:tc>
                  <a:txBody>
                    <a:bodyPr/>
                    <a:lstStyle/>
                    <a:p>
                      <a:pPr algn="ctr"/>
                      <a:r>
                        <a:rPr sz="1400">
                          <a:solidFill>
                            <a:srgbClr val="1A1A2E"/>
                          </a:solidFill>
                          <a:latin typeface="Calibri"/>
                        </a:rPr>
                        <a:t>Frequency search</a:t>
                      </a:r>
                    </a:p>
                  </a:txBody>
                  <a:tcPr>
                    <a:solidFill>
                      <a:srgbClr val="F0F4F8"/>
                    </a:solidFill>
                  </a:tcPr>
                </a:tc>
              </a:tr>
              <a:tr h="420624">
                <a:tc>
                  <a:txBody>
                    <a:bodyPr/>
                    <a:lstStyle/>
                    <a:p>
                      <a:pPr algn="ctr"/>
                      <a:r>
                        <a:rPr sz="1400">
                          <a:solidFill>
                            <a:srgbClr val="1A1A2E"/>
                          </a:solidFill>
                          <a:latin typeface="Calibri"/>
                        </a:rPr>
                        <a:t>Everything else</a:t>
                      </a:r>
                    </a:p>
                  </a:txBody>
                  <a:tcPr>
                    <a:solidFill>
                      <a:srgbClr val="FFFFFF"/>
                    </a:solidFill>
                  </a:tcPr>
                </a:tc>
                <a:tc>
                  <a:txBody>
                    <a:bodyPr/>
                    <a:lstStyle/>
                    <a:p>
                      <a:pPr algn="ctr"/>
                      <a:r>
                        <a:rPr sz="1400">
                          <a:solidFill>
                            <a:srgbClr val="1A1A2E"/>
                          </a:solidFill>
                          <a:latin typeface="Calibri"/>
                        </a:rPr>
                        <a:t> 2%</a:t>
                      </a:r>
                    </a:p>
                  </a:txBody>
                  <a:tcPr>
                    <a:solidFill>
                      <a:srgbClr val="FFFFFF"/>
                    </a:solidFill>
                  </a:tcPr>
                </a:tc>
                <a:tc>
                  <a:txBody>
                    <a:bodyPr/>
                    <a:lstStyle/>
                    <a:p>
                      <a:pPr algn="ctr"/>
                      <a:r>
                        <a:rPr sz="1400">
                          <a:solidFill>
                            <a:srgbClr val="1A1A2E"/>
                          </a:solidFill>
                          <a:latin typeface="Calibri"/>
                        </a:rPr>
                        <a:t>2.8 s</a:t>
                      </a:r>
                    </a:p>
                  </a:txBody>
                  <a:tcPr>
                    <a:solidFill>
                      <a:srgbClr val="FFFFFF"/>
                    </a:solidFill>
                  </a:tcPr>
                </a:tc>
                <a:tc>
                  <a:txBody>
                    <a:bodyPr/>
                    <a:lstStyle/>
                    <a:p>
                      <a:pPr algn="ctr"/>
                      <a:r>
                        <a:rPr sz="1400">
                          <a:solidFill>
                            <a:srgbClr val="1A1A2E"/>
                          </a:solidFill>
                          <a:latin typeface="Calibri"/>
                        </a:rPr>
                        <a:t>Channelizer, display, I/O</a:t>
                      </a:r>
                    </a:p>
                  </a:txBody>
                  <a:tcPr>
                    <a:solidFill>
                      <a:srgbClr val="FFFFFF"/>
                    </a:solidFill>
                  </a:tcPr>
                </a:tc>
              </a:tr>
            </a:tbl>
          </a:graphicData>
        </a:graphic>
      </p:graphicFrame>
      <p:sp>
        <p:nvSpPr>
          <p:cNvPr id="6" name="TextBox 5"/>
          <p:cNvSpPr txBox="1"/>
          <p:nvPr/>
        </p:nvSpPr>
        <p:spPr>
          <a:xfrm>
            <a:off x="365760" y="4892040"/>
            <a:ext cx="11430000" cy="914400"/>
          </a:xfrm>
          <a:prstGeom prst="rect">
            <a:avLst/>
          </a:prstGeom>
          <a:noFill/>
        </p:spPr>
        <p:txBody>
          <a:bodyPr wrap="square">
            <a:spAutoFit/>
          </a:bodyPr>
          <a:lstStyle/>
          <a:p>
            <a:pPr algn="l"/>
            <a:r>
              <a:rPr sz="1700" b="0" i="1">
                <a:solidFill>
                  <a:srgbClr val="444455"/>
                </a:solidFill>
                <a:latin typeface="Calibri"/>
              </a:rPr>
              <a:t>Fix: @numba.njit(cache=True) on the inner BP loop.  Result: 137 ms → 0.06 ms per decode — 2300×.  GIL% fell from 89% to single digits.  A 165 s backlog cleared to real-time.</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Round 2 — NumPy Dispatch Overhead (_wrapfunc)</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After Numba fix, a new entry appeared: _wrapfunc at 42 s (5% own)</a:t>
            </a:r>
          </a:p>
          <a:p>
            <a:pPr/>
            <a:r>
              <a:rPr sz="2000" b="0" i="0">
                <a:solidFill>
                  <a:srgbClr val="1A1A2E"/>
                </a:solidFill>
                <a:latin typeface="Courier New"/>
              </a:rPr>
              <a:t>Root cause: NumPy function-form calls route through a Python dispatcher</a:t>
            </a:r>
          </a:p>
          <a:p>
            <a:pPr lvl="1"/>
            <a:r>
              <a:rPr sz="1800" b="0" i="0">
                <a:solidFill>
                  <a:srgbClr val="444455"/>
                </a:solidFill>
                <a:latin typeface="Courier New"/>
              </a:rPr>
              <a:t>np.sort(arr)      → _wrapfunc → arr.__array_function__ → C sort</a:t>
            </a:r>
          </a:p>
          <a:p>
            <a:pPr lvl="1"/>
            <a:r>
              <a:rPr sz="1800" b="0" i="0">
                <a:solidFill>
                  <a:srgbClr val="444455"/>
                </a:solidFill>
                <a:latin typeface="Calibri"/>
              </a:rPr>
              <a:t>arr.sort()         → direct C method call — no Python dispatch</a:t>
            </a:r>
          </a:p>
          <a:p>
            <a:pPr/>
            <a:r>
              <a:rPr sz="2000" b="1" i="0">
                <a:solidFill>
                  <a:srgbClr val="1A1A2E"/>
                </a:solidFill>
                <a:latin typeface="Calibri"/>
              </a:rPr>
              <a:t>The dispatch layer adds one full Python stack frame per call</a:t>
            </a:r>
          </a:p>
          <a:p>
            <a:pPr lvl="1"/>
            <a:r>
              <a:rPr sz="1800" b="0" i="0">
                <a:solidFill>
                  <a:srgbClr val="444455"/>
                </a:solidFill>
                <a:latin typeface="Calibri"/>
              </a:rPr>
              <a:t>Called at 50 Hz × many channels — overhead accumulates</a:t>
            </a:r>
          </a:p>
          <a:p>
            <a:pPr/>
            <a:r>
              <a:rPr sz="2000" b="1" i="0">
                <a:solidFill>
                  <a:srgbClr val="1A1A2E"/>
                </a:solidFill>
                <a:latin typeface="Calibri"/>
              </a:rPr>
              <a:t>Affected calls in the hot path:</a:t>
            </a:r>
          </a:p>
          <a:p>
            <a:pPr lvl="1"/>
            <a:r>
              <a:rPr sz="1800" b="0" i="0">
                <a:solidFill>
                  <a:srgbClr val="444455"/>
                </a:solidFill>
                <a:latin typeface="Courier New"/>
              </a:rPr>
              <a:t>np.sort(...)         → arr.sort()                     (clustering)</a:t>
            </a:r>
          </a:p>
          <a:p>
            <a:pPr lvl="1"/>
            <a:r>
              <a:rPr sz="1800" b="0" i="0">
                <a:solidFill>
                  <a:srgbClr val="444455"/>
                </a:solidFill>
                <a:latin typeface="Courier New"/>
              </a:rPr>
              <a:t>np.partition(arr, k) → arr.partition(k)               (SNR percentile)</a:t>
            </a:r>
          </a:p>
          <a:p>
            <a:pPr lvl="1"/>
            <a:r>
              <a:rPr sz="1800" b="0" i="0">
                <a:solidFill>
                  <a:srgbClr val="444455"/>
                </a:solidFill>
                <a:latin typeface="Courier New"/>
              </a:rPr>
              <a:t>np.median(arr)       → arr.partition(k); return arr[k] (noise floor)</a:t>
            </a:r>
          </a:p>
          <a:p>
            <a:pPr/>
            <a:r>
              <a:rPr sz="2000" b="1" i="0">
                <a:solidFill>
                  <a:srgbClr val="1A1A2E"/>
                </a:solidFill>
                <a:latin typeface="Calibri"/>
              </a:rPr>
              <a:t>The np.median fix is the most instructive:</a:t>
            </a:r>
          </a:p>
          <a:p>
            <a:pPr lvl="1"/>
            <a:r>
              <a:rPr sz="1800" b="0" i="0">
                <a:solidFill>
                  <a:srgbClr val="444455"/>
                </a:solidFill>
                <a:latin typeface="Courier New"/>
              </a:rPr>
              <a:t>np.median → np.quantile → _quantile → partition — four levels deep</a:t>
            </a:r>
          </a:p>
          <a:p>
            <a:pPr lvl="1"/>
            <a:r>
              <a:rPr sz="1800" b="0" i="0">
                <a:solidFill>
                  <a:srgbClr val="444455"/>
                </a:solidFill>
                <a:latin typeface="Courier New"/>
              </a:rPr>
              <a:t>Replaced with: copy → .partition(k) → index  — direct, in-place, O(n)</a:t>
            </a:r>
          </a:p>
          <a:p>
            <a:pPr/>
            <a:r>
              <a:rPr sz="2000" b="1" i="0">
                <a:solidFill>
                  <a:srgbClr val="1A1A2E"/>
                </a:solidFill>
                <a:latin typeface="Calibri"/>
              </a:rPr>
              <a:t>Rule: prefer method forms (.sort, .partition) over function forms in hot loops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Round 3 — Channelizer: Heap Allocations and the NCO</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Profile after Round 2: apply_channelizer 30.6 s, _fir_filt_2d_c64 14.7 s</a:t>
            </a:r>
          </a:p>
          <a:p>
            <a:pPr/>
            <a:r>
              <a:rPr sz="2000" b="0" i="0">
                <a:solidFill>
                  <a:srgbClr val="1A1A2E"/>
                </a:solidFill>
                <a:latin typeface="Courier New"/>
              </a:rPr>
              <a:t>Old channelizer path per 20 ms block:</a:t>
            </a:r>
          </a:p>
          <a:p>
            <a:pPr lvl="1"/>
            <a:r>
              <a:rPr sz="1800" b="0" i="0">
                <a:solidFill>
                  <a:srgbClr val="444455"/>
                </a:solidFill>
                <a:latin typeface="Courier New"/>
              </a:rPr>
              <a:t>Phase matrix (n_ch × N): n_ch × N complex64 — new heap alloc</a:t>
            </a:r>
          </a:p>
          <a:p>
            <a:pPr lvl="1"/>
            <a:r>
              <a:rPr sz="1800" b="0" i="0">
                <a:solidFill>
                  <a:srgbClr val="444455"/>
                </a:solidFill>
                <a:latin typeface="Calibri"/>
              </a:rPr>
              <a:t>Mixed signal (n_ch × N): element-wise multiply raw × phase — second alloc</a:t>
            </a:r>
          </a:p>
          <a:p>
            <a:pPr lvl="1"/>
            <a:r>
              <a:rPr sz="1800" b="0" i="0">
                <a:solidFill>
                  <a:srgbClr val="444455"/>
                </a:solidFill>
                <a:latin typeface="Calibri"/>
              </a:rPr>
              <a:t>FIR filter over (n_ch × N) → decimate → HP filter</a:t>
            </a:r>
          </a:p>
          <a:p>
            <a:pPr/>
            <a:r>
              <a:rPr sz="2000" b="1" i="0">
                <a:solidFill>
                  <a:srgbClr val="1A1A2E"/>
                </a:solidFill>
                <a:latin typeface="Calibri"/>
              </a:rPr>
              <a:t>Two large allocations flushed the L2 cache on every hop — bottleneck was memory</a:t>
            </a:r>
          </a:p>
          <a:p>
            <a:pPr/>
            <a:r>
              <a:rPr sz="2000" b="1" i="0">
                <a:solidFill>
                  <a:srgbClr val="1A1A2E"/>
                </a:solidFill>
                <a:latin typeface="Calibri"/>
              </a:rPr>
              <a:t>Fix: fused NCO+FIR Numba prange kernel</a:t>
            </a:r>
          </a:p>
          <a:p>
            <a:pPr lvl="1"/>
            <a:r>
              <a:rPr sz="1800" b="0" i="0">
                <a:solidFill>
                  <a:srgbClr val="444455"/>
                </a:solidFill>
                <a:latin typeface="Courier New"/>
              </a:rPr>
              <a:t>One Numba prange loop over n_ch channels (runs parallel across cores)</a:t>
            </a:r>
          </a:p>
          <a:p>
            <a:pPr lvl="1"/>
            <a:r>
              <a:rPr sz="1800" b="0" i="0">
                <a:solidFill>
                  <a:srgbClr val="444455"/>
                </a:solidFill>
                <a:latin typeface="Courier New"/>
              </a:rPr>
              <a:t>Per thread: local buffer of size ntaps−1+N — NCO mix written inline</a:t>
            </a:r>
          </a:p>
          <a:p>
            <a:pPr lvl="1"/>
            <a:r>
              <a:rPr sz="1800" b="0" i="0">
                <a:solidFill>
                  <a:srgbClr val="444455"/>
                </a:solidFill>
                <a:latin typeface="Courier New"/>
              </a:rPr>
              <a:t>FIR dot product accumulated from local buffer — never writes a (n_ch, N) array</a:t>
            </a:r>
          </a:p>
          <a:p>
            <a:pPr lvl="1"/>
            <a:r>
              <a:rPr sz="1800" b="0" i="0">
                <a:solidFill>
                  <a:srgbClr val="444455"/>
                </a:solidFill>
                <a:latin typeface="Courier New"/>
              </a:rPr>
              <a:t>Phase returned as a scalar per channel — no np.angle / np.exp upcast</a:t>
            </a:r>
          </a:p>
          <a:p>
            <a:pPr/>
            <a:r>
              <a:rPr sz="2000" b="1" i="0">
                <a:solidFill>
                  <a:srgbClr val="1A1A2E"/>
                </a:solidFill>
                <a:latin typeface="Calibri"/>
              </a:rPr>
              <a:t>Single-pol:  0.591 ms → 0.405 ms  (−31%)</a:t>
            </a:r>
          </a:p>
          <a:p>
            <a:pPr/>
            <a:r>
              <a:rPr sz="2000" b="1" i="0">
                <a:solidFill>
                  <a:srgbClr val="1A1A2E"/>
                </a:solidFill>
                <a:latin typeface="Calibri"/>
              </a:rPr>
              <a:t>Dual-pol:    0.835 ms → 0.672 ms  (−19%)</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Fused NCO+FIR Kernel — Core Loop</a:t>
            </a:r>
          </a:p>
        </p:txBody>
      </p:sp>
      <p:sp>
        <p:nvSpPr>
          <p:cNvPr id="4" name="Rectangle 3"/>
          <p:cNvSpPr/>
          <p:nvPr/>
        </p:nvSpPr>
        <p:spPr>
          <a:xfrm>
            <a:off x="365760" y="1005840"/>
            <a:ext cx="11430000" cy="4937760"/>
          </a:xfrm>
          <a:prstGeom prst="rect">
            <a:avLst/>
          </a:prstGeom>
          <a:solidFill>
            <a:srgbClr val="F0F4F8"/>
          </a:solidFill>
          <a:ln w="12700">
            <a:solidFill>
              <a:srgbClr val="888899"/>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i="0">
                <a:solidFill>
                  <a:srgbClr val="1B3A6B"/>
                </a:solidFill>
                <a:latin typeface="Courier New"/>
              </a:rPr>
              <a:t>@numba.njit(parallel=True, cache=True)</a:t>
            </a:r>
          </a:p>
          <a:p>
            <a:r>
              <a:rPr sz="1600" b="0" i="0">
                <a:solidFill>
                  <a:srgbClr val="1B3A6B"/>
                </a:solidFill>
                <a:latin typeface="Courier New"/>
              </a:rPr>
              <a:t>def _nb_mix_fir_sp(b_rev, raw, mix_phase, mix_step, zi, y, new_zi, new_mix_phase):</a:t>
            </a:r>
          </a:p>
          <a:p>
            <a:r>
              <a:rPr sz="1600" b="0" i="0">
                <a:solidFill>
                  <a:srgbClr val="1B3A6B"/>
                </a:solidFill>
                <a:latin typeface="Courier New"/>
              </a:rPr>
              <a:t>    ntaps = b_rev.shape[0]; N = raw.shape[0]; n_ch = mix_phase.shape[0]</a:t>
            </a:r>
          </a:p>
          <a:p>
            <a:r>
              <a:rPr sz="1600" b="0" i="0">
                <a:solidFill>
                  <a:srgbClr val="1B3A6B"/>
                </a:solidFill>
                <a:latin typeface="Courier New"/>
              </a:rPr>
              <a:t>    for k in numba.prange(n_ch):          # parallel over channels</a:t>
            </a:r>
          </a:p>
          <a:p>
            <a:r>
              <a:rPr sz="1600" b="0" i="0">
                <a:solidFill>
                  <a:srgbClr val="1B3A6B"/>
                </a:solidFill>
                <a:latin typeface="Courier New"/>
              </a:rPr>
              <a:t>        ph = mix_phase[k]; st = mix_step[k]</a:t>
            </a:r>
          </a:p>
          <a:p>
            <a:r>
              <a:rPr sz="1600" b="0" i="0">
                <a:solidFill>
                  <a:srgbClr val="1B3A6B"/>
                </a:solidFill>
                <a:latin typeface="Courier New"/>
              </a:rPr>
              <a:t>        buf = np.empty(ntaps - 1 + N, dtype=np.complex64)  # thread-local</a:t>
            </a:r>
          </a:p>
          <a:p>
            <a:r>
              <a:rPr sz="1600" b="0" i="0">
                <a:solidFill>
                  <a:srgbClr val="1B3A6B"/>
                </a:solidFill>
                <a:latin typeface="Courier New"/>
              </a:rPr>
              <a:t>        for j in range(ntaps - 1):        # copy filter state into local buf</a:t>
            </a:r>
          </a:p>
          <a:p>
            <a:r>
              <a:rPr sz="1600" b="0" i="0">
                <a:solidFill>
                  <a:srgbClr val="1B3A6B"/>
                </a:solidFill>
                <a:latin typeface="Courier New"/>
              </a:rPr>
              <a:t>            buf[j] = zi[k, j]</a:t>
            </a:r>
          </a:p>
          <a:p>
            <a:r>
              <a:rPr sz="1600" b="0" i="0">
                <a:solidFill>
                  <a:srgbClr val="1B3A6B"/>
                </a:solidFill>
                <a:latin typeface="Courier New"/>
              </a:rPr>
              <a:t>        for n in range(N):                # NCO mix: multiply inline → buf</a:t>
            </a:r>
          </a:p>
          <a:p>
            <a:r>
              <a:rPr sz="1600" b="0" i="0">
                <a:solidFill>
                  <a:srgbClr val="1B3A6B"/>
                </a:solidFill>
                <a:latin typeface="Courier New"/>
              </a:rPr>
              <a:t>            buf[ntaps - 1 + n] = raw[n] * ph</a:t>
            </a:r>
          </a:p>
          <a:p>
            <a:r>
              <a:rPr sz="1600" b="0" i="0">
                <a:solidFill>
                  <a:srgbClr val="1B3A6B"/>
                </a:solidFill>
                <a:latin typeface="Courier New"/>
              </a:rPr>
              <a:t>            ph *= st</a:t>
            </a:r>
          </a:p>
          <a:p>
            <a:r>
              <a:rPr sz="1600" b="0" i="0">
                <a:solidFill>
                  <a:srgbClr val="1B3A6B"/>
                </a:solidFill>
                <a:latin typeface="Courier New"/>
              </a:rPr>
              <a:t>        for n in range(N):                # FIR: dot product over pre-rev taps</a:t>
            </a:r>
          </a:p>
          <a:p>
            <a:r>
              <a:rPr sz="1600" b="0" i="0">
                <a:solidFill>
                  <a:srgbClr val="1B3A6B"/>
                </a:solidFill>
                <a:latin typeface="Courier New"/>
              </a:rPr>
              <a:t>            acc = np.complex64(0.0)</a:t>
            </a:r>
          </a:p>
          <a:p>
            <a:r>
              <a:rPr sz="1600" b="0" i="0">
                <a:solidFill>
                  <a:srgbClr val="1B3A6B"/>
                </a:solidFill>
                <a:latin typeface="Courier New"/>
              </a:rPr>
              <a:t>            for j in range(ntaps):</a:t>
            </a:r>
          </a:p>
          <a:p>
            <a:r>
              <a:rPr sz="1600" b="0" i="0">
                <a:solidFill>
                  <a:srgbClr val="1B3A6B"/>
                </a:solidFill>
                <a:latin typeface="Courier New"/>
              </a:rPr>
              <a:t>                acc += b_rev[j] * buf[n + j]</a:t>
            </a:r>
          </a:p>
          <a:p>
            <a:r>
              <a:rPr sz="1600" b="0" i="0">
                <a:solidFill>
                  <a:srgbClr val="1B3A6B"/>
                </a:solidFill>
                <a:latin typeface="Courier New"/>
              </a:rPr>
              <a:t>            y[k, n] = acc</a:t>
            </a:r>
          </a:p>
          <a:p>
            <a:r>
              <a:rPr sz="1600" b="0" i="0">
                <a:solidFill>
                  <a:srgbClr val="1B3A6B"/>
                </a:solidFill>
                <a:latin typeface="Courier New"/>
              </a:rPr>
              <a:t>        for j in range(ntaps - 1):        # save filter state for next block</a:t>
            </a:r>
          </a:p>
          <a:p>
            <a:r>
              <a:rPr sz="1600" b="0" i="0">
                <a:solidFill>
                  <a:srgbClr val="1B3A6B"/>
                </a:solidFill>
                <a:latin typeface="Courier New"/>
              </a:rPr>
              <a:t>            new_zi[k, j] = buf[N + j]</a:t>
            </a:r>
          </a:p>
          <a:p>
            <a:r>
              <a:rPr sz="1600" b="0" i="0">
                <a:solidFill>
                  <a:srgbClr val="1B3A6B"/>
                </a:solidFill>
                <a:latin typeface="Courier New"/>
              </a:rPr>
              <a:t>        new_mix_phase[k] = ph             # return phase — no np.exp upcast</a:t>
            </a:r>
          </a:p>
        </p:txBody>
      </p:sp>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b_rev: pre-reversed taps stored in ChannelizerState (no copy per call).  Thread-local buf fits in L1 cache.  NCO advance: ph *= st  (complex multiply) — no angle/exp.</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Round 4 — Display Windows Dominate CPU When Visible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Observation: closing the Fast Graph, Detection, and IQ windows changed the profile</a:t>
            </a:r>
          </a:p>
          <a:p>
            <a:pPr lvl="1"/>
            <a:r>
              <a:rPr sz="1800" b="0" i="0">
                <a:solidFill>
                  <a:srgbClr val="444455"/>
                </a:solidFill>
                <a:latin typeface="Courier New"/>
              </a:rPr>
              <a:t>Active% fell from 64% to 19% — two-thirds of CPU was pure display work</a:t>
            </a:r>
          </a:p>
          <a:p>
            <a:pPr/>
            <a:r>
              <a:rPr sz="2000" b="0" i="0">
                <a:solidFill>
                  <a:srgbClr val="1A1A2E"/>
                </a:solidFill>
                <a:latin typeface="Courier New"/>
              </a:rPr>
              <a:t>Root cause: display updates ran unconditionally, every 20 ms block</a:t>
            </a:r>
          </a:p>
          <a:p>
            <a:pPr lvl="1"/>
            <a:r>
              <a:rPr sz="1800" b="0" i="0">
                <a:solidFill>
                  <a:srgbClr val="444455"/>
                </a:solidFill>
                <a:latin typeface="Courier New"/>
              </a:rPr>
              <a:t>Waterfall FFT: np.fft.fft over fft_size samples, fftshift, log10 — every hop</a:t>
            </a:r>
          </a:p>
          <a:p>
            <a:pPr lvl="1"/>
            <a:r>
              <a:rPr sz="1800" b="0" i="0">
                <a:solidFill>
                  <a:srgbClr val="444455"/>
                </a:solidFill>
                <a:latin typeface="Calibri"/>
              </a:rPr>
              <a:t>Spectrogram setImage: pyqtgraph buffer copy + render — every hop</a:t>
            </a:r>
          </a:p>
          <a:p>
            <a:pPr lvl="1"/>
            <a:r>
              <a:rPr sz="1800" b="0" i="0">
                <a:solidFill>
                  <a:srgbClr val="444455"/>
                </a:solidFill>
                <a:latin typeface="Calibri"/>
              </a:rPr>
              <a:t>pyqtgraph's _rescaleData appeared in every profile — pure display overhead</a:t>
            </a:r>
          </a:p>
          <a:p>
            <a:pPr/>
            <a:r>
              <a:rPr sz="2000" b="1" i="0">
                <a:solidFill>
                  <a:srgbClr val="1A1A2E"/>
                </a:solidFill>
                <a:latin typeface="Calibri"/>
              </a:rPr>
              <a:t>Fix: visibility gate — check window.isVisible() once per block</a:t>
            </a:r>
          </a:p>
          <a:p>
            <a:pPr lvl="1"/>
            <a:r>
              <a:rPr sz="1800" b="0" i="0">
                <a:solidFill>
                  <a:srgbClr val="444455"/>
                </a:solidFill>
                <a:latin typeface="Calibri"/>
              </a:rPr>
              <a:t>Skip waterfall FFT and spectrogram writes when window is hidden</a:t>
            </a:r>
          </a:p>
          <a:p>
            <a:pPr lvl="1"/>
            <a:r>
              <a:rPr sz="1800" b="0" i="0">
                <a:solidFill>
                  <a:srgbClr val="444455"/>
                </a:solidFill>
                <a:latin typeface="Calibri"/>
              </a:rPr>
              <a:t>Buffer slide (timing state) always runs — just the compute is gated</a:t>
            </a:r>
          </a:p>
          <a:p>
            <a:pPr/>
            <a:r>
              <a:rPr sz="2000" b="1" i="0">
                <a:solidFill>
                  <a:srgbClr val="1A1A2E"/>
                </a:solidFill>
                <a:latin typeface="Calibri"/>
              </a:rPr>
              <a:t>Effect when all display windows open: Active ~60%, GIL ~15%</a:t>
            </a:r>
          </a:p>
          <a:p>
            <a:pPr/>
            <a:r>
              <a:rPr sz="2000" b="1" i="0">
                <a:solidFill>
                  <a:srgbClr val="1A1A2E"/>
                </a:solidFill>
                <a:latin typeface="Calibri"/>
              </a:rPr>
              <a:t>Effect when all display windows closed: Active ~19%, GIL ~7%</a:t>
            </a:r>
          </a:p>
          <a:p>
            <a:pPr/>
            <a:r>
              <a:rPr sz="2000" b="1" i="0">
                <a:solidFill>
                  <a:srgbClr val="1A1A2E"/>
                </a:solidFill>
                <a:latin typeface="Calibri"/>
              </a:rPr>
              <a:t>Lesson: display rendering is not free — gate it when nothing is watching</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Round 5 — The Hidden lfilter Slow Path (USRP Decimator)</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Profile showed: _apply (usrp_source.py) 8.98 s, apply_along_axis 6.85 s</a:t>
            </a:r>
          </a:p>
          <a:p>
            <a:pPr/>
            <a:r>
              <a:rPr sz="2000" b="0" i="0">
                <a:solidFill>
                  <a:srgbClr val="1A1A2E"/>
                </a:solidFill>
                <a:latin typeface="Courier New"/>
              </a:rPr>
              <a:t>The USRP decimator: 4× FIR anti-alias before 48 kHz output</a:t>
            </a:r>
          </a:p>
          <a:p>
            <a:pPr lvl="1"/>
            <a:r>
              <a:rPr sz="1800" b="0" i="0">
                <a:solidFill>
                  <a:srgbClr val="444455"/>
                </a:solidFill>
                <a:latin typeface="Calibri"/>
              </a:rPr>
              <a:t>192 kHz → 48 kHz, 65-tap FIR, 3840 samples per block</a:t>
            </a:r>
          </a:p>
          <a:p>
            <a:pPr/>
            <a:r>
              <a:rPr sz="2000" b="0" i="0">
                <a:solidFill>
                  <a:srgbClr val="1A1A2E"/>
                </a:solidFill>
                <a:latin typeface="Courier New"/>
              </a:rPr>
              <a:t>Code used:  scipy.signal.lfilter(b, 1.0, x)</a:t>
            </a:r>
          </a:p>
          <a:p>
            <a:pPr lvl="1"/>
            <a:r>
              <a:rPr sz="1800" b="0" i="0">
                <a:solidFill>
                  <a:srgbClr val="444455"/>
                </a:solidFill>
                <a:latin typeface="Courier New"/>
              </a:rPr>
              <a:t>a = 1.0 signals a pure FIR (no IIR denominator)</a:t>
            </a:r>
          </a:p>
          <a:p>
            <a:pPr lvl="1"/>
            <a:r>
              <a:rPr sz="1800" b="0" i="0">
                <a:solidFill>
                  <a:srgbClr val="444455"/>
                </a:solidFill>
                <a:latin typeface="Courier New"/>
              </a:rPr>
              <a:t>In recent scipy, lfilter with a=[1] falls back to:</a:t>
            </a:r>
          </a:p>
          <a:p>
            <a:pPr lvl="1"/>
            <a:r>
              <a:rPr sz="1800" b="0" i="0">
                <a:solidFill>
                  <a:srgbClr val="444455"/>
                </a:solidFill>
                <a:latin typeface="Courier New"/>
              </a:rPr>
              <a:t>   apply_along_axis(lambda y: np.convolve(b, y), axis, x)</a:t>
            </a:r>
          </a:p>
          <a:p>
            <a:pPr lvl="1"/>
            <a:r>
              <a:rPr sz="1800" b="0" i="0">
                <a:solidFill>
                  <a:srgbClr val="444455"/>
                </a:solidFill>
                <a:latin typeface="Calibri"/>
              </a:rPr>
              <a:t>A Python-level loop — the 'mystery convolve' visible in every earlier profile</a:t>
            </a:r>
          </a:p>
          <a:p>
            <a:pPr/>
            <a:r>
              <a:rPr sz="2000" b="0" i="0">
                <a:solidFill>
                  <a:srgbClr val="1A1A2E"/>
                </a:solidFill>
                <a:latin typeface="Courier New"/>
              </a:rPr>
              <a:t>Fix: scipy.signal.upfirdn  — dedicated FIR + decimation Cython path</a:t>
            </a:r>
          </a:p>
          <a:p>
            <a:pPr lvl="1"/>
            <a:r>
              <a:rPr sz="1800" b="0" i="0">
                <a:solidFill>
                  <a:srgbClr val="444455"/>
                </a:solidFill>
                <a:latin typeface="Courier New"/>
              </a:rPr>
              <a:t>Processes real and imaginary parts separately as float32</a:t>
            </a:r>
          </a:p>
          <a:p>
            <a:pPr lvl="1"/>
            <a:r>
              <a:rPr sz="1800" b="0" i="0">
                <a:solidFill>
                  <a:srgbClr val="444455"/>
                </a:solidFill>
                <a:latin typeface="Courier New"/>
              </a:rPr>
              <a:t>Streaming state: prepend 64-sample history, slice to skip warmup + tail</a:t>
            </a:r>
          </a:p>
          <a:p>
            <a:pPr lvl="1"/>
            <a:r>
              <a:rPr sz="1800" b="0" i="0">
                <a:solidFill>
                  <a:srgbClr val="444455"/>
                </a:solidFill>
                <a:latin typeface="Calibri"/>
              </a:rPr>
              <a:t>Verified against lfilter ground truth: 9×10⁻⁷ relative error (float32 limit)</a:t>
            </a:r>
          </a:p>
          <a:p>
            <a:pPr/>
            <a:r>
              <a:rPr sz="2000" b="1" i="0">
                <a:solidFill>
                  <a:srgbClr val="1A1A2E"/>
                </a:solidFill>
                <a:latin typeface="Calibri"/>
              </a:rPr>
              <a:t>Result: 0.215 ms → 0.123 ms per block  (−43%)</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Five Rounds — Cumulative Scorecard</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Each round: profile → identify → change → verify → repeat</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57200" y="2194560"/>
          <a:ext cx="10332720" cy="3328416"/>
        </p:xfrm>
        <a:graphic>
          <a:graphicData uri="http://schemas.openxmlformats.org/drawingml/2006/table">
            <a:tbl>
              <a:tblPr firstRow="1" bandRow="1">
                <a:tableStyleId>{5C22544A-7EE6-4342-B048-85BDC9FD1C3A}</a:tableStyleId>
              </a:tblPr>
              <a:tblGrid>
                <a:gridCol w="731520"/>
                <a:gridCol w="2286000"/>
                <a:gridCol w="2011680"/>
                <a:gridCol w="1645920"/>
                <a:gridCol w="1554480"/>
                <a:gridCol w="2103120"/>
              </a:tblGrid>
              <a:tr h="475488">
                <a:tc>
                  <a:txBody>
                    <a:bodyPr/>
                    <a:lstStyle/>
                    <a:p>
                      <a:pPr algn="ctr"/>
                      <a:r>
                        <a:rPr sz="1400" b="1">
                          <a:solidFill>
                            <a:srgbClr val="FFFFFF"/>
                          </a:solidFill>
                          <a:latin typeface="Calibri"/>
                        </a:rPr>
                        <a:t>Round</a:t>
                      </a:r>
                    </a:p>
                  </a:txBody>
                  <a:tcPr>
                    <a:solidFill>
                      <a:srgbClr val="1B3A6B"/>
                    </a:solidFill>
                  </a:tcPr>
                </a:tc>
                <a:tc>
                  <a:txBody>
                    <a:bodyPr/>
                    <a:lstStyle/>
                    <a:p>
                      <a:pPr algn="ctr"/>
                      <a:r>
                        <a:rPr sz="1400" b="1">
                          <a:solidFill>
                            <a:srgbClr val="FFFFFF"/>
                          </a:solidFill>
                          <a:latin typeface="Calibri"/>
                        </a:rPr>
                        <a:t>Component</a:t>
                      </a:r>
                    </a:p>
                  </a:txBody>
                  <a:tcPr>
                    <a:solidFill>
                      <a:srgbClr val="1B3A6B"/>
                    </a:solidFill>
                  </a:tcPr>
                </a:tc>
                <a:tc>
                  <a:txBody>
                    <a:bodyPr/>
                    <a:lstStyle/>
                    <a:p>
                      <a:pPr algn="ctr"/>
                      <a:r>
                        <a:rPr sz="1400" b="1">
                          <a:solidFill>
                            <a:srgbClr val="FFFFFF"/>
                          </a:solidFill>
                          <a:latin typeface="Calibri"/>
                        </a:rPr>
                        <a:t>Before</a:t>
                      </a:r>
                    </a:p>
                  </a:txBody>
                  <a:tcPr>
                    <a:solidFill>
                      <a:srgbClr val="1B3A6B"/>
                    </a:solidFill>
                  </a:tcPr>
                </a:tc>
                <a:tc>
                  <a:txBody>
                    <a:bodyPr/>
                    <a:lstStyle/>
                    <a:p>
                      <a:pPr algn="ctr"/>
                      <a:r>
                        <a:rPr sz="1400" b="1">
                          <a:solidFill>
                            <a:srgbClr val="FFFFFF"/>
                          </a:solidFill>
                          <a:latin typeface="Calibri"/>
                        </a:rPr>
                        <a:t>After</a:t>
                      </a:r>
                    </a:p>
                  </a:txBody>
                  <a:tcPr>
                    <a:solidFill>
                      <a:srgbClr val="1B3A6B"/>
                    </a:solidFill>
                  </a:tcPr>
                </a:tc>
                <a:tc>
                  <a:txBody>
                    <a:bodyPr/>
                    <a:lstStyle/>
                    <a:p>
                      <a:pPr algn="ctr"/>
                      <a:r>
                        <a:rPr sz="1400" b="1">
                          <a:solidFill>
                            <a:srgbClr val="FFFFFF"/>
                          </a:solidFill>
                          <a:latin typeface="Calibri"/>
                        </a:rPr>
                        <a:t>Improvement</a:t>
                      </a:r>
                    </a:p>
                  </a:txBody>
                  <a:tcPr>
                    <a:solidFill>
                      <a:srgbClr val="1B3A6B"/>
                    </a:solidFill>
                  </a:tcPr>
                </a:tc>
                <a:tc>
                  <a:txBody>
                    <a:bodyPr/>
                    <a:lstStyle/>
                    <a:p>
                      <a:pPr algn="ctr"/>
                      <a:r>
                        <a:rPr sz="1400" b="1">
                          <a:solidFill>
                            <a:srgbClr val="FFFFFF"/>
                          </a:solidFill>
                          <a:latin typeface="Calibri"/>
                        </a:rPr>
                        <a:t>Technique</a:t>
                      </a:r>
                    </a:p>
                  </a:txBody>
                  <a:tcPr>
                    <a:solidFill>
                      <a:srgbClr val="1B3A6B"/>
                    </a:solidFill>
                  </a:tcPr>
                </a:tc>
              </a:tr>
              <a:tr h="475488">
                <a:tc>
                  <a:txBody>
                    <a:bodyPr/>
                    <a:lstStyle/>
                    <a:p>
                      <a:pPr algn="ctr"/>
                      <a:r>
                        <a:rPr sz="1400">
                          <a:solidFill>
                            <a:srgbClr val="1A1A2E"/>
                          </a:solidFill>
                          <a:latin typeface="Calibri"/>
                        </a:rPr>
                        <a:t>1</a:t>
                      </a:r>
                    </a:p>
                  </a:txBody>
                  <a:tcPr>
                    <a:solidFill>
                      <a:srgbClr val="F0F4F8"/>
                    </a:solidFill>
                  </a:tcPr>
                </a:tc>
                <a:tc>
                  <a:txBody>
                    <a:bodyPr/>
                    <a:lstStyle/>
                    <a:p>
                      <a:pPr algn="ctr"/>
                      <a:r>
                        <a:rPr sz="1400">
                          <a:solidFill>
                            <a:srgbClr val="1A1A2E"/>
                          </a:solidFill>
                          <a:latin typeface="Calibri"/>
                        </a:rPr>
                        <a:t>BP decoder</a:t>
                      </a:r>
                    </a:p>
                  </a:txBody>
                  <a:tcPr>
                    <a:solidFill>
                      <a:srgbClr val="F0F4F8"/>
                    </a:solidFill>
                  </a:tcPr>
                </a:tc>
                <a:tc>
                  <a:txBody>
                    <a:bodyPr/>
                    <a:lstStyle/>
                    <a:p>
                      <a:pPr algn="ctr"/>
                      <a:r>
                        <a:rPr sz="1400">
                          <a:solidFill>
                            <a:srgbClr val="1A1A2E"/>
                          </a:solidFill>
                          <a:latin typeface="Calibri"/>
                        </a:rPr>
                        <a:t>137 ms/decode</a:t>
                      </a:r>
                    </a:p>
                  </a:txBody>
                  <a:tcPr>
                    <a:solidFill>
                      <a:srgbClr val="F0F4F8"/>
                    </a:solidFill>
                  </a:tcPr>
                </a:tc>
                <a:tc>
                  <a:txBody>
                    <a:bodyPr/>
                    <a:lstStyle/>
                    <a:p>
                      <a:pPr algn="ctr"/>
                      <a:r>
                        <a:rPr sz="1400">
                          <a:solidFill>
                            <a:srgbClr val="1A1A2E"/>
                          </a:solidFill>
                          <a:latin typeface="Calibri"/>
                        </a:rPr>
                        <a:t>0.06 ms</a:t>
                      </a:r>
                    </a:p>
                  </a:txBody>
                  <a:tcPr>
                    <a:solidFill>
                      <a:srgbClr val="F0F4F8"/>
                    </a:solidFill>
                  </a:tcPr>
                </a:tc>
                <a:tc>
                  <a:txBody>
                    <a:bodyPr/>
                    <a:lstStyle/>
                    <a:p>
                      <a:pPr algn="ctr"/>
                      <a:r>
                        <a:rPr sz="1400">
                          <a:solidFill>
                            <a:srgbClr val="1A1A2E"/>
                          </a:solidFill>
                          <a:latin typeface="Calibri"/>
                        </a:rPr>
                        <a:t>2300×</a:t>
                      </a:r>
                    </a:p>
                  </a:txBody>
                  <a:tcPr>
                    <a:solidFill>
                      <a:srgbClr val="F0F4F8"/>
                    </a:solidFill>
                  </a:tcPr>
                </a:tc>
                <a:tc>
                  <a:txBody>
                    <a:bodyPr/>
                    <a:lstStyle/>
                    <a:p>
                      <a:pPr algn="ctr"/>
                      <a:r>
                        <a:rPr sz="1400">
                          <a:solidFill>
                            <a:srgbClr val="1A1A2E"/>
                          </a:solidFill>
                          <a:latin typeface="Calibri"/>
                        </a:rPr>
                        <a:t>Numba @njit</a:t>
                      </a:r>
                    </a:p>
                  </a:txBody>
                  <a:tcPr>
                    <a:solidFill>
                      <a:srgbClr val="F0F4F8"/>
                    </a:solidFill>
                  </a:tcPr>
                </a:tc>
              </a:tr>
              <a:tr h="475488">
                <a:tc>
                  <a:txBody>
                    <a:bodyPr/>
                    <a:lstStyle/>
                    <a:p>
                      <a:pPr algn="ctr"/>
                      <a:r>
                        <a:rPr sz="1400">
                          <a:solidFill>
                            <a:srgbClr val="1A1A2E"/>
                          </a:solidFill>
                          <a:latin typeface="Calibri"/>
                        </a:rPr>
                        <a:t>2</a:t>
                      </a:r>
                    </a:p>
                  </a:txBody>
                  <a:tcPr>
                    <a:solidFill>
                      <a:srgbClr val="FFFFFF"/>
                    </a:solidFill>
                  </a:tcPr>
                </a:tc>
                <a:tc>
                  <a:txBody>
                    <a:bodyPr/>
                    <a:lstStyle/>
                    <a:p>
                      <a:pPr algn="ctr"/>
                      <a:r>
                        <a:rPr sz="1400">
                          <a:solidFill>
                            <a:srgbClr val="1A1A2E"/>
                          </a:solidFill>
                          <a:latin typeface="Calibri"/>
                        </a:rPr>
                        <a:t>NumPy dispatch</a:t>
                      </a:r>
                    </a:p>
                  </a:txBody>
                  <a:tcPr>
                    <a:solidFill>
                      <a:srgbClr val="FFFFFF"/>
                    </a:solidFill>
                  </a:tcPr>
                </a:tc>
                <a:tc>
                  <a:txBody>
                    <a:bodyPr/>
                    <a:lstStyle/>
                    <a:p>
                      <a:pPr algn="ctr"/>
                      <a:r>
                        <a:rPr sz="1400">
                          <a:solidFill>
                            <a:srgbClr val="1A1A2E"/>
                          </a:solidFill>
                          <a:latin typeface="Calibri"/>
                        </a:rPr>
                        <a:t>42 s profiler</a:t>
                      </a:r>
                    </a:p>
                  </a:txBody>
                  <a:tcPr>
                    <a:solidFill>
                      <a:srgbClr val="FFFFFF"/>
                    </a:solidFill>
                  </a:tcPr>
                </a:tc>
                <a:tc>
                  <a:txBody>
                    <a:bodyPr/>
                    <a:lstStyle/>
                    <a:p>
                      <a:pPr algn="ctr"/>
                      <a:r>
                        <a:rPr sz="1400">
                          <a:solidFill>
                            <a:srgbClr val="1A1A2E"/>
                          </a:solidFill>
                          <a:latin typeface="Calibri"/>
                        </a:rPr>
                        <a:t>~0 s</a:t>
                      </a:r>
                    </a:p>
                  </a:txBody>
                  <a:tcPr>
                    <a:solidFill>
                      <a:srgbClr val="FFFFFF"/>
                    </a:solidFill>
                  </a:tcPr>
                </a:tc>
                <a:tc>
                  <a:txBody>
                    <a:bodyPr/>
                    <a:lstStyle/>
                    <a:p>
                      <a:pPr algn="ctr"/>
                      <a:r>
                        <a:rPr sz="1400">
                          <a:solidFill>
                            <a:srgbClr val="1A1A2E"/>
                          </a:solidFill>
                          <a:latin typeface="Calibri"/>
                        </a:rPr>
                        <a:t>eliminated</a:t>
                      </a:r>
                    </a:p>
                  </a:txBody>
                  <a:tcPr>
                    <a:solidFill>
                      <a:srgbClr val="FFFFFF"/>
                    </a:solidFill>
                  </a:tcPr>
                </a:tc>
                <a:tc>
                  <a:txBody>
                    <a:bodyPr/>
                    <a:lstStyle/>
                    <a:p>
                      <a:pPr algn="ctr"/>
                      <a:r>
                        <a:rPr sz="1400">
                          <a:solidFill>
                            <a:srgbClr val="1A1A2E"/>
                          </a:solidFill>
                          <a:latin typeface="Calibri"/>
                        </a:rPr>
                        <a:t>Method forms</a:t>
                      </a:r>
                    </a:p>
                  </a:txBody>
                  <a:tcPr>
                    <a:solidFill>
                      <a:srgbClr val="FFFFFF"/>
                    </a:solidFill>
                  </a:tcPr>
                </a:tc>
              </a:tr>
              <a:tr h="475488">
                <a:tc>
                  <a:txBody>
                    <a:bodyPr/>
                    <a:lstStyle/>
                    <a:p>
                      <a:pPr algn="ctr"/>
                      <a:r>
                        <a:rPr sz="1400">
                          <a:solidFill>
                            <a:srgbClr val="1A1A2E"/>
                          </a:solidFill>
                          <a:latin typeface="Calibri"/>
                        </a:rPr>
                        <a:t>3</a:t>
                      </a:r>
                    </a:p>
                  </a:txBody>
                  <a:tcPr>
                    <a:solidFill>
                      <a:srgbClr val="F0F4F8"/>
                    </a:solidFill>
                  </a:tcPr>
                </a:tc>
                <a:tc>
                  <a:txBody>
                    <a:bodyPr/>
                    <a:lstStyle/>
                    <a:p>
                      <a:pPr algn="ctr"/>
                      <a:r>
                        <a:rPr sz="1400">
                          <a:solidFill>
                            <a:srgbClr val="1A1A2E"/>
                          </a:solidFill>
                          <a:latin typeface="Calibri"/>
                        </a:rPr>
                        <a:t>Channelizer (1-pol)</a:t>
                      </a:r>
                    </a:p>
                  </a:txBody>
                  <a:tcPr>
                    <a:solidFill>
                      <a:srgbClr val="F0F4F8"/>
                    </a:solidFill>
                  </a:tcPr>
                </a:tc>
                <a:tc>
                  <a:txBody>
                    <a:bodyPr/>
                    <a:lstStyle/>
                    <a:p>
                      <a:pPr algn="ctr"/>
                      <a:r>
                        <a:rPr sz="1400">
                          <a:solidFill>
                            <a:srgbClr val="1A1A2E"/>
                          </a:solidFill>
                          <a:latin typeface="Calibri"/>
                        </a:rPr>
                        <a:t>0.591 ms/block</a:t>
                      </a:r>
                    </a:p>
                  </a:txBody>
                  <a:tcPr>
                    <a:solidFill>
                      <a:srgbClr val="F0F4F8"/>
                    </a:solidFill>
                  </a:tcPr>
                </a:tc>
                <a:tc>
                  <a:txBody>
                    <a:bodyPr/>
                    <a:lstStyle/>
                    <a:p>
                      <a:pPr algn="ctr"/>
                      <a:r>
                        <a:rPr sz="1400">
                          <a:solidFill>
                            <a:srgbClr val="1A1A2E"/>
                          </a:solidFill>
                          <a:latin typeface="Calibri"/>
                        </a:rPr>
                        <a:t>0.405 ms</a:t>
                      </a:r>
                    </a:p>
                  </a:txBody>
                  <a:tcPr>
                    <a:solidFill>
                      <a:srgbClr val="F0F4F8"/>
                    </a:solidFill>
                  </a:tcPr>
                </a:tc>
                <a:tc>
                  <a:txBody>
                    <a:bodyPr/>
                    <a:lstStyle/>
                    <a:p>
                      <a:pPr algn="ctr"/>
                      <a:r>
                        <a:rPr sz="1400">
                          <a:solidFill>
                            <a:srgbClr val="1A1A2E"/>
                          </a:solidFill>
                          <a:latin typeface="Calibri"/>
                        </a:rPr>
                        <a:t>−31%</a:t>
                      </a:r>
                    </a:p>
                  </a:txBody>
                  <a:tcPr>
                    <a:solidFill>
                      <a:srgbClr val="F0F4F8"/>
                    </a:solidFill>
                  </a:tcPr>
                </a:tc>
                <a:tc>
                  <a:txBody>
                    <a:bodyPr/>
                    <a:lstStyle/>
                    <a:p>
                      <a:pPr algn="ctr"/>
                      <a:r>
                        <a:rPr sz="1400">
                          <a:solidFill>
                            <a:srgbClr val="1A1A2E"/>
                          </a:solidFill>
                          <a:latin typeface="Calibri"/>
                        </a:rPr>
                        <a:t>Numba prange</a:t>
                      </a:r>
                    </a:p>
                    <a:p>
                      <a:r>
                        <a:t>fused kernel</a:t>
                      </a:r>
                    </a:p>
                  </a:txBody>
                  <a:tcPr>
                    <a:solidFill>
                      <a:srgbClr val="F0F4F8"/>
                    </a:solidFill>
                  </a:tcPr>
                </a:tc>
              </a:tr>
              <a:tr h="475488">
                <a:tc>
                  <a:txBody>
                    <a:bodyPr/>
                    <a:lstStyle/>
                    <a:p>
                      <a:pPr algn="ctr"/>
                      <a:r>
                        <a:rPr sz="1400">
                          <a:solidFill>
                            <a:srgbClr val="1A1A2E"/>
                          </a:solidFill>
                          <a:latin typeface="Calibri"/>
                        </a:rPr>
                        <a:t>3</a:t>
                      </a:r>
                    </a:p>
                  </a:txBody>
                  <a:tcPr>
                    <a:solidFill>
                      <a:srgbClr val="FFFFFF"/>
                    </a:solidFill>
                  </a:tcPr>
                </a:tc>
                <a:tc>
                  <a:txBody>
                    <a:bodyPr/>
                    <a:lstStyle/>
                    <a:p>
                      <a:pPr algn="ctr"/>
                      <a:r>
                        <a:rPr sz="1400">
                          <a:solidFill>
                            <a:srgbClr val="1A1A2E"/>
                          </a:solidFill>
                          <a:latin typeface="Calibri"/>
                        </a:rPr>
                        <a:t>Channelizer (2-pol)</a:t>
                      </a:r>
                    </a:p>
                  </a:txBody>
                  <a:tcPr>
                    <a:solidFill>
                      <a:srgbClr val="FFFFFF"/>
                    </a:solidFill>
                  </a:tcPr>
                </a:tc>
                <a:tc>
                  <a:txBody>
                    <a:bodyPr/>
                    <a:lstStyle/>
                    <a:p>
                      <a:pPr algn="ctr"/>
                      <a:r>
                        <a:rPr sz="1400">
                          <a:solidFill>
                            <a:srgbClr val="1A1A2E"/>
                          </a:solidFill>
                          <a:latin typeface="Calibri"/>
                        </a:rPr>
                        <a:t>0.835 ms/block</a:t>
                      </a:r>
                    </a:p>
                  </a:txBody>
                  <a:tcPr>
                    <a:solidFill>
                      <a:srgbClr val="FFFFFF"/>
                    </a:solidFill>
                  </a:tcPr>
                </a:tc>
                <a:tc>
                  <a:txBody>
                    <a:bodyPr/>
                    <a:lstStyle/>
                    <a:p>
                      <a:pPr algn="ctr"/>
                      <a:r>
                        <a:rPr sz="1400">
                          <a:solidFill>
                            <a:srgbClr val="1A1A2E"/>
                          </a:solidFill>
                          <a:latin typeface="Calibri"/>
                        </a:rPr>
                        <a:t>0.672 ms</a:t>
                      </a:r>
                    </a:p>
                  </a:txBody>
                  <a:tcPr>
                    <a:solidFill>
                      <a:srgbClr val="FFFFFF"/>
                    </a:solidFill>
                  </a:tcPr>
                </a:tc>
                <a:tc>
                  <a:txBody>
                    <a:bodyPr/>
                    <a:lstStyle/>
                    <a:p>
                      <a:pPr algn="ctr"/>
                      <a:r>
                        <a:rPr sz="1400">
                          <a:solidFill>
                            <a:srgbClr val="1A1A2E"/>
                          </a:solidFill>
                          <a:latin typeface="Calibri"/>
                        </a:rPr>
                        <a:t>−19%</a:t>
                      </a:r>
                    </a:p>
                  </a:txBody>
                  <a:tcPr>
                    <a:solidFill>
                      <a:srgbClr val="FFFFFF"/>
                    </a:solidFill>
                  </a:tcPr>
                </a:tc>
                <a:tc>
                  <a:txBody>
                    <a:bodyPr/>
                    <a:lstStyle/>
                    <a:p>
                      <a:pPr algn="ctr"/>
                      <a:r>
                        <a:rPr sz="1400">
                          <a:solidFill>
                            <a:srgbClr val="1A1A2E"/>
                          </a:solidFill>
                          <a:latin typeface="Calibri"/>
                        </a:rPr>
                        <a:t>Numba prange</a:t>
                      </a:r>
                    </a:p>
                    <a:p>
                      <a:r>
                        <a:t>fused kernel</a:t>
                      </a:r>
                    </a:p>
                  </a:txBody>
                  <a:tcPr>
                    <a:solidFill>
                      <a:srgbClr val="FFFFFF"/>
                    </a:solidFill>
                  </a:tcPr>
                </a:tc>
              </a:tr>
              <a:tr h="475488">
                <a:tc>
                  <a:txBody>
                    <a:bodyPr/>
                    <a:lstStyle/>
                    <a:p>
                      <a:pPr algn="ctr"/>
                      <a:r>
                        <a:rPr sz="1400">
                          <a:solidFill>
                            <a:srgbClr val="1A1A2E"/>
                          </a:solidFill>
                          <a:latin typeface="Calibri"/>
                        </a:rPr>
                        <a:t>4</a:t>
                      </a:r>
                    </a:p>
                  </a:txBody>
                  <a:tcPr>
                    <a:solidFill>
                      <a:srgbClr val="F0F4F8"/>
                    </a:solidFill>
                  </a:tcPr>
                </a:tc>
                <a:tc>
                  <a:txBody>
                    <a:bodyPr/>
                    <a:lstStyle/>
                    <a:p>
                      <a:pPr algn="ctr"/>
                      <a:r>
                        <a:rPr sz="1400">
                          <a:solidFill>
                            <a:srgbClr val="1A1A2E"/>
                          </a:solidFill>
                          <a:latin typeface="Calibri"/>
                        </a:rPr>
                        <a:t>Display rendering</a:t>
                      </a:r>
                    </a:p>
                  </a:txBody>
                  <a:tcPr>
                    <a:solidFill>
                      <a:srgbClr val="F0F4F8"/>
                    </a:solidFill>
                  </a:tcPr>
                </a:tc>
                <a:tc>
                  <a:txBody>
                    <a:bodyPr/>
                    <a:lstStyle/>
                    <a:p>
                      <a:pPr algn="ctr"/>
                      <a:r>
                        <a:rPr sz="1400">
                          <a:solidFill>
                            <a:srgbClr val="1A1A2E"/>
                          </a:solidFill>
                          <a:latin typeface="Calibri"/>
                        </a:rPr>
                        <a:t>Active 64%</a:t>
                      </a:r>
                    </a:p>
                  </a:txBody>
                  <a:tcPr>
                    <a:solidFill>
                      <a:srgbClr val="F0F4F8"/>
                    </a:solidFill>
                  </a:tcPr>
                </a:tc>
                <a:tc>
                  <a:txBody>
                    <a:bodyPr/>
                    <a:lstStyle/>
                    <a:p>
                      <a:pPr algn="ctr"/>
                      <a:r>
                        <a:rPr sz="1400">
                          <a:solidFill>
                            <a:srgbClr val="1A1A2E"/>
                          </a:solidFill>
                          <a:latin typeface="Calibri"/>
                        </a:rPr>
                        <a:t>Active 19%</a:t>
                      </a:r>
                    </a:p>
                  </a:txBody>
                  <a:tcPr>
                    <a:solidFill>
                      <a:srgbClr val="F0F4F8"/>
                    </a:solidFill>
                  </a:tcPr>
                </a:tc>
                <a:tc>
                  <a:txBody>
                    <a:bodyPr/>
                    <a:lstStyle/>
                    <a:p>
                      <a:pPr algn="ctr"/>
                      <a:r>
                        <a:rPr sz="1400">
                          <a:solidFill>
                            <a:srgbClr val="1A1A2E"/>
                          </a:solidFill>
                          <a:latin typeface="Calibri"/>
                        </a:rPr>
                        <a:t>−70%</a:t>
                      </a:r>
                    </a:p>
                  </a:txBody>
                  <a:tcPr>
                    <a:solidFill>
                      <a:srgbClr val="F0F4F8"/>
                    </a:solidFill>
                  </a:tcPr>
                </a:tc>
                <a:tc>
                  <a:txBody>
                    <a:bodyPr/>
                    <a:lstStyle/>
                    <a:p>
                      <a:pPr algn="ctr"/>
                      <a:r>
                        <a:rPr sz="1400">
                          <a:solidFill>
                            <a:srgbClr val="1A1A2E"/>
                          </a:solidFill>
                          <a:latin typeface="Calibri"/>
                        </a:rPr>
                        <a:t>Visibility</a:t>
                      </a:r>
                    </a:p>
                    <a:p>
                      <a:r>
                        <a:t>gating</a:t>
                      </a:r>
                    </a:p>
                  </a:txBody>
                  <a:tcPr>
                    <a:solidFill>
                      <a:srgbClr val="F0F4F8"/>
                    </a:solidFill>
                  </a:tcPr>
                </a:tc>
              </a:tr>
              <a:tr h="475488">
                <a:tc>
                  <a:txBody>
                    <a:bodyPr/>
                    <a:lstStyle/>
                    <a:p>
                      <a:pPr algn="ctr"/>
                      <a:r>
                        <a:rPr sz="1400">
                          <a:solidFill>
                            <a:srgbClr val="1A1A2E"/>
                          </a:solidFill>
                          <a:latin typeface="Calibri"/>
                        </a:rPr>
                        <a:t>5</a:t>
                      </a:r>
                    </a:p>
                  </a:txBody>
                  <a:tcPr>
                    <a:solidFill>
                      <a:srgbClr val="FFFFFF"/>
                    </a:solidFill>
                  </a:tcPr>
                </a:tc>
                <a:tc>
                  <a:txBody>
                    <a:bodyPr/>
                    <a:lstStyle/>
                    <a:p>
                      <a:pPr algn="ctr"/>
                      <a:r>
                        <a:rPr sz="1400">
                          <a:solidFill>
                            <a:srgbClr val="1A1A2E"/>
                          </a:solidFill>
                          <a:latin typeface="Calibri"/>
                        </a:rPr>
                        <a:t>USRP decimator</a:t>
                      </a:r>
                    </a:p>
                  </a:txBody>
                  <a:tcPr>
                    <a:solidFill>
                      <a:srgbClr val="FFFFFF"/>
                    </a:solidFill>
                  </a:tcPr>
                </a:tc>
                <a:tc>
                  <a:txBody>
                    <a:bodyPr/>
                    <a:lstStyle/>
                    <a:p>
                      <a:pPr algn="ctr"/>
                      <a:r>
                        <a:rPr sz="1400">
                          <a:solidFill>
                            <a:srgbClr val="1A1A2E"/>
                          </a:solidFill>
                          <a:latin typeface="Calibri"/>
                        </a:rPr>
                        <a:t>0.215 ms/block</a:t>
                      </a:r>
                    </a:p>
                  </a:txBody>
                  <a:tcPr>
                    <a:solidFill>
                      <a:srgbClr val="FFFFFF"/>
                    </a:solidFill>
                  </a:tcPr>
                </a:tc>
                <a:tc>
                  <a:txBody>
                    <a:bodyPr/>
                    <a:lstStyle/>
                    <a:p>
                      <a:pPr algn="ctr"/>
                      <a:r>
                        <a:rPr sz="1400">
                          <a:solidFill>
                            <a:srgbClr val="1A1A2E"/>
                          </a:solidFill>
                          <a:latin typeface="Calibri"/>
                        </a:rPr>
                        <a:t>0.123 ms</a:t>
                      </a:r>
                    </a:p>
                  </a:txBody>
                  <a:tcPr>
                    <a:solidFill>
                      <a:srgbClr val="FFFFFF"/>
                    </a:solidFill>
                  </a:tcPr>
                </a:tc>
                <a:tc>
                  <a:txBody>
                    <a:bodyPr/>
                    <a:lstStyle/>
                    <a:p>
                      <a:pPr algn="ctr"/>
                      <a:r>
                        <a:rPr sz="1400">
                          <a:solidFill>
                            <a:srgbClr val="1A1A2E"/>
                          </a:solidFill>
                          <a:latin typeface="Calibri"/>
                        </a:rPr>
                        <a:t>−43%</a:t>
                      </a:r>
                    </a:p>
                  </a:txBody>
                  <a:tcPr>
                    <a:solidFill>
                      <a:srgbClr val="FFFFFF"/>
                    </a:solidFill>
                  </a:tcPr>
                </a:tc>
                <a:tc>
                  <a:txBody>
                    <a:bodyPr/>
                    <a:lstStyle/>
                    <a:p>
                      <a:pPr algn="ctr"/>
                      <a:r>
                        <a:rPr sz="1400">
                          <a:solidFill>
                            <a:srgbClr val="1A1A2E"/>
                          </a:solidFill>
                          <a:latin typeface="Calibri"/>
                        </a:rPr>
                        <a:t>scipy upfirdn</a:t>
                      </a:r>
                    </a:p>
                  </a:txBody>
                  <a:tcPr>
                    <a:solidFill>
                      <a:srgbClr val="FFFFFF"/>
                    </a:solidFill>
                  </a:tcPr>
                </a:tc>
              </a:tr>
            </a:tbl>
          </a:graphicData>
        </a:graphic>
      </p:graphicFrame>
      <p:sp>
        <p:nvSpPr>
          <p:cNvPr id="6" name="TextBox 5"/>
          <p:cNvSpPr txBox="1"/>
          <p:nvPr/>
        </p:nvSpPr>
        <p:spPr>
          <a:xfrm>
            <a:off x="365760" y="5532120"/>
            <a:ext cx="11430000" cy="822960"/>
          </a:xfrm>
          <a:prstGeom prst="rect">
            <a:avLst/>
          </a:prstGeom>
          <a:noFill/>
        </p:spPr>
        <p:txBody>
          <a:bodyPr wrap="square">
            <a:spAutoFit/>
          </a:bodyPr>
          <a:lstStyle/>
          <a:p>
            <a:pPr algn="l"/>
            <a:r>
              <a:rPr sz="1700" b="0" i="1">
                <a:solidFill>
                  <a:srgbClr val="444455"/>
                </a:solidFill>
                <a:latin typeface="Calibri"/>
              </a:rPr>
              <a:t>Starting point: 165 s backlog on a 15 s file.  End state: real-time at ≈19% Active CPU (windows closed), ≈60% Active (all displays open) — full headroom for jt9 and dual-pol.</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Techniques Summary — Right Tool for Each Problem</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Numba @njit  —  pure Python numeric loops that can't be vectorised</a:t>
            </a:r>
          </a:p>
          <a:p>
            <a:pPr lvl="1"/>
            <a:r>
              <a:rPr sz="1800" b="0" i="0">
                <a:solidFill>
                  <a:srgbClr val="444455"/>
                </a:solidFill>
                <a:latin typeface="Courier New"/>
              </a:rPr>
              <a:t>BP decoder inner loops: graph structure defeats array operations</a:t>
            </a:r>
          </a:p>
          <a:p>
            <a:pPr lvl="1"/>
            <a:r>
              <a:rPr sz="1800" b="0" i="0">
                <a:solidFill>
                  <a:srgbClr val="444455"/>
                </a:solidFill>
                <a:latin typeface="Calibri"/>
              </a:rPr>
              <a:t>Add one decorator; identical source; ~C speed from LLVM machine code</a:t>
            </a:r>
          </a:p>
          <a:p>
            <a:pPr/>
            <a:r>
              <a:rPr sz="2000" b="0" i="0">
                <a:solidFill>
                  <a:srgbClr val="1A1A2E"/>
                </a:solidFill>
                <a:latin typeface="Courier New"/>
              </a:rPr>
              <a:t>Numba @njit prange  —  parallel work with per-thread local state</a:t>
            </a:r>
          </a:p>
          <a:p>
            <a:pPr lvl="1"/>
            <a:r>
              <a:rPr sz="1800" b="0" i="0">
                <a:solidFill>
                  <a:srgbClr val="444455"/>
                </a:solidFill>
                <a:latin typeface="Calibri"/>
              </a:rPr>
              <a:t>Channelizer: 48 independent channels, each needs its own NCO phase</a:t>
            </a:r>
          </a:p>
          <a:p>
            <a:pPr lvl="1"/>
            <a:r>
              <a:rPr sz="1800" b="0" i="0">
                <a:solidFill>
                  <a:srgbClr val="444455"/>
                </a:solidFill>
                <a:latin typeface="Courier New"/>
              </a:rPr>
              <a:t>Thread-local buffer avoids cache conflicts; eliminates (n_ch, N) heap allocs</a:t>
            </a:r>
          </a:p>
          <a:p>
            <a:pPr/>
            <a:r>
              <a:rPr sz="2000" b="1" i="0">
                <a:solidFill>
                  <a:srgbClr val="1A1A2E"/>
                </a:solidFill>
                <a:latin typeface="Calibri"/>
              </a:rPr>
              <a:t>NumPy method forms  —  avoid the array-protocol dispatch layer</a:t>
            </a:r>
          </a:p>
          <a:p>
            <a:pPr lvl="1"/>
            <a:r>
              <a:rPr sz="1800" b="0" i="0">
                <a:solidFill>
                  <a:srgbClr val="444455"/>
                </a:solidFill>
                <a:latin typeface="Courier New"/>
              </a:rPr>
              <a:t>.sort(), .partition(k)  instead of np.sort(), np.partition()</a:t>
            </a:r>
          </a:p>
          <a:p>
            <a:pPr lvl="1"/>
            <a:r>
              <a:rPr sz="1800" b="0" i="0">
                <a:solidFill>
                  <a:srgbClr val="444455"/>
                </a:solidFill>
                <a:latin typeface="Calibri"/>
              </a:rPr>
              <a:t>Matters at &gt; 100 calls/second; invisible in occasional use</a:t>
            </a:r>
          </a:p>
          <a:p>
            <a:pPr/>
            <a:r>
              <a:rPr sz="2000" b="0" i="0">
                <a:solidFill>
                  <a:srgbClr val="1A1A2E"/>
                </a:solidFill>
                <a:latin typeface="Courier New"/>
              </a:rPr>
              <a:t>scipy upfirdn  —  dedicated Cython path for FIR + decimation</a:t>
            </a:r>
          </a:p>
          <a:p>
            <a:pPr lvl="1"/>
            <a:r>
              <a:rPr sz="1800" b="0" i="0">
                <a:solidFill>
                  <a:srgbClr val="444455"/>
                </a:solidFill>
                <a:latin typeface="Calibri"/>
              </a:rPr>
              <a:t>Faster than lfilter for FIR (no IIR denominator, no Python dispatch)</a:t>
            </a:r>
          </a:p>
          <a:p>
            <a:pPr lvl="1"/>
            <a:r>
              <a:rPr sz="1800" b="0" i="0">
                <a:solidFill>
                  <a:srgbClr val="444455"/>
                </a:solidFill>
                <a:latin typeface="Courier New"/>
              </a:rPr>
              <a:t>Streaming state via prepend-and-slice — no stateful API required</a:t>
            </a:r>
          </a:p>
          <a:p>
            <a:pPr/>
            <a:r>
              <a:rPr sz="2000" b="1" i="0">
                <a:solidFill>
                  <a:srgbClr val="1A1A2E"/>
                </a:solidFill>
                <a:latin typeface="Calibri"/>
              </a:rPr>
              <a:t>Architecture  —  visibility gating</a:t>
            </a:r>
          </a:p>
          <a:p>
            <a:pPr lvl="1"/>
            <a:r>
              <a:rPr sz="1800" b="0" i="0">
                <a:solidFill>
                  <a:srgbClr val="444455"/>
                </a:solidFill>
                <a:latin typeface="Courier New"/>
              </a:rPr>
              <a:t>Don't compute what nobody sees — check isVisible() once per block</a:t>
            </a:r>
          </a:p>
          <a:p>
            <a:pPr lvl="1"/>
            <a:r>
              <a:rPr sz="1800" b="0" i="0">
                <a:solidFill>
                  <a:srgbClr val="444455"/>
                </a:solidFill>
                <a:latin typeface="Calibri"/>
              </a:rPr>
              <a:t>Two-thirds of CPU saved when display windows are hidden</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Lessons from Five Rounds of Profiling</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Profile before optimising — the bottleneck is almost never where you expect</a:t>
            </a:r>
          </a:p>
          <a:p>
            <a:pPr lvl="1"/>
            <a:r>
              <a:rPr sz="1800" b="0" i="0">
                <a:solidFill>
                  <a:srgbClr val="444455"/>
                </a:solidFill>
                <a:latin typeface="Calibri"/>
              </a:rPr>
              <a:t>Round 1 looked like a display problem; it was the decoder</a:t>
            </a:r>
          </a:p>
          <a:p>
            <a:pPr lvl="1"/>
            <a:r>
              <a:rPr sz="1800" b="0" i="0">
                <a:solidFill>
                  <a:srgbClr val="444455"/>
                </a:solidFill>
                <a:latin typeface="Calibri"/>
              </a:rPr>
              <a:t>Round 5 looked like an FFT problem; it was a scipy API regression</a:t>
            </a:r>
          </a:p>
          <a:p>
            <a:pPr/>
            <a:r>
              <a:rPr sz="2000" b="1" i="0">
                <a:solidFill>
                  <a:srgbClr val="1A1A2E"/>
                </a:solidFill>
                <a:latin typeface="Calibri"/>
              </a:rPr>
              <a:t>Read GIL% and Active% together</a:t>
            </a:r>
          </a:p>
          <a:p>
            <a:pPr lvl="1"/>
            <a:r>
              <a:rPr sz="1800" b="0" i="0">
                <a:solidFill>
                  <a:srgbClr val="444455"/>
                </a:solidFill>
                <a:latin typeface="Calibri"/>
              </a:rPr>
              <a:t>Both high → Python bytecode compute → Numba or vectorise</a:t>
            </a:r>
          </a:p>
          <a:p>
            <a:pPr lvl="1"/>
            <a:r>
              <a:rPr sz="1800" b="0" i="0">
                <a:solidFill>
                  <a:srgbClr val="444455"/>
                </a:solidFill>
                <a:latin typeface="Calibri"/>
              </a:rPr>
              <a:t>Active high, GIL low → already in C → restructure, better API, less allocation</a:t>
            </a:r>
          </a:p>
          <a:p>
            <a:pPr/>
            <a:r>
              <a:rPr sz="2000" b="1" i="0">
                <a:solidFill>
                  <a:srgbClr val="1A1A2E"/>
                </a:solidFill>
                <a:latin typeface="Calibri"/>
              </a:rPr>
              <a:t>One fix unmasks the next — profiling is iterative by nature</a:t>
            </a:r>
          </a:p>
          <a:p>
            <a:pPr/>
            <a:r>
              <a:rPr sz="2000" b="1" i="0">
                <a:solidFill>
                  <a:srgbClr val="1A1A2E"/>
                </a:solidFill>
                <a:latin typeface="Calibri"/>
              </a:rPr>
              <a:t>Verify every change numerically, not just by feel</a:t>
            </a:r>
          </a:p>
          <a:p>
            <a:pPr lvl="1"/>
            <a:r>
              <a:rPr sz="1800" b="0" i="0">
                <a:solidFill>
                  <a:srgbClr val="444455"/>
                </a:solidFill>
                <a:latin typeface="Calibri"/>
              </a:rPr>
              <a:t>Compare output to a known-good reference: lfilter, Fortran BP, synthetic signals</a:t>
            </a:r>
          </a:p>
          <a:p>
            <a:pPr lvl="1"/>
            <a:r>
              <a:rPr sz="1800" b="0" i="0">
                <a:solidFill>
                  <a:srgbClr val="444455"/>
                </a:solidFill>
                <a:latin typeface="Calibri"/>
              </a:rPr>
              <a:t>A faster but wrong result is worse than a slow correct one</a:t>
            </a:r>
          </a:p>
          <a:p>
            <a:pPr/>
            <a:r>
              <a:rPr sz="2000" b="1" i="0">
                <a:solidFill>
                  <a:srgbClr val="1A1A2E"/>
                </a:solidFill>
                <a:latin typeface="Calibri"/>
              </a:rPr>
              <a:t>Gates and guards are free — computing invisible things is not</a:t>
            </a:r>
          </a:p>
          <a:p>
            <a:pPr/>
            <a:r>
              <a:rPr sz="2000" b="1" i="0">
                <a:solidFill>
                  <a:srgbClr val="1A1A2E"/>
                </a:solidFill>
                <a:latin typeface="Calibri"/>
              </a:rPr>
              <a:t>The profiler is the most important tool in the SDR performance toolkit</a:t>
            </a:r>
          </a:p>
          <a:p>
            <a:pPr lvl="1"/>
            <a:r>
              <a:rPr sz="1800" b="0" i="0">
                <a:solidFill>
                  <a:srgbClr val="444455"/>
                </a:solidFill>
                <a:latin typeface="Calibri"/>
              </a:rPr>
              <a:t>py-spy attaches with no code changes — use it early and often</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10</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Decoder Sensitivity Investigation</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A systematic hunt for 5 missing decibels</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Technical</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Problem: A 5 dB Sensitivity Gap</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Starting point: MAP144 SPD was decoding at +4.0 dB SNR (50% threshold)</a:t>
            </a:r>
          </a:p>
          <a:p>
            <a:pPr/>
            <a:r>
              <a:rPr sz="2000" b="1" i="0">
                <a:solidFill>
                  <a:srgbClr val="1A1A2E"/>
                </a:solidFill>
                <a:latin typeface="Calibri"/>
              </a:rPr>
              <a:t>Reference: WSJT-X / QEX paper reports −1.4 dB for the same mode</a:t>
            </a:r>
          </a:p>
          <a:p>
            <a:pPr/>
            <a:r>
              <a:rPr sz="2000" b="1" i="0">
                <a:solidFill>
                  <a:srgbClr val="1A1A2E"/>
                </a:solidFill>
                <a:latin typeface="Calibri"/>
              </a:rPr>
              <a:t>Gap: 5.4 dB — roughly 3.5× more signal power required</a:t>
            </a:r>
          </a:p>
          <a:p>
            <a:pPr/>
            <a:r>
              <a:rPr sz="2000" b="1" i="0">
                <a:solidFill>
                  <a:srgbClr val="1A1A2E"/>
                </a:solidFill>
                <a:latin typeface="Calibri"/>
              </a:rPr>
              <a:t>At the margin this matters:</a:t>
            </a:r>
          </a:p>
          <a:p>
            <a:pPr lvl="1"/>
            <a:r>
              <a:rPr sz="1800" b="0" i="0">
                <a:solidFill>
                  <a:srgbClr val="444455"/>
                </a:solidFill>
                <a:latin typeface="Calibri"/>
              </a:rPr>
              <a:t>A ping that WSJT-X would decode, MAP144 misses</a:t>
            </a:r>
          </a:p>
          <a:p>
            <a:pPr lvl="1"/>
            <a:r>
              <a:rPr sz="1800" b="0" i="0">
                <a:solidFill>
                  <a:srgbClr val="444455"/>
                </a:solidFill>
                <a:latin typeface="Calibri"/>
              </a:rPr>
              <a:t>Short underdense pings are right at the threshold</a:t>
            </a:r>
          </a:p>
          <a:p>
            <a:pPr/>
            <a:r>
              <a:rPr sz="2000" b="1" i="0">
                <a:solidFill>
                  <a:srgbClr val="1A1A2E"/>
                </a:solidFill>
                <a:latin typeface="Calibri"/>
              </a:rPr>
              <a:t>Three candidate explanations identified:</a:t>
            </a:r>
          </a:p>
          <a:p>
            <a:pPr lvl="1"/>
            <a:r>
              <a:rPr sz="1800" b="0" i="0">
                <a:solidFill>
                  <a:srgbClr val="444455"/>
                </a:solidFill>
                <a:latin typeface="Calibri"/>
              </a:rPr>
              <a:t>Signal path: does converting to real audio double the noise?</a:t>
            </a:r>
          </a:p>
          <a:p>
            <a:pPr lvl="1"/>
            <a:r>
              <a:rPr sz="1800" b="0" i="0">
                <a:solidFill>
                  <a:srgbClr val="444455"/>
                </a:solidFill>
                <a:latin typeface="Calibri"/>
              </a:rPr>
              <a:t>Decoder: is the Python BP decoder less sensitive than the Fortran?</a:t>
            </a:r>
          </a:p>
          <a:p>
            <a:pPr lvl="1"/>
            <a:r>
              <a:rPr sz="1800" b="0" i="0">
                <a:solidFill>
                  <a:srgbClr val="444455"/>
                </a:solidFill>
                <a:latin typeface="Calibri"/>
              </a:rPr>
              <a:t>SPD pipeline: overhead from detection, sync, and frame averaging?</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Test Framework</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Required: reproducible sensitivity measurements at known SNR</a:t>
            </a:r>
          </a:p>
          <a:p>
            <a:pPr/>
            <a:r>
              <a:rPr sz="2000" b="1" i="0">
                <a:solidFill>
                  <a:srgbClr val="1A1A2E"/>
                </a:solidFill>
                <a:latin typeface="Calibri"/>
              </a:rPr>
              <a:t>decode_sensitivity.py — single-frame SNR sweep</a:t>
            </a:r>
          </a:p>
          <a:p>
            <a:pPr lvl="1"/>
            <a:r>
              <a:rPr sz="1800" b="0" i="0">
                <a:solidFill>
                  <a:srgbClr val="444455"/>
                </a:solidFill>
                <a:latin typeface="Calibri"/>
              </a:rPr>
              <a:t>Generates synthetic MSK144 at 12 kHz complex baseband</a:t>
            </a:r>
          </a:p>
          <a:p>
            <a:pPr lvl="1"/>
            <a:r>
              <a:rPr sz="1800" b="0" i="0">
                <a:solidFill>
                  <a:srgbClr val="444455"/>
                </a:solidFill>
                <a:latin typeface="Calibri"/>
              </a:rPr>
              <a:t>Adds AWGN at calibrated SNR levels (2500 Hz BW reference)</a:t>
            </a:r>
          </a:p>
          <a:p>
            <a:pPr lvl="1"/>
            <a:r>
              <a:rPr sz="1800" b="0" i="0">
                <a:solidFill>
                  <a:srgbClr val="444455"/>
                </a:solidFill>
                <a:latin typeface="Calibri"/>
              </a:rPr>
              <a:t>Calls msk144decodeframe directly — no pipeline, no jt9 subprocess</a:t>
            </a:r>
          </a:p>
          <a:p>
            <a:pPr lvl="1"/>
            <a:r>
              <a:rPr sz="1800" b="0" i="0">
                <a:solidFill>
                  <a:srgbClr val="444455"/>
                </a:solidFill>
                <a:latin typeface="Calibri"/>
              </a:rPr>
              <a:t>Measures 50% decode threshold across N trials per SNR level</a:t>
            </a:r>
          </a:p>
          <a:p>
            <a:pPr/>
            <a:r>
              <a:rPr sz="2000" b="1" i="0">
                <a:solidFill>
                  <a:srgbClr val="1A1A2E"/>
                </a:solidFill>
                <a:latin typeface="Calibri"/>
              </a:rPr>
              <a:t>gap3_diagnose.py — full SPD pipeline diagnostic</a:t>
            </a:r>
          </a:p>
          <a:p>
            <a:pPr lvl="1"/>
            <a:r>
              <a:rPr sz="1800" b="0" i="0">
                <a:solidFill>
                  <a:srgbClr val="444455"/>
                </a:solidFill>
                <a:latin typeface="Calibri"/>
              </a:rPr>
              <a:t>Runs the complete SPD path (detect → sync → frame avg → decode)</a:t>
            </a:r>
          </a:p>
          <a:p>
            <a:pPr lvl="1"/>
            <a:r>
              <a:rPr sz="1800" b="0" i="0">
                <a:solidFill>
                  <a:srgbClr val="444455"/>
                </a:solidFill>
                <a:latin typeface="Calibri"/>
              </a:rPr>
              <a:t>Oracle modes: bypass detection, bypass sync to isolate each stage</a:t>
            </a:r>
          </a:p>
          <a:p>
            <a:pPr lvl="1"/>
            <a:r>
              <a:rPr sz="1800" b="0" i="0">
                <a:solidFill>
                  <a:srgbClr val="444455"/>
                </a:solidFill>
                <a:latin typeface="Calibri"/>
              </a:rPr>
              <a:t>Reports det_miss / sync_miss / oracle_decode_miss per SNR level</a:t>
            </a:r>
          </a:p>
          <a:p>
            <a:pPr/>
            <a:r>
              <a:rPr sz="2000" b="1" i="0">
                <a:solidFill>
                  <a:srgbClr val="1A1A2E"/>
                </a:solidFill>
                <a:latin typeface="Calibri"/>
              </a:rPr>
              <a:t>Fortran test executables — cross-language decoder verification</a:t>
            </a:r>
          </a:p>
          <a:p>
            <a:pPr lvl="1"/>
            <a:r>
              <a:rPr sz="1800" b="0" i="0">
                <a:solidFill>
                  <a:srgbClr val="444455"/>
                </a:solidFill>
                <a:latin typeface="Calibri"/>
              </a:rPr>
              <a:t>Built bp_test and mf_test from the WSJT-X Fortran source</a:t>
            </a:r>
          </a:p>
          <a:p>
            <a:pPr lvl="1"/>
            <a:r>
              <a:rPr sz="1800" b="0" i="0">
                <a:solidFill>
                  <a:srgbClr val="444455"/>
                </a:solidFill>
                <a:latin typeface="Calibri"/>
              </a:rPr>
              <a:t>Fed identical LLRs to both Python and Fortran, compared frame-by-frame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Gap 1: The Real-Audio Path Doubles Noise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Current pipeline: complex IQ → take real part → Hilbert transform</a:t>
            </a:r>
          </a:p>
          <a:p>
            <a:pPr lvl="1"/>
            <a:r>
              <a:rPr sz="1800" b="0" i="0">
                <a:solidFill>
                  <a:srgbClr val="444455"/>
                </a:solidFill>
                <a:latin typeface="Calibri"/>
              </a:rPr>
              <a:t>Goal: recover the analytic signal for the sync correlator</a:t>
            </a:r>
          </a:p>
          <a:p>
            <a:pPr/>
            <a:r>
              <a:rPr sz="2000" b="1" i="0">
                <a:solidFill>
                  <a:srgbClr val="1A1A2E"/>
                </a:solidFill>
                <a:latin typeface="Calibri"/>
              </a:rPr>
              <a:t>The problem: taking Re{z} discards the Q channel — half the signal</a:t>
            </a:r>
          </a:p>
          <a:p>
            <a:pPr lvl="1"/>
            <a:r>
              <a:rPr sz="1800" b="0" i="0">
                <a:solidFill>
                  <a:srgbClr val="444455"/>
                </a:solidFill>
                <a:latin typeface="Calibri"/>
              </a:rPr>
              <a:t>Then Hilbert re-synthesizes Q from I, but includes the noise in I twice</a:t>
            </a:r>
          </a:p>
          <a:p>
            <a:pPr lvl="1"/>
            <a:r>
              <a:rPr sz="1800" b="0" i="0">
                <a:solidFill>
                  <a:srgbClr val="444455"/>
                </a:solidFill>
                <a:latin typeface="Calibri"/>
              </a:rPr>
              <a:t>Result: noise power doubles relative to signal power — a 3 dB penalty</a:t>
            </a:r>
          </a:p>
          <a:p>
            <a:pPr/>
            <a:r>
              <a:rPr sz="2000" b="1" i="0">
                <a:solidFill>
                  <a:srgbClr val="1A1A2E"/>
                </a:solidFill>
                <a:latin typeface="Calibri"/>
              </a:rPr>
              <a:t>The fix: pass complex IQ directly, skip Hilbert entirely</a:t>
            </a:r>
          </a:p>
          <a:p>
            <a:pPr lvl="1"/>
            <a:r>
              <a:rPr sz="1800" b="0" i="0">
                <a:solidFill>
                  <a:srgbClr val="444455"/>
                </a:solidFill>
                <a:latin typeface="Calibri"/>
              </a:rPr>
              <a:t>Channelizer already produces complex baseband IQ</a:t>
            </a:r>
          </a:p>
          <a:p>
            <a:pPr lvl="1"/>
            <a:r>
              <a:rPr sz="1800" b="0" i="0">
                <a:solidFill>
                  <a:srgbClr val="444455"/>
                </a:solidFill>
                <a:latin typeface="Calibri"/>
              </a:rPr>
              <a:t>Add complex_baseband parameter to msk144_spd_decode()</a:t>
            </a:r>
          </a:p>
          <a:p>
            <a:pPr lvl="1"/>
            <a:r>
              <a:rPr sz="1800" b="0" i="0">
                <a:solidFill>
                  <a:srgbClr val="444455"/>
                </a:solidFill>
                <a:latin typeface="Calibri"/>
              </a:rPr>
              <a:t>Scale by √2 to match the sync correlator's amplitude convention</a:t>
            </a:r>
          </a:p>
          <a:p>
            <a:pPr/>
            <a:r>
              <a:rPr sz="2000" b="1" i="0">
                <a:solidFill>
                  <a:srgbClr val="1A1A2E"/>
                </a:solidFill>
                <a:latin typeface="Calibri"/>
              </a:rPr>
              <a:t>The √2 scale matters — correlator threshold 1.3 was calibrated for the Hilbert path</a:t>
            </a:r>
          </a:p>
          <a:p>
            <a:pPr lvl="1"/>
            <a:r>
              <a:rPr sz="1800" b="0" i="0">
                <a:solidFill>
                  <a:srgbClr val="444455"/>
                </a:solidFill>
                <a:latin typeface="Calibri"/>
              </a:rPr>
              <a:t>Without it: complex path is √2 under-scaled → 3 dB detection loss</a:t>
            </a:r>
          </a:p>
          <a:p>
            <a:pPr lvl="1"/>
            <a:r>
              <a:rPr sz="1800" b="0" i="0">
                <a:solidFill>
                  <a:srgbClr val="444455"/>
                </a:solidFill>
                <a:latin typeface="Calibri"/>
              </a:rPr>
              <a:t>This partially cancels the 3 dB noise gain — net improvement only 0.8 dB</a:t>
            </a:r>
          </a:p>
          <a:p>
            <a:pPr lvl="1"/>
            <a:r>
              <a:rPr sz="1800" b="0" i="0">
                <a:solidFill>
                  <a:srgbClr val="444455"/>
                </a:solidFill>
                <a:latin typeface="Calibri"/>
              </a:rPr>
              <a:t>With √2 fix: full benefit recovered</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Gap 1: Results — Complex IQ Path</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Measured SPD 50% decode threshold vs path:</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377440"/>
          <a:ext cx="10972800" cy="1828800"/>
        </p:xfrm>
        <a:graphic>
          <a:graphicData uri="http://schemas.openxmlformats.org/drawingml/2006/table">
            <a:tbl>
              <a:tblPr firstRow="1" bandRow="1">
                <a:tableStyleId>{5C22544A-7EE6-4342-B048-85BDC9FD1C3A}</a:tableStyleId>
              </a:tblPr>
              <a:tblGrid>
                <a:gridCol w="5029200"/>
                <a:gridCol w="3200400"/>
                <a:gridCol w="2743200"/>
              </a:tblGrid>
              <a:tr h="457200">
                <a:tc>
                  <a:txBody>
                    <a:bodyPr/>
                    <a:lstStyle/>
                    <a:p>
                      <a:pPr algn="ctr"/>
                      <a:r>
                        <a:rPr sz="1400" b="1">
                          <a:solidFill>
                            <a:srgbClr val="FFFFFF"/>
                          </a:solidFill>
                          <a:latin typeface="Calibri"/>
                        </a:rPr>
                        <a:t>Signal path</a:t>
                      </a:r>
                    </a:p>
                  </a:txBody>
                  <a:tcPr>
                    <a:solidFill>
                      <a:srgbClr val="1B3A6B"/>
                    </a:solidFill>
                  </a:tcPr>
                </a:tc>
                <a:tc>
                  <a:txBody>
                    <a:bodyPr/>
                    <a:lstStyle/>
                    <a:p>
                      <a:pPr algn="ctr"/>
                      <a:r>
                        <a:rPr sz="1400" b="1">
                          <a:solidFill>
                            <a:srgbClr val="FFFFFF"/>
                          </a:solidFill>
                          <a:latin typeface="Calibri"/>
                        </a:rPr>
                        <a:t>SPD 50% threshold</a:t>
                      </a:r>
                    </a:p>
                  </a:txBody>
                  <a:tcPr>
                    <a:solidFill>
                      <a:srgbClr val="1B3A6B"/>
                    </a:solidFill>
                  </a:tcPr>
                </a:tc>
                <a:tc>
                  <a:txBody>
                    <a:bodyPr/>
                    <a:lstStyle/>
                    <a:p>
                      <a:pPr algn="ctr"/>
                      <a:r>
                        <a:rPr sz="1400" b="1">
                          <a:solidFill>
                            <a:srgbClr val="FFFFFF"/>
                          </a:solidFill>
                          <a:latin typeface="Calibri"/>
                        </a:rPr>
                        <a:t>Gain vs baseline</a:t>
                      </a:r>
                    </a:p>
                  </a:txBody>
                  <a:tcPr>
                    <a:solidFill>
                      <a:srgbClr val="1B3A6B"/>
                    </a:solidFill>
                  </a:tcPr>
                </a:tc>
              </a:tr>
              <a:tr h="457200">
                <a:tc>
                  <a:txBody>
                    <a:bodyPr/>
                    <a:lstStyle/>
                    <a:p>
                      <a:pPr algn="ctr"/>
                      <a:r>
                        <a:rPr sz="1400">
                          <a:solidFill>
                            <a:srgbClr val="1A1A2E"/>
                          </a:solidFill>
                          <a:latin typeface="Calibri"/>
                        </a:rPr>
                        <a:t>Real audio (baseline)</a:t>
                      </a:r>
                    </a:p>
                  </a:txBody>
                  <a:tcPr>
                    <a:solidFill>
                      <a:srgbClr val="F0F4F8"/>
                    </a:solidFill>
                  </a:tcPr>
                </a:tc>
                <a:tc>
                  <a:txBody>
                    <a:bodyPr/>
                    <a:lstStyle/>
                    <a:p>
                      <a:pPr algn="ctr"/>
                      <a:r>
                        <a:rPr sz="1400">
                          <a:solidFill>
                            <a:srgbClr val="1A1A2E"/>
                          </a:solidFill>
                          <a:latin typeface="Calibri"/>
                        </a:rPr>
                        <a:t>+4.0 dB</a:t>
                      </a:r>
                    </a:p>
                  </a:txBody>
                  <a:tcPr>
                    <a:solidFill>
                      <a:srgbClr val="F0F4F8"/>
                    </a:solidFill>
                  </a:tcPr>
                </a:tc>
                <a:tc>
                  <a:txBody>
                    <a:bodyPr/>
                    <a:lstStyle/>
                    <a:p>
                      <a:pPr algn="ctr"/>
                      <a:r>
                        <a:rPr sz="1400">
                          <a:solidFill>
                            <a:srgbClr val="1A1A2E"/>
                          </a:solidFill>
                          <a:latin typeface="Calibri"/>
                        </a:rPr>
                        <a:t>—</a:t>
                      </a:r>
                    </a:p>
                  </a:txBody>
                  <a:tcPr>
                    <a:solidFill>
                      <a:srgbClr val="F0F4F8"/>
                    </a:solidFill>
                  </a:tcPr>
                </a:tc>
              </a:tr>
              <a:tr h="457200">
                <a:tc>
                  <a:txBody>
                    <a:bodyPr/>
                    <a:lstStyle/>
                    <a:p>
                      <a:pPr algn="ctr"/>
                      <a:r>
                        <a:rPr sz="1400">
                          <a:solidFill>
                            <a:srgbClr val="1A1A2E"/>
                          </a:solidFill>
                          <a:latin typeface="Calibri"/>
                        </a:rPr>
                        <a:t>Complex IQ, no √2 fix</a:t>
                      </a:r>
                    </a:p>
                  </a:txBody>
                  <a:tcPr>
                    <a:solidFill>
                      <a:srgbClr val="FFFFFF"/>
                    </a:solidFill>
                  </a:tcPr>
                </a:tc>
                <a:tc>
                  <a:txBody>
                    <a:bodyPr/>
                    <a:lstStyle/>
                    <a:p>
                      <a:pPr algn="ctr"/>
                      <a:r>
                        <a:rPr sz="1400">
                          <a:solidFill>
                            <a:srgbClr val="1A1A2E"/>
                          </a:solidFill>
                          <a:latin typeface="Calibri"/>
                        </a:rPr>
                        <a:t>+3.2 dB</a:t>
                      </a:r>
                    </a:p>
                  </a:txBody>
                  <a:tcPr>
                    <a:solidFill>
                      <a:srgbClr val="FFFFFF"/>
                    </a:solidFill>
                  </a:tcPr>
                </a:tc>
                <a:tc>
                  <a:txBody>
                    <a:bodyPr/>
                    <a:lstStyle/>
                    <a:p>
                      <a:pPr algn="ctr"/>
                      <a:r>
                        <a:rPr sz="1400">
                          <a:solidFill>
                            <a:srgbClr val="1A1A2E"/>
                          </a:solidFill>
                          <a:latin typeface="Calibri"/>
                        </a:rPr>
                        <a:t>+0.8 dB</a:t>
                      </a:r>
                    </a:p>
                  </a:txBody>
                  <a:tcPr>
                    <a:solidFill>
                      <a:srgbClr val="FFFFFF"/>
                    </a:solidFill>
                  </a:tcPr>
                </a:tc>
              </a:tr>
              <a:tr h="457200">
                <a:tc>
                  <a:txBody>
                    <a:bodyPr/>
                    <a:lstStyle/>
                    <a:p>
                      <a:pPr algn="ctr"/>
                      <a:r>
                        <a:rPr sz="1400">
                          <a:solidFill>
                            <a:srgbClr val="1A1A2E"/>
                          </a:solidFill>
                          <a:latin typeface="Calibri"/>
                        </a:rPr>
                        <a:t>Complex IQ + √2 scale (Gap 1 fix)</a:t>
                      </a:r>
                    </a:p>
                  </a:txBody>
                  <a:tcPr>
                    <a:solidFill>
                      <a:srgbClr val="F0F4F8"/>
                    </a:solidFill>
                  </a:tcPr>
                </a:tc>
                <a:tc>
                  <a:txBody>
                    <a:bodyPr/>
                    <a:lstStyle/>
                    <a:p>
                      <a:pPr algn="ctr"/>
                      <a:r>
                        <a:rPr sz="1400">
                          <a:solidFill>
                            <a:srgbClr val="1A1A2E"/>
                          </a:solidFill>
                          <a:latin typeface="Calibri"/>
                        </a:rPr>
                        <a:t>+1.4 dB</a:t>
                      </a:r>
                    </a:p>
                  </a:txBody>
                  <a:tcPr>
                    <a:solidFill>
                      <a:srgbClr val="F0F4F8"/>
                    </a:solidFill>
                  </a:tcPr>
                </a:tc>
                <a:tc>
                  <a:txBody>
                    <a:bodyPr/>
                    <a:lstStyle/>
                    <a:p>
                      <a:pPr algn="ctr"/>
                      <a:r>
                        <a:rPr sz="1400">
                          <a:solidFill>
                            <a:srgbClr val="1A1A2E"/>
                          </a:solidFill>
                          <a:latin typeface="Calibri"/>
                        </a:rPr>
                        <a:t>+2.6 dB</a:t>
                      </a:r>
                    </a:p>
                  </a:txBody>
                  <a:tcPr>
                    <a:solidFill>
                      <a:srgbClr val="F0F4F8"/>
                    </a:solidFill>
                  </a:tcPr>
                </a:tc>
              </a:tr>
            </a:tbl>
          </a:graphicData>
        </a:graphic>
      </p:graphicFrame>
      <p:sp>
        <p:nvSpPr>
          <p:cNvPr id="6" name="TextBox 5"/>
          <p:cNvSpPr txBox="1"/>
          <p:nvPr/>
        </p:nvSpPr>
        <p:spPr>
          <a:xfrm>
            <a:off x="365760" y="4389120"/>
            <a:ext cx="11430000" cy="822960"/>
          </a:xfrm>
          <a:prstGeom prst="rect">
            <a:avLst/>
          </a:prstGeom>
          <a:noFill/>
        </p:spPr>
        <p:txBody>
          <a:bodyPr wrap="square">
            <a:spAutoFit/>
          </a:bodyPr>
          <a:lstStyle/>
          <a:p>
            <a:pPr algn="l"/>
            <a:r>
              <a:rPr sz="1800" b="0" i="1">
                <a:solidFill>
                  <a:srgbClr val="444455"/>
                </a:solidFill>
                <a:latin typeface="Calibri"/>
              </a:rPr>
              <a:t>The √2 fix recovered 1.8 dB that a naive implementation left on the table. Remaining gap after Gap 1: +1.4 dB − (−1.4 dB reference) = 2.8 dB.</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Gap 2: Is the Python Decoder Less Sensitive?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Hypothesis: Python port of BP decoder might be less sensitive than Fortran</a:t>
            </a:r>
          </a:p>
          <a:p>
            <a:pPr lvl="1"/>
            <a:r>
              <a:rPr sz="1800" b="0" i="0">
                <a:solidFill>
                  <a:srgbClr val="444455"/>
                </a:solidFill>
                <a:latin typeface="Calibri"/>
              </a:rPr>
              <a:t>+1.4 dB remaining gap — could the Python decoder account for it?</a:t>
            </a:r>
          </a:p>
          <a:p>
            <a:pPr/>
            <a:r>
              <a:rPr sz="2000" b="1" i="0">
                <a:solidFill>
                  <a:srgbClr val="1A1A2E"/>
                </a:solidFill>
                <a:latin typeface="Calibri"/>
              </a:rPr>
              <a:t>Test strategy: build Fortran test executables from WSJT-X source</a:t>
            </a:r>
          </a:p>
          <a:p>
            <a:pPr lvl="1"/>
            <a:r>
              <a:rPr sz="1800" b="0" i="0">
                <a:solidFill>
                  <a:srgbClr val="444455"/>
                </a:solidFill>
                <a:latin typeface="Calibri"/>
              </a:rPr>
              <a:t>Extracted bpdecode128_90.f90 and msk144decodeframe.f90</a:t>
            </a:r>
          </a:p>
          <a:p>
            <a:pPr lvl="1"/>
            <a:r>
              <a:rPr sz="1800" b="0" i="0">
                <a:solidFill>
                  <a:srgbClr val="444455"/>
                </a:solidFill>
                <a:latin typeface="Calibri"/>
              </a:rPr>
              <a:t>Compiled with gfortran, linked against the same tables as WSJT-X</a:t>
            </a:r>
          </a:p>
          <a:p>
            <a:pPr lvl="1"/>
            <a:r>
              <a:rPr sz="1800" b="0" i="0">
                <a:solidFill>
                  <a:srgbClr val="444455"/>
                </a:solidFill>
                <a:latin typeface="Calibri"/>
              </a:rPr>
              <a:t>Wrote a C bridge to call Fortran from Python test harness</a:t>
            </a:r>
          </a:p>
          <a:p>
            <a:pPr/>
            <a:r>
              <a:rPr sz="2000" b="1" i="0">
                <a:solidFill>
                  <a:srgbClr val="1A1A2E"/>
                </a:solidFill>
                <a:latin typeface="Calibri"/>
              </a:rPr>
              <a:t>Comparison: feed identical LLRs to Python and Fortran, compare output frame-by-frame</a:t>
            </a:r>
          </a:p>
          <a:p>
            <a:pPr lvl="1"/>
            <a:r>
              <a:rPr sz="1800" b="0" i="0">
                <a:solidFill>
                  <a:srgbClr val="444455"/>
                </a:solidFill>
                <a:latin typeface="Calibri"/>
              </a:rPr>
              <a:t>bp_test: Python bpdecode128_90 vs Fortran bpdecode128_90</a:t>
            </a:r>
          </a:p>
          <a:p>
            <a:pPr lvl="1"/>
            <a:r>
              <a:rPr sz="1800" b="0" i="0">
                <a:solidFill>
                  <a:srgbClr val="444455"/>
                </a:solidFill>
                <a:latin typeface="Calibri"/>
              </a:rPr>
              <a:t>mf_test: full Python msk144decodeframe vs Fortran equivalent</a:t>
            </a:r>
          </a:p>
          <a:p>
            <a:pPr/>
            <a:r>
              <a:rPr sz="2000" b="1" i="0">
                <a:solidFill>
                  <a:srgbClr val="1A1A2E"/>
                </a:solidFill>
                <a:latin typeface="Calibri"/>
              </a:rPr>
              <a:t>200 trials per SNR level, −2 to +2 dB range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Gap 2: Python vs Fortran — The Verdict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Frame-by-frame agreement across 200 trials × 5 SNR levels:</a:t>
            </a:r>
          </a:p>
          <a:p>
            <a:pPr/>
            <a:r>
              <a:rPr sz="2000" b="1" i="0">
                <a:solidFill>
                  <a:srgbClr val="1A1A2E"/>
                </a:solidFill>
                <a:latin typeface="Calibri"/>
              </a:rPr>
              <a:t> </a:t>
            </a:r>
          </a:p>
          <a:p>
            <a:pPr/>
            <a:r>
              <a:rPr sz="2000" b="1" i="0">
                <a:solidFill>
                  <a:srgbClr val="1A1A2E"/>
                </a:solidFill>
                <a:latin typeface="Calibri"/>
              </a:rPr>
              <a:t> </a:t>
            </a:r>
          </a:p>
          <a:p>
            <a:pPr/>
            <a:r>
              <a:rPr sz="2000" b="1" i="0">
                <a:solidFill>
                  <a:srgbClr val="1A1A2E"/>
                </a:solidFill>
                <a:latin typeface="Calibri"/>
              </a:rPr>
              <a:t> </a:t>
            </a:r>
          </a:p>
          <a:p>
            <a:pPr/>
            <a:r>
              <a:rPr sz="2000" b="1" i="0">
                <a:solidFill>
                  <a:srgbClr val="1A1A2E"/>
                </a:solidFill>
                <a:latin typeface="Calibri"/>
              </a:rPr>
              <a:t>Conclusion: the Python decoder is correct. The QEX −1.4 dB reference reflects different test conditions — likely multi-frame SPD averaging or a different SNR convention. There is no decoder gap to close.</a:t>
            </a:r>
          </a:p>
          <a:p>
            <a:pPr lvl="1"/>
            <a:r>
              <a:rPr sz="1800" b="0" i="0">
                <a:solidFill>
                  <a:srgbClr val="444455"/>
                </a:solidFill>
                <a:latin typeface="Calibri"/>
              </a:rPr>
              <a:t>Remaining 1.4 dB gap is entirely in the SPD detection pipeline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2194560"/>
          <a:ext cx="11430000" cy="1508760"/>
        </p:xfrm>
        <a:graphic>
          <a:graphicData uri="http://schemas.openxmlformats.org/drawingml/2006/table">
            <a:tbl>
              <a:tblPr firstRow="1" bandRow="1">
                <a:tableStyleId>{5C22544A-7EE6-4342-B048-85BDC9FD1C3A}</a:tableStyleId>
              </a:tblPr>
              <a:tblGrid>
                <a:gridCol w="2011680"/>
                <a:gridCol w="2743200"/>
                <a:gridCol w="2743200"/>
                <a:gridCol w="2103120"/>
                <a:gridCol w="1828800"/>
              </a:tblGrid>
              <a:tr h="502920">
                <a:tc>
                  <a:txBody>
                    <a:bodyPr/>
                    <a:lstStyle/>
                    <a:p>
                      <a:pPr algn="ctr"/>
                      <a:r>
                        <a:rPr sz="1400" b="1">
                          <a:solidFill>
                            <a:srgbClr val="FFFFFF"/>
                          </a:solidFill>
                          <a:latin typeface="Calibri"/>
                        </a:rPr>
                        <a:t>Test</a:t>
                      </a:r>
                    </a:p>
                  </a:txBody>
                  <a:tcPr>
                    <a:solidFill>
                      <a:srgbClr val="1B3A6B"/>
                    </a:solidFill>
                  </a:tcPr>
                </a:tc>
                <a:tc>
                  <a:txBody>
                    <a:bodyPr/>
                    <a:lstStyle/>
                    <a:p>
                      <a:pPr algn="ctr"/>
                      <a:r>
                        <a:rPr sz="1400" b="1">
                          <a:solidFill>
                            <a:srgbClr val="FFFFFF"/>
                          </a:solidFill>
                          <a:latin typeface="Calibri"/>
                        </a:rPr>
                        <a:t>Decoder A</a:t>
                      </a:r>
                    </a:p>
                  </a:txBody>
                  <a:tcPr>
                    <a:solidFill>
                      <a:srgbClr val="1B3A6B"/>
                    </a:solidFill>
                  </a:tcPr>
                </a:tc>
                <a:tc>
                  <a:txBody>
                    <a:bodyPr/>
                    <a:lstStyle/>
                    <a:p>
                      <a:pPr algn="ctr"/>
                      <a:r>
                        <a:rPr sz="1400" b="1">
                          <a:solidFill>
                            <a:srgbClr val="FFFFFF"/>
                          </a:solidFill>
                          <a:latin typeface="Calibri"/>
                        </a:rPr>
                        <a:t>Decoder B</a:t>
                      </a:r>
                    </a:p>
                  </a:txBody>
                  <a:tcPr>
                    <a:solidFill>
                      <a:srgbClr val="1B3A6B"/>
                    </a:solidFill>
                  </a:tcPr>
                </a:tc>
                <a:tc>
                  <a:txBody>
                    <a:bodyPr/>
                    <a:lstStyle/>
                    <a:p>
                      <a:pPr algn="ctr"/>
                      <a:r>
                        <a:rPr sz="1400" b="1">
                          <a:solidFill>
                            <a:srgbClr val="FFFFFF"/>
                          </a:solidFill>
                          <a:latin typeface="Calibri"/>
                        </a:rPr>
                        <a:t>Agreement</a:t>
                      </a:r>
                    </a:p>
                  </a:txBody>
                  <a:tcPr>
                    <a:solidFill>
                      <a:srgbClr val="1B3A6B"/>
                    </a:solidFill>
                  </a:tcPr>
                </a:tc>
                <a:tc>
                  <a:txBody>
                    <a:bodyPr/>
                    <a:lstStyle/>
                    <a:p>
                      <a:pPr algn="ctr"/>
                      <a:r>
                        <a:rPr sz="1400" b="1">
                          <a:solidFill>
                            <a:srgbClr val="FFFFFF"/>
                          </a:solidFill>
                          <a:latin typeface="Calibri"/>
                        </a:rPr>
                        <a:t>50% threshold</a:t>
                      </a:r>
                    </a:p>
                  </a:txBody>
                  <a:tcPr>
                    <a:solidFill>
                      <a:srgbClr val="1B3A6B"/>
                    </a:solidFill>
                  </a:tcPr>
                </a:tc>
              </a:tr>
              <a:tr h="502920">
                <a:tc>
                  <a:txBody>
                    <a:bodyPr/>
                    <a:lstStyle/>
                    <a:p>
                      <a:pPr algn="ctr"/>
                      <a:r>
                        <a:rPr sz="1400">
                          <a:solidFill>
                            <a:srgbClr val="1A1A2E"/>
                          </a:solidFill>
                          <a:latin typeface="Calibri"/>
                        </a:rPr>
                        <a:t>BP decoder only</a:t>
                      </a:r>
                    </a:p>
                  </a:txBody>
                  <a:tcPr>
                    <a:solidFill>
                      <a:srgbClr val="F0F4F8"/>
                    </a:solidFill>
                  </a:tcPr>
                </a:tc>
                <a:tc>
                  <a:txBody>
                    <a:bodyPr/>
                    <a:lstStyle/>
                    <a:p>
                      <a:pPr algn="ctr"/>
                      <a:r>
                        <a:rPr sz="1400">
                          <a:solidFill>
                            <a:srgbClr val="1A1A2E"/>
                          </a:solidFill>
                          <a:latin typeface="Calibri"/>
                        </a:rPr>
                        <a:t>Python bpdecode128_90</a:t>
                      </a:r>
                    </a:p>
                  </a:txBody>
                  <a:tcPr>
                    <a:solidFill>
                      <a:srgbClr val="F0F4F8"/>
                    </a:solidFill>
                  </a:tcPr>
                </a:tc>
                <a:tc>
                  <a:txBody>
                    <a:bodyPr/>
                    <a:lstStyle/>
                    <a:p>
                      <a:pPr algn="ctr"/>
                      <a:r>
                        <a:rPr sz="1400">
                          <a:solidFill>
                            <a:srgbClr val="1A1A2E"/>
                          </a:solidFill>
                          <a:latin typeface="Calibri"/>
                        </a:rPr>
                        <a:t>Fortran bpdecode128_90</a:t>
                      </a:r>
                    </a:p>
                  </a:txBody>
                  <a:tcPr>
                    <a:solidFill>
                      <a:srgbClr val="F0F4F8"/>
                    </a:solidFill>
                  </a:tcPr>
                </a:tc>
                <a:tc>
                  <a:txBody>
                    <a:bodyPr/>
                    <a:lstStyle/>
                    <a:p>
                      <a:pPr algn="ctr"/>
                      <a:r>
                        <a:rPr sz="1400">
                          <a:solidFill>
                            <a:srgbClr val="1A1A2E"/>
                          </a:solidFill>
                          <a:latin typeface="Calibri"/>
                        </a:rPr>
                        <a:t>100% every frame</a:t>
                      </a:r>
                    </a:p>
                  </a:txBody>
                  <a:tcPr>
                    <a:solidFill>
                      <a:srgbClr val="F0F4F8"/>
                    </a:solidFill>
                  </a:tcPr>
                </a:tc>
                <a:tc>
                  <a:txBody>
                    <a:bodyPr/>
                    <a:lstStyle/>
                    <a:p>
                      <a:pPr algn="ctr"/>
                      <a:r>
                        <a:rPr sz="1400">
                          <a:solidFill>
                            <a:srgbClr val="1A1A2E"/>
                          </a:solidFill>
                          <a:latin typeface="Calibri"/>
                        </a:rPr>
                        <a:t>—</a:t>
                      </a:r>
                    </a:p>
                  </a:txBody>
                  <a:tcPr>
                    <a:solidFill>
                      <a:srgbClr val="F0F4F8"/>
                    </a:solidFill>
                  </a:tcPr>
                </a:tc>
              </a:tr>
              <a:tr h="502920">
                <a:tc>
                  <a:txBody>
                    <a:bodyPr/>
                    <a:lstStyle/>
                    <a:p>
                      <a:pPr algn="ctr"/>
                      <a:r>
                        <a:rPr sz="1400">
                          <a:solidFill>
                            <a:srgbClr val="1A1A2E"/>
                          </a:solidFill>
                          <a:latin typeface="Calibri"/>
                        </a:rPr>
                        <a:t>Full frame decoder</a:t>
                      </a:r>
                    </a:p>
                  </a:txBody>
                  <a:tcPr>
                    <a:solidFill>
                      <a:srgbClr val="FFFFFF"/>
                    </a:solidFill>
                  </a:tcPr>
                </a:tc>
                <a:tc>
                  <a:txBody>
                    <a:bodyPr/>
                    <a:lstStyle/>
                    <a:p>
                      <a:pPr algn="ctr"/>
                      <a:r>
                        <a:rPr sz="1400">
                          <a:solidFill>
                            <a:srgbClr val="1A1A2E"/>
                          </a:solidFill>
                          <a:latin typeface="Calibri"/>
                        </a:rPr>
                        <a:t>Python msk144decodeframe</a:t>
                      </a:r>
                    </a:p>
                  </a:txBody>
                  <a:tcPr>
                    <a:solidFill>
                      <a:srgbClr val="FFFFFF"/>
                    </a:solidFill>
                  </a:tcPr>
                </a:tc>
                <a:tc>
                  <a:txBody>
                    <a:bodyPr/>
                    <a:lstStyle/>
                    <a:p>
                      <a:pPr algn="ctr"/>
                      <a:r>
                        <a:rPr sz="1400">
                          <a:solidFill>
                            <a:srgbClr val="1A1A2E"/>
                          </a:solidFill>
                          <a:latin typeface="Calibri"/>
                        </a:rPr>
                        <a:t>Fortran mf_test</a:t>
                      </a:r>
                    </a:p>
                  </a:txBody>
                  <a:tcPr>
                    <a:solidFill>
                      <a:srgbClr val="FFFFFF"/>
                    </a:solidFill>
                  </a:tcPr>
                </a:tc>
                <a:tc>
                  <a:txBody>
                    <a:bodyPr/>
                    <a:lstStyle/>
                    <a:p>
                      <a:pPr algn="ctr"/>
                      <a:r>
                        <a:rPr sz="1400">
                          <a:solidFill>
                            <a:srgbClr val="1A1A2E"/>
                          </a:solidFill>
                          <a:latin typeface="Calibri"/>
                        </a:rPr>
                        <a:t>100% every frame</a:t>
                      </a:r>
                    </a:p>
                  </a:txBody>
                  <a:tcPr>
                    <a:solidFill>
                      <a:srgbClr val="FFFFFF"/>
                    </a:solidFill>
                  </a:tcPr>
                </a:tc>
                <a:tc>
                  <a:txBody>
                    <a:bodyPr/>
                    <a:lstStyle/>
                    <a:p>
                      <a:pPr algn="ctr"/>
                      <a:r>
                        <a:rPr sz="1400">
                          <a:solidFill>
                            <a:srgbClr val="1A1A2E"/>
                          </a:solidFill>
                          <a:latin typeface="Calibri"/>
                        </a:rPr>
                        <a:t>0.0 dB</a:t>
                      </a:r>
                    </a:p>
                  </a:txBody>
                  <a:tcPr>
                    <a:solidFill>
                      <a:srgbClr val="FFFFFF"/>
                    </a:solidFill>
                  </a:tcPr>
                </a:tc>
              </a:tr>
            </a:tbl>
          </a:graphicData>
        </a:graphic>
      </p:graphicFrame>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Gap 3: Oracle Testing — Isolating Pipeline Stages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Oracle methodology: bypass each stage in turn and re-measure</a:t>
            </a:r>
          </a:p>
          <a:p>
            <a:pPr lvl="1"/>
            <a:r>
              <a:rPr sz="1800" b="0" i="0">
                <a:solidFill>
                  <a:srgbClr val="444455"/>
                </a:solidFill>
                <a:latin typeface="Calibri"/>
              </a:rPr>
              <a:t>oracle_sync: skip detection, feed the correct frame position directly</a:t>
            </a:r>
          </a:p>
          <a:p>
            <a:pPr lvl="1"/>
            <a:r>
              <a:rPr sz="1800" b="0" i="0">
                <a:solidFill>
                  <a:srgbClr val="444455"/>
                </a:solidFill>
                <a:latin typeface="Calibri"/>
              </a:rPr>
              <a:t>oracle_decode: skip detection + sync, feed the correct aligned frame</a:t>
            </a:r>
          </a:p>
          <a:p>
            <a:pPr/>
            <a:r>
              <a:rPr sz="2000" b="1" i="0">
                <a:solidFill>
                  <a:srgbClr val="1A1A2E"/>
                </a:solidFill>
                <a:latin typeface="Calibri"/>
              </a:rPr>
              <a:t>The SPD pipeline has three stages that could cause missed decodes:</a:t>
            </a:r>
          </a:p>
          <a:p>
            <a:pPr lvl="1"/>
            <a:r>
              <a:rPr sz="1800" b="0" i="0">
                <a:solidFill>
                  <a:srgbClr val="444455"/>
                </a:solidFill>
                <a:latin typeface="Calibri"/>
              </a:rPr>
              <a:t>Detection — squared-spectrum sliding window; candidate selection</a:t>
            </a:r>
          </a:p>
          <a:p>
            <a:pPr lvl="1"/>
            <a:r>
              <a:rPr sz="1800" b="0" i="0">
                <a:solidFill>
                  <a:srgbClr val="444455"/>
                </a:solidFill>
                <a:latin typeface="Calibri"/>
              </a:rPr>
              <a:t>Sync — correlate against known sync word pattern; threshold 1.3</a:t>
            </a:r>
          </a:p>
          <a:p>
            <a:pPr lvl="1"/>
            <a:r>
              <a:rPr sz="1800" b="0" i="0">
                <a:solidFill>
                  <a:srgbClr val="444455"/>
                </a:solidFill>
                <a:latin typeface="Calibri"/>
              </a:rPr>
              <a:t>Decoder — BP + LDPC on the averaged frame</a:t>
            </a:r>
          </a:p>
          <a:p>
            <a:pPr/>
            <a:r>
              <a:rPr sz="2000" b="1" i="0">
                <a:solidFill>
                  <a:srgbClr val="1A1A2E"/>
                </a:solidFill>
                <a:latin typeface="Calibri"/>
              </a:rPr>
              <a:t>Three failure categories per trial:</a:t>
            </a:r>
          </a:p>
          <a:p>
            <a:pPr lvl="1"/>
            <a:r>
              <a:rPr sz="1800" b="0" i="0">
                <a:solidFill>
                  <a:srgbClr val="444455"/>
                </a:solidFill>
                <a:latin typeface="Calibri"/>
              </a:rPr>
              <a:t>det_miss: detection never found the correct window</a:t>
            </a:r>
          </a:p>
          <a:p>
            <a:pPr lvl="1"/>
            <a:r>
              <a:rPr sz="1800" b="0" i="0">
                <a:solidFill>
                  <a:srgbClr val="444455"/>
                </a:solidFill>
                <a:latin typeface="Calibri"/>
              </a:rPr>
              <a:t>sync_miss: detection found window, sync gate rejected it</a:t>
            </a:r>
          </a:p>
          <a:p>
            <a:pPr lvl="1"/>
            <a:r>
              <a:rPr sz="1800" b="0" i="0">
                <a:solidFill>
                  <a:srgbClr val="444455"/>
                </a:solidFill>
                <a:latin typeface="Calibri"/>
              </a:rPr>
              <a:t>oracle_decode_miss: correct window + correct alignment, decoder still failed</a:t>
            </a:r>
          </a:p>
          <a:p>
            <a:pPr/>
            <a:r>
              <a:rPr sz="2000" b="1" i="0">
                <a:solidFill>
                  <a:srgbClr val="1A1A2E"/>
                </a:solidFill>
                <a:latin typeface="Calibri"/>
              </a:rPr>
              <a:t>This cleanly attributes each missed decode to exactly one stage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685800"/>
          </a:xfrm>
          <a:prstGeom prst="rect">
            <a:avLst/>
          </a:prstGeom>
          <a:noFill/>
        </p:spPr>
        <p:txBody>
          <a:bodyPr wrap="square">
            <a:spAutoFit/>
          </a:bodyPr>
          <a:lstStyle/>
          <a:p>
            <a:pPr algn="l"/>
            <a:r>
              <a:rPr sz="2600" b="1" i="0">
                <a:solidFill>
                  <a:srgbClr val="1B3A6B"/>
                </a:solidFill>
                <a:latin typeface="Calibri"/>
              </a:rPr>
              <a:t>Gap 3: SPD Failure Mode Profile (IIR path, 300 trials/SNR)</a:t>
            </a:r>
          </a:p>
        </p:txBody>
      </p:sp>
      <p:graphicFrame>
        <p:nvGraphicFramePr>
          <p:cNvPr id="4" name="Table 3"/>
          <p:cNvGraphicFramePr>
            <a:graphicFrameLocks noGrp="1"/>
          </p:cNvGraphicFramePr>
          <p:nvPr/>
        </p:nvGraphicFramePr>
        <p:xfrm>
          <a:off x="320040" y="960120"/>
          <a:ext cx="9509760" cy="3538728"/>
        </p:xfrm>
        <a:graphic>
          <a:graphicData uri="http://schemas.openxmlformats.org/drawingml/2006/table">
            <a:tbl>
              <a:tblPr firstRow="1" bandRow="1">
                <a:tableStyleId>{5C22544A-7EE6-4342-B048-85BDC9FD1C3A}</a:tableStyleId>
              </a:tblPr>
              <a:tblGrid>
                <a:gridCol w="1188720"/>
                <a:gridCol w="822960"/>
                <a:gridCol w="1005840"/>
                <a:gridCol w="1097280"/>
                <a:gridCol w="1188720"/>
                <a:gridCol w="1188720"/>
                <a:gridCol w="1005840"/>
                <a:gridCol w="1005840"/>
                <a:gridCol w="1005840"/>
              </a:tblGrid>
              <a:tr h="393192">
                <a:tc>
                  <a:txBody>
                    <a:bodyPr/>
                    <a:lstStyle/>
                    <a:p>
                      <a:pPr algn="ctr"/>
                      <a:r>
                        <a:rPr sz="1200" b="1">
                          <a:solidFill>
                            <a:srgbClr val="FFFFFF"/>
                          </a:solidFill>
                          <a:latin typeface="Calibri"/>
                        </a:rPr>
                        <a:t>SNR (dB)</a:t>
                      </a:r>
                    </a:p>
                  </a:txBody>
                  <a:tcPr>
                    <a:solidFill>
                      <a:srgbClr val="1B3A6B"/>
                    </a:solidFill>
                  </a:tcPr>
                </a:tc>
                <a:tc>
                  <a:txBody>
                    <a:bodyPr/>
                    <a:lstStyle/>
                    <a:p>
                      <a:pPr algn="ctr"/>
                      <a:r>
                        <a:rPr sz="1200" b="1">
                          <a:solidFill>
                            <a:srgbClr val="FFFFFF"/>
                          </a:solidFill>
                          <a:latin typeface="Calibri"/>
                        </a:rPr>
                        <a:t>SPD%</a:t>
                      </a:r>
                    </a:p>
                  </a:txBody>
                  <a:tcPr>
                    <a:solidFill>
                      <a:srgbClr val="1B3A6B"/>
                    </a:solidFill>
                  </a:tcPr>
                </a:tc>
                <a:tc>
                  <a:txBody>
                    <a:bodyPr/>
                    <a:lstStyle/>
                    <a:p>
                      <a:pPr algn="ctr"/>
                      <a:r>
                        <a:rPr sz="1200" b="1">
                          <a:solidFill>
                            <a:srgbClr val="FFFFFF"/>
                          </a:solidFill>
                          <a:latin typeface="Calibri"/>
                        </a:rPr>
                        <a:t>det_hit%</a:t>
                      </a:r>
                    </a:p>
                  </a:txBody>
                  <a:tcPr>
                    <a:solidFill>
                      <a:srgbClr val="1B3A6B"/>
                    </a:solidFill>
                  </a:tcPr>
                </a:tc>
                <a:tc>
                  <a:txBody>
                    <a:bodyPr/>
                    <a:lstStyle/>
                    <a:p>
                      <a:pPr algn="ctr"/>
                      <a:r>
                        <a:rPr sz="1200" b="1">
                          <a:solidFill>
                            <a:srgbClr val="FFFFFF"/>
                          </a:solidFill>
                          <a:latin typeface="Calibri"/>
                        </a:rPr>
                        <a:t>det_metric</a:t>
                      </a:r>
                    </a:p>
                  </a:txBody>
                  <a:tcPr>
                    <a:solidFill>
                      <a:srgbClr val="1B3A6B"/>
                    </a:solidFill>
                  </a:tcPr>
                </a:tc>
                <a:tc>
                  <a:txBody>
                    <a:bodyPr/>
                    <a:lstStyle/>
                    <a:p>
                      <a:pPr algn="ctr"/>
                      <a:r>
                        <a:rPr sz="1200" b="1">
                          <a:solidFill>
                            <a:srgbClr val="FFFFFF"/>
                          </a:solidFill>
                          <a:latin typeface="Calibri"/>
                        </a:rPr>
                        <a:t>oracle_sync%</a:t>
                      </a:r>
                    </a:p>
                  </a:txBody>
                  <a:tcPr>
                    <a:solidFill>
                      <a:srgbClr val="1B3A6B"/>
                    </a:solidFill>
                  </a:tcPr>
                </a:tc>
                <a:tc>
                  <a:txBody>
                    <a:bodyPr/>
                    <a:lstStyle/>
                    <a:p>
                      <a:pPr algn="ctr"/>
                      <a:r>
                        <a:rPr sz="1200" b="1">
                          <a:solidFill>
                            <a:srgbClr val="FFFFFF"/>
                          </a:solidFill>
                          <a:latin typeface="Calibri"/>
                        </a:rPr>
                        <a:t>oracle_dec%</a:t>
                      </a:r>
                    </a:p>
                  </a:txBody>
                  <a:tcPr>
                    <a:solidFill>
                      <a:srgbClr val="1B3A6B"/>
                    </a:solidFill>
                  </a:tcPr>
                </a:tc>
                <a:tc>
                  <a:txBody>
                    <a:bodyPr/>
                    <a:lstStyle/>
                    <a:p>
                      <a:pPr algn="ctr"/>
                      <a:r>
                        <a:rPr sz="1200" b="1">
                          <a:solidFill>
                            <a:srgbClr val="FFFFFF"/>
                          </a:solidFill>
                          <a:latin typeface="Calibri"/>
                        </a:rPr>
                        <a:t>det_miss</a:t>
                      </a:r>
                    </a:p>
                  </a:txBody>
                  <a:tcPr>
                    <a:solidFill>
                      <a:srgbClr val="1B3A6B"/>
                    </a:solidFill>
                  </a:tcPr>
                </a:tc>
                <a:tc>
                  <a:txBody>
                    <a:bodyPr/>
                    <a:lstStyle/>
                    <a:p>
                      <a:pPr algn="ctr"/>
                      <a:r>
                        <a:rPr sz="1200" b="1">
                          <a:solidFill>
                            <a:srgbClr val="FFFFFF"/>
                          </a:solidFill>
                          <a:latin typeface="Calibri"/>
                        </a:rPr>
                        <a:t>sync_miss</a:t>
                      </a:r>
                    </a:p>
                  </a:txBody>
                  <a:tcPr>
                    <a:solidFill>
                      <a:srgbClr val="1B3A6B"/>
                    </a:solidFill>
                  </a:tcPr>
                </a:tc>
                <a:tc>
                  <a:txBody>
                    <a:bodyPr/>
                    <a:lstStyle/>
                    <a:p>
                      <a:pPr algn="ctr"/>
                      <a:r>
                        <a:rPr sz="1200" b="1">
                          <a:solidFill>
                            <a:srgbClr val="FFFFFF"/>
                          </a:solidFill>
                          <a:latin typeface="Calibri"/>
                        </a:rPr>
                        <a:t>dec_miss</a:t>
                      </a:r>
                    </a:p>
                  </a:txBody>
                  <a:tcPr>
                    <a:solidFill>
                      <a:srgbClr val="1B3A6B"/>
                    </a:solidFill>
                  </a:tcPr>
                </a:tc>
              </a:tr>
              <a:tr h="393192">
                <a:tc>
                  <a:txBody>
                    <a:bodyPr/>
                    <a:lstStyle/>
                    <a:p>
                      <a:pPr algn="ctr"/>
                      <a:r>
                        <a:rPr sz="1200">
                          <a:solidFill>
                            <a:srgbClr val="1A1A2E"/>
                          </a:solidFill>
                          <a:latin typeface="Calibri"/>
                        </a:rPr>
                        <a:t>-1.0</a:t>
                      </a:r>
                    </a:p>
                  </a:txBody>
                  <a:tcPr>
                    <a:solidFill>
                      <a:srgbClr val="F0F4F8"/>
                    </a:solidFill>
                  </a:tcPr>
                </a:tc>
                <a:tc>
                  <a:txBody>
                    <a:bodyPr/>
                    <a:lstStyle/>
                    <a:p>
                      <a:pPr algn="ctr"/>
                      <a:r>
                        <a:rPr sz="1200">
                          <a:solidFill>
                            <a:srgbClr val="1A1A2E"/>
                          </a:solidFill>
                          <a:latin typeface="Calibri"/>
                        </a:rPr>
                        <a:t>1.3%</a:t>
                      </a:r>
                    </a:p>
                  </a:txBody>
                  <a:tcPr>
                    <a:solidFill>
                      <a:srgbClr val="F0F4F8"/>
                    </a:solidFill>
                  </a:tcPr>
                </a:tc>
                <a:tc>
                  <a:txBody>
                    <a:bodyPr/>
                    <a:lstStyle/>
                    <a:p>
                      <a:pPr algn="ctr"/>
                      <a:r>
                        <a:rPr sz="1200">
                          <a:solidFill>
                            <a:srgbClr val="1A1A2E"/>
                          </a:solidFill>
                          <a:latin typeface="Calibri"/>
                        </a:rPr>
                        <a:t>9.3%</a:t>
                      </a:r>
                    </a:p>
                  </a:txBody>
                  <a:tcPr>
                    <a:solidFill>
                      <a:srgbClr val="F0F4F8"/>
                    </a:solidFill>
                  </a:tcPr>
                </a:tc>
                <a:tc>
                  <a:txBody>
                    <a:bodyPr/>
                    <a:lstStyle/>
                    <a:p>
                      <a:pPr algn="ctr"/>
                      <a:r>
                        <a:rPr sz="1200">
                          <a:solidFill>
                            <a:srgbClr val="1A1A2E"/>
                          </a:solidFill>
                          <a:latin typeface="Calibri"/>
                        </a:rPr>
                        <a:t>2.16</a:t>
                      </a:r>
                    </a:p>
                  </a:txBody>
                  <a:tcPr>
                    <a:solidFill>
                      <a:srgbClr val="F0F4F8"/>
                    </a:solidFill>
                  </a:tcPr>
                </a:tc>
                <a:tc>
                  <a:txBody>
                    <a:bodyPr/>
                    <a:lstStyle/>
                    <a:p>
                      <a:pPr algn="ctr"/>
                      <a:r>
                        <a:rPr sz="1200">
                          <a:solidFill>
                            <a:srgbClr val="1A1A2E"/>
                          </a:solidFill>
                          <a:latin typeface="Calibri"/>
                        </a:rPr>
                        <a:t>47.7%</a:t>
                      </a:r>
                    </a:p>
                  </a:txBody>
                  <a:tcPr>
                    <a:solidFill>
                      <a:srgbClr val="F0F4F8"/>
                    </a:solidFill>
                  </a:tcPr>
                </a:tc>
                <a:tc>
                  <a:txBody>
                    <a:bodyPr/>
                    <a:lstStyle/>
                    <a:p>
                      <a:pPr algn="ctr"/>
                      <a:r>
                        <a:rPr sz="1200">
                          <a:solidFill>
                            <a:srgbClr val="1A1A2E"/>
                          </a:solidFill>
                          <a:latin typeface="Calibri"/>
                        </a:rPr>
                        <a:t>5.0%</a:t>
                      </a:r>
                    </a:p>
                  </a:txBody>
                  <a:tcPr>
                    <a:solidFill>
                      <a:srgbClr val="F0F4F8"/>
                    </a:solidFill>
                  </a:tcPr>
                </a:tc>
                <a:tc>
                  <a:txBody>
                    <a:bodyPr/>
                    <a:lstStyle/>
                    <a:p>
                      <a:pPr algn="ctr"/>
                      <a:r>
                        <a:rPr sz="1200">
                          <a:solidFill>
                            <a:srgbClr val="1A1A2E"/>
                          </a:solidFill>
                          <a:latin typeface="Calibri"/>
                        </a:rPr>
                        <a:t>270</a:t>
                      </a:r>
                    </a:p>
                  </a:txBody>
                  <a:tcPr>
                    <a:solidFill>
                      <a:srgbClr val="F0F4F8"/>
                    </a:solidFill>
                  </a:tcPr>
                </a:tc>
                <a:tc>
                  <a:txBody>
                    <a:bodyPr/>
                    <a:lstStyle/>
                    <a:p>
                      <a:pPr algn="ctr"/>
                      <a:r>
                        <a:rPr sz="1200">
                          <a:solidFill>
                            <a:srgbClr val="1A1A2E"/>
                          </a:solidFill>
                          <a:latin typeface="Calibri"/>
                        </a:rPr>
                        <a:t>15</a:t>
                      </a:r>
                    </a:p>
                  </a:txBody>
                  <a:tcPr>
                    <a:solidFill>
                      <a:srgbClr val="F0F4F8"/>
                    </a:solidFill>
                  </a:tcPr>
                </a:tc>
                <a:tc>
                  <a:txBody>
                    <a:bodyPr/>
                    <a:lstStyle/>
                    <a:p>
                      <a:pPr algn="ctr"/>
                      <a:r>
                        <a:rPr sz="1200">
                          <a:solidFill>
                            <a:srgbClr val="1A1A2E"/>
                          </a:solidFill>
                          <a:latin typeface="Calibri"/>
                        </a:rPr>
                        <a:t>11</a:t>
                      </a:r>
                    </a:p>
                  </a:txBody>
                  <a:tcPr>
                    <a:solidFill>
                      <a:srgbClr val="F0F4F8"/>
                    </a:solidFill>
                  </a:tcPr>
                </a:tc>
              </a:tr>
              <a:tr h="393192">
                <a:tc>
                  <a:txBody>
                    <a:bodyPr/>
                    <a:lstStyle/>
                    <a:p>
                      <a:pPr algn="ctr"/>
                      <a:r>
                        <a:rPr sz="1200">
                          <a:solidFill>
                            <a:srgbClr val="1A1A2E"/>
                          </a:solidFill>
                          <a:latin typeface="Calibri"/>
                        </a:rPr>
                        <a:t>-0.5</a:t>
                      </a:r>
                    </a:p>
                  </a:txBody>
                  <a:tcPr>
                    <a:solidFill>
                      <a:srgbClr val="FFFFFF"/>
                    </a:solidFill>
                  </a:tcPr>
                </a:tc>
                <a:tc>
                  <a:txBody>
                    <a:bodyPr/>
                    <a:lstStyle/>
                    <a:p>
                      <a:pPr algn="ctr"/>
                      <a:r>
                        <a:rPr sz="1200">
                          <a:solidFill>
                            <a:srgbClr val="1A1A2E"/>
                          </a:solidFill>
                          <a:latin typeface="Calibri"/>
                        </a:rPr>
                        <a:t>2.3%</a:t>
                      </a:r>
                    </a:p>
                  </a:txBody>
                  <a:tcPr>
                    <a:solidFill>
                      <a:srgbClr val="FFFFFF"/>
                    </a:solidFill>
                  </a:tcPr>
                </a:tc>
                <a:tc>
                  <a:txBody>
                    <a:bodyPr/>
                    <a:lstStyle/>
                    <a:p>
                      <a:pPr algn="ctr"/>
                      <a:r>
                        <a:rPr sz="1200">
                          <a:solidFill>
                            <a:srgbClr val="1A1A2E"/>
                          </a:solidFill>
                          <a:latin typeface="Calibri"/>
                        </a:rPr>
                        <a:t>18.7%</a:t>
                      </a:r>
                    </a:p>
                  </a:txBody>
                  <a:tcPr>
                    <a:solidFill>
                      <a:srgbClr val="FFFFFF"/>
                    </a:solidFill>
                  </a:tcPr>
                </a:tc>
                <a:tc>
                  <a:txBody>
                    <a:bodyPr/>
                    <a:lstStyle/>
                    <a:p>
                      <a:pPr algn="ctr"/>
                      <a:r>
                        <a:rPr sz="1200">
                          <a:solidFill>
                            <a:srgbClr val="1A1A2E"/>
                          </a:solidFill>
                          <a:latin typeface="Calibri"/>
                        </a:rPr>
                        <a:t>2.39</a:t>
                      </a:r>
                    </a:p>
                  </a:txBody>
                  <a:tcPr>
                    <a:solidFill>
                      <a:srgbClr val="FFFFFF"/>
                    </a:solidFill>
                  </a:tcPr>
                </a:tc>
                <a:tc>
                  <a:txBody>
                    <a:bodyPr/>
                    <a:lstStyle/>
                    <a:p>
                      <a:pPr algn="ctr"/>
                      <a:r>
                        <a:rPr sz="1200">
                          <a:solidFill>
                            <a:srgbClr val="1A1A2E"/>
                          </a:solidFill>
                          <a:latin typeface="Calibri"/>
                        </a:rPr>
                        <a:t>59.0%</a:t>
                      </a:r>
                    </a:p>
                  </a:txBody>
                  <a:tcPr>
                    <a:solidFill>
                      <a:srgbClr val="FFFFFF"/>
                    </a:solidFill>
                  </a:tcPr>
                </a:tc>
                <a:tc>
                  <a:txBody>
                    <a:bodyPr/>
                    <a:lstStyle/>
                    <a:p>
                      <a:pPr algn="ctr"/>
                      <a:r>
                        <a:rPr sz="1200">
                          <a:solidFill>
                            <a:srgbClr val="1A1A2E"/>
                          </a:solidFill>
                          <a:latin typeface="Calibri"/>
                        </a:rPr>
                        <a:t>9.7%</a:t>
                      </a:r>
                    </a:p>
                  </a:txBody>
                  <a:tcPr>
                    <a:solidFill>
                      <a:srgbClr val="FFFFFF"/>
                    </a:solidFill>
                  </a:tcPr>
                </a:tc>
                <a:tc>
                  <a:txBody>
                    <a:bodyPr/>
                    <a:lstStyle/>
                    <a:p>
                      <a:pPr algn="ctr"/>
                      <a:r>
                        <a:rPr sz="1200">
                          <a:solidFill>
                            <a:srgbClr val="1A1A2E"/>
                          </a:solidFill>
                          <a:latin typeface="Calibri"/>
                        </a:rPr>
                        <a:t>241</a:t>
                      </a:r>
                    </a:p>
                  </a:txBody>
                  <a:tcPr>
                    <a:solidFill>
                      <a:srgbClr val="FFFFFF"/>
                    </a:solidFill>
                  </a:tcPr>
                </a:tc>
                <a:tc>
                  <a:txBody>
                    <a:bodyPr/>
                    <a:lstStyle/>
                    <a:p>
                      <a:pPr algn="ctr"/>
                      <a:r>
                        <a:rPr sz="1200">
                          <a:solidFill>
                            <a:srgbClr val="1A1A2E"/>
                          </a:solidFill>
                          <a:latin typeface="Calibri"/>
                        </a:rPr>
                        <a:t>23</a:t>
                      </a:r>
                    </a:p>
                  </a:txBody>
                  <a:tcPr>
                    <a:solidFill>
                      <a:srgbClr val="FFFFFF"/>
                    </a:solidFill>
                  </a:tcPr>
                </a:tc>
                <a:tc>
                  <a:txBody>
                    <a:bodyPr/>
                    <a:lstStyle/>
                    <a:p>
                      <a:pPr algn="ctr"/>
                      <a:r>
                        <a:rPr sz="1200">
                          <a:solidFill>
                            <a:srgbClr val="1A1A2E"/>
                          </a:solidFill>
                          <a:latin typeface="Calibri"/>
                        </a:rPr>
                        <a:t>29</a:t>
                      </a:r>
                    </a:p>
                  </a:txBody>
                  <a:tcPr>
                    <a:solidFill>
                      <a:srgbClr val="FFFFFF"/>
                    </a:solidFill>
                  </a:tcPr>
                </a:tc>
              </a:tr>
              <a:tr h="393192">
                <a:tc>
                  <a:txBody>
                    <a:bodyPr/>
                    <a:lstStyle/>
                    <a:p>
                      <a:pPr algn="ctr"/>
                      <a:r>
                        <a:rPr sz="1200">
                          <a:solidFill>
                            <a:srgbClr val="1A1A2E"/>
                          </a:solidFill>
                          <a:latin typeface="Calibri"/>
                        </a:rPr>
                        <a:t>+0.0</a:t>
                      </a:r>
                    </a:p>
                  </a:txBody>
                  <a:tcPr>
                    <a:solidFill>
                      <a:srgbClr val="F0F4F8"/>
                    </a:solidFill>
                  </a:tcPr>
                </a:tc>
                <a:tc>
                  <a:txBody>
                    <a:bodyPr/>
                    <a:lstStyle/>
                    <a:p>
                      <a:pPr algn="ctr"/>
                      <a:r>
                        <a:rPr sz="1200">
                          <a:solidFill>
                            <a:srgbClr val="1A1A2E"/>
                          </a:solidFill>
                          <a:latin typeface="Calibri"/>
                        </a:rPr>
                        <a:t>8.0%</a:t>
                      </a:r>
                    </a:p>
                  </a:txBody>
                  <a:tcPr>
                    <a:solidFill>
                      <a:srgbClr val="F0F4F8"/>
                    </a:solidFill>
                  </a:tcPr>
                </a:tc>
                <a:tc>
                  <a:txBody>
                    <a:bodyPr/>
                    <a:lstStyle/>
                    <a:p>
                      <a:pPr algn="ctr"/>
                      <a:r>
                        <a:rPr sz="1200">
                          <a:solidFill>
                            <a:srgbClr val="1A1A2E"/>
                          </a:solidFill>
                          <a:latin typeface="Calibri"/>
                        </a:rPr>
                        <a:t>31.3%</a:t>
                      </a:r>
                    </a:p>
                  </a:txBody>
                  <a:tcPr>
                    <a:solidFill>
                      <a:srgbClr val="F0F4F8"/>
                    </a:solidFill>
                  </a:tcPr>
                </a:tc>
                <a:tc>
                  <a:txBody>
                    <a:bodyPr/>
                    <a:lstStyle/>
                    <a:p>
                      <a:pPr algn="ctr"/>
                      <a:r>
                        <a:rPr sz="1200">
                          <a:solidFill>
                            <a:srgbClr val="1A1A2E"/>
                          </a:solidFill>
                          <a:latin typeface="Calibri"/>
                        </a:rPr>
                        <a:t>2.72</a:t>
                      </a:r>
                    </a:p>
                  </a:txBody>
                  <a:tcPr>
                    <a:solidFill>
                      <a:srgbClr val="F0F4F8"/>
                    </a:solidFill>
                  </a:tcPr>
                </a:tc>
                <a:tc>
                  <a:txBody>
                    <a:bodyPr/>
                    <a:lstStyle/>
                    <a:p>
                      <a:pPr algn="ctr"/>
                      <a:r>
                        <a:rPr sz="1200">
                          <a:solidFill>
                            <a:srgbClr val="1A1A2E"/>
                          </a:solidFill>
                          <a:latin typeface="Calibri"/>
                        </a:rPr>
                        <a:t>74.7%</a:t>
                      </a:r>
                    </a:p>
                  </a:txBody>
                  <a:tcPr>
                    <a:solidFill>
                      <a:srgbClr val="F0F4F8"/>
                    </a:solidFill>
                  </a:tcPr>
                </a:tc>
                <a:tc>
                  <a:txBody>
                    <a:bodyPr/>
                    <a:lstStyle/>
                    <a:p>
                      <a:pPr algn="ctr"/>
                      <a:r>
                        <a:rPr sz="1200">
                          <a:solidFill>
                            <a:srgbClr val="1A1A2E"/>
                          </a:solidFill>
                          <a:latin typeface="Calibri"/>
                        </a:rPr>
                        <a:t>20.3%</a:t>
                      </a:r>
                    </a:p>
                  </a:txBody>
                  <a:tcPr>
                    <a:solidFill>
                      <a:srgbClr val="F0F4F8"/>
                    </a:solidFill>
                  </a:tcPr>
                </a:tc>
                <a:tc>
                  <a:txBody>
                    <a:bodyPr/>
                    <a:lstStyle/>
                    <a:p>
                      <a:pPr algn="ctr"/>
                      <a:r>
                        <a:rPr sz="1200">
                          <a:solidFill>
                            <a:srgbClr val="1A1A2E"/>
                          </a:solidFill>
                          <a:latin typeface="Calibri"/>
                        </a:rPr>
                        <a:t>202</a:t>
                      </a:r>
                    </a:p>
                  </a:txBody>
                  <a:tcPr>
                    <a:solidFill>
                      <a:srgbClr val="F0F4F8"/>
                    </a:solidFill>
                  </a:tcPr>
                </a:tc>
                <a:tc>
                  <a:txBody>
                    <a:bodyPr/>
                    <a:lstStyle/>
                    <a:p>
                      <a:pPr algn="ctr"/>
                      <a:r>
                        <a:rPr sz="1200">
                          <a:solidFill>
                            <a:srgbClr val="1A1A2E"/>
                          </a:solidFill>
                          <a:latin typeface="Calibri"/>
                        </a:rPr>
                        <a:t>21</a:t>
                      </a:r>
                    </a:p>
                  </a:txBody>
                  <a:tcPr>
                    <a:solidFill>
                      <a:srgbClr val="F0F4F8"/>
                    </a:solidFill>
                  </a:tcPr>
                </a:tc>
                <a:tc>
                  <a:txBody>
                    <a:bodyPr/>
                    <a:lstStyle/>
                    <a:p>
                      <a:pPr algn="ctr"/>
                      <a:r>
                        <a:rPr sz="1200">
                          <a:solidFill>
                            <a:srgbClr val="1A1A2E"/>
                          </a:solidFill>
                          <a:latin typeface="Calibri"/>
                        </a:rPr>
                        <a:t>53</a:t>
                      </a:r>
                    </a:p>
                  </a:txBody>
                  <a:tcPr>
                    <a:solidFill>
                      <a:srgbClr val="F0F4F8"/>
                    </a:solidFill>
                  </a:tcPr>
                </a:tc>
              </a:tr>
              <a:tr h="393192">
                <a:tc>
                  <a:txBody>
                    <a:bodyPr/>
                    <a:lstStyle/>
                    <a:p>
                      <a:pPr algn="ctr"/>
                      <a:r>
                        <a:rPr sz="1200">
                          <a:solidFill>
                            <a:srgbClr val="1A1A2E"/>
                          </a:solidFill>
                          <a:latin typeface="Calibri"/>
                        </a:rPr>
                        <a:t>+0.5</a:t>
                      </a:r>
                    </a:p>
                  </a:txBody>
                  <a:tcPr>
                    <a:solidFill>
                      <a:srgbClr val="FFFFFF"/>
                    </a:solidFill>
                  </a:tcPr>
                </a:tc>
                <a:tc>
                  <a:txBody>
                    <a:bodyPr/>
                    <a:lstStyle/>
                    <a:p>
                      <a:pPr algn="ctr"/>
                      <a:r>
                        <a:rPr sz="1200">
                          <a:solidFill>
                            <a:srgbClr val="1A1A2E"/>
                          </a:solidFill>
                          <a:latin typeface="Calibri"/>
                        </a:rPr>
                        <a:t>19.3%</a:t>
                      </a:r>
                    </a:p>
                  </a:txBody>
                  <a:tcPr>
                    <a:solidFill>
                      <a:srgbClr val="FFFFFF"/>
                    </a:solidFill>
                  </a:tcPr>
                </a:tc>
                <a:tc>
                  <a:txBody>
                    <a:bodyPr/>
                    <a:lstStyle/>
                    <a:p>
                      <a:pPr algn="ctr"/>
                      <a:r>
                        <a:rPr sz="1200">
                          <a:solidFill>
                            <a:srgbClr val="1A1A2E"/>
                          </a:solidFill>
                          <a:latin typeface="Calibri"/>
                        </a:rPr>
                        <a:t>52.0%</a:t>
                      </a:r>
                    </a:p>
                  </a:txBody>
                  <a:tcPr>
                    <a:solidFill>
                      <a:srgbClr val="FFFFFF"/>
                    </a:solidFill>
                  </a:tcPr>
                </a:tc>
                <a:tc>
                  <a:txBody>
                    <a:bodyPr/>
                    <a:lstStyle/>
                    <a:p>
                      <a:pPr algn="ctr"/>
                      <a:r>
                        <a:rPr sz="1200">
                          <a:solidFill>
                            <a:srgbClr val="1A1A2E"/>
                          </a:solidFill>
                          <a:latin typeface="Calibri"/>
                        </a:rPr>
                        <a:t>3.16</a:t>
                      </a:r>
                    </a:p>
                  </a:txBody>
                  <a:tcPr>
                    <a:solidFill>
                      <a:srgbClr val="FFFFFF"/>
                    </a:solidFill>
                  </a:tcPr>
                </a:tc>
                <a:tc>
                  <a:txBody>
                    <a:bodyPr/>
                    <a:lstStyle/>
                    <a:p>
                      <a:pPr algn="ctr"/>
                      <a:r>
                        <a:rPr sz="1200">
                          <a:solidFill>
                            <a:srgbClr val="1A1A2E"/>
                          </a:solidFill>
                          <a:latin typeface="Calibri"/>
                        </a:rPr>
                        <a:t>84.0%</a:t>
                      </a:r>
                    </a:p>
                  </a:txBody>
                  <a:tcPr>
                    <a:solidFill>
                      <a:srgbClr val="FFFFFF"/>
                    </a:solidFill>
                  </a:tcPr>
                </a:tc>
                <a:tc>
                  <a:txBody>
                    <a:bodyPr/>
                    <a:lstStyle/>
                    <a:p>
                      <a:pPr algn="ctr"/>
                      <a:r>
                        <a:rPr sz="1200">
                          <a:solidFill>
                            <a:srgbClr val="1A1A2E"/>
                          </a:solidFill>
                          <a:latin typeface="Calibri"/>
                        </a:rPr>
                        <a:t>33.3%</a:t>
                      </a:r>
                    </a:p>
                  </a:txBody>
                  <a:tcPr>
                    <a:solidFill>
                      <a:srgbClr val="FFFFFF"/>
                    </a:solidFill>
                  </a:tcPr>
                </a:tc>
                <a:tc>
                  <a:txBody>
                    <a:bodyPr/>
                    <a:lstStyle/>
                    <a:p>
                      <a:pPr algn="ctr"/>
                      <a:r>
                        <a:rPr sz="1200">
                          <a:solidFill>
                            <a:srgbClr val="1A1A2E"/>
                          </a:solidFill>
                          <a:latin typeface="Calibri"/>
                        </a:rPr>
                        <a:t>140</a:t>
                      </a:r>
                    </a:p>
                  </a:txBody>
                  <a:tcPr>
                    <a:solidFill>
                      <a:srgbClr val="FFFFFF"/>
                    </a:solidFill>
                  </a:tcPr>
                </a:tc>
                <a:tc>
                  <a:txBody>
                    <a:bodyPr/>
                    <a:lstStyle/>
                    <a:p>
                      <a:pPr algn="ctr"/>
                      <a:r>
                        <a:rPr sz="1200">
                          <a:solidFill>
                            <a:srgbClr val="1A1A2E"/>
                          </a:solidFill>
                          <a:latin typeface="Calibri"/>
                        </a:rPr>
                        <a:t>24</a:t>
                      </a:r>
                    </a:p>
                  </a:txBody>
                  <a:tcPr>
                    <a:solidFill>
                      <a:srgbClr val="FFFFFF"/>
                    </a:solidFill>
                  </a:tcPr>
                </a:tc>
                <a:tc>
                  <a:txBody>
                    <a:bodyPr/>
                    <a:lstStyle/>
                    <a:p>
                      <a:pPr algn="ctr"/>
                      <a:r>
                        <a:rPr sz="1200">
                          <a:solidFill>
                            <a:srgbClr val="1A1A2E"/>
                          </a:solidFill>
                          <a:latin typeface="Calibri"/>
                        </a:rPr>
                        <a:t>78</a:t>
                      </a:r>
                    </a:p>
                  </a:txBody>
                  <a:tcPr>
                    <a:solidFill>
                      <a:srgbClr val="FFFFFF"/>
                    </a:solidFill>
                  </a:tcPr>
                </a:tc>
              </a:tr>
              <a:tr h="393192">
                <a:tc>
                  <a:txBody>
                    <a:bodyPr/>
                    <a:lstStyle/>
                    <a:p>
                      <a:pPr algn="ctr"/>
                      <a:r>
                        <a:rPr sz="1200">
                          <a:solidFill>
                            <a:srgbClr val="1A1A2E"/>
                          </a:solidFill>
                          <a:latin typeface="Calibri"/>
                        </a:rPr>
                        <a:t>+1.0</a:t>
                      </a:r>
                    </a:p>
                  </a:txBody>
                  <a:tcPr>
                    <a:solidFill>
                      <a:srgbClr val="F0F4F8"/>
                    </a:solidFill>
                  </a:tcPr>
                </a:tc>
                <a:tc>
                  <a:txBody>
                    <a:bodyPr/>
                    <a:lstStyle/>
                    <a:p>
                      <a:pPr algn="ctr"/>
                      <a:r>
                        <a:rPr sz="1200">
                          <a:solidFill>
                            <a:srgbClr val="1A1A2E"/>
                          </a:solidFill>
                          <a:latin typeface="Calibri"/>
                        </a:rPr>
                        <a:t>36.3%</a:t>
                      </a:r>
                    </a:p>
                  </a:txBody>
                  <a:tcPr>
                    <a:solidFill>
                      <a:srgbClr val="F0F4F8"/>
                    </a:solidFill>
                  </a:tcPr>
                </a:tc>
                <a:tc>
                  <a:txBody>
                    <a:bodyPr/>
                    <a:lstStyle/>
                    <a:p>
                      <a:pPr algn="ctr"/>
                      <a:r>
                        <a:rPr sz="1200">
                          <a:solidFill>
                            <a:srgbClr val="1A1A2E"/>
                          </a:solidFill>
                          <a:latin typeface="Calibri"/>
                        </a:rPr>
                        <a:t>67.7%</a:t>
                      </a:r>
                    </a:p>
                  </a:txBody>
                  <a:tcPr>
                    <a:solidFill>
                      <a:srgbClr val="F0F4F8"/>
                    </a:solidFill>
                  </a:tcPr>
                </a:tc>
                <a:tc>
                  <a:txBody>
                    <a:bodyPr/>
                    <a:lstStyle/>
                    <a:p>
                      <a:pPr algn="ctr"/>
                      <a:r>
                        <a:rPr sz="1200">
                          <a:solidFill>
                            <a:srgbClr val="1A1A2E"/>
                          </a:solidFill>
                          <a:latin typeface="Calibri"/>
                        </a:rPr>
                        <a:t>3.73</a:t>
                      </a:r>
                    </a:p>
                  </a:txBody>
                  <a:tcPr>
                    <a:solidFill>
                      <a:srgbClr val="F0F4F8"/>
                    </a:solidFill>
                  </a:tcPr>
                </a:tc>
                <a:tc>
                  <a:txBody>
                    <a:bodyPr/>
                    <a:lstStyle/>
                    <a:p>
                      <a:pPr algn="ctr"/>
                      <a:r>
                        <a:rPr sz="1200">
                          <a:solidFill>
                            <a:srgbClr val="1A1A2E"/>
                          </a:solidFill>
                          <a:latin typeface="Calibri"/>
                        </a:rPr>
                        <a:t>91.7%</a:t>
                      </a:r>
                    </a:p>
                  </a:txBody>
                  <a:tcPr>
                    <a:solidFill>
                      <a:srgbClr val="F0F4F8"/>
                    </a:solidFill>
                  </a:tcPr>
                </a:tc>
                <a:tc>
                  <a:txBody>
                    <a:bodyPr/>
                    <a:lstStyle/>
                    <a:p>
                      <a:pPr algn="ctr"/>
                      <a:r>
                        <a:rPr sz="1200">
                          <a:solidFill>
                            <a:srgbClr val="1A1A2E"/>
                          </a:solidFill>
                          <a:latin typeface="Calibri"/>
                        </a:rPr>
                        <a:t>46.0%</a:t>
                      </a:r>
                    </a:p>
                  </a:txBody>
                  <a:tcPr>
                    <a:solidFill>
                      <a:srgbClr val="F0F4F8"/>
                    </a:solidFill>
                  </a:tcPr>
                </a:tc>
                <a:tc>
                  <a:txBody>
                    <a:bodyPr/>
                    <a:lstStyle/>
                    <a:p>
                      <a:pPr algn="ctr"/>
                      <a:r>
                        <a:rPr sz="1200">
                          <a:solidFill>
                            <a:srgbClr val="1A1A2E"/>
                          </a:solidFill>
                          <a:latin typeface="Calibri"/>
                        </a:rPr>
                        <a:t>92</a:t>
                      </a:r>
                    </a:p>
                  </a:txBody>
                  <a:tcPr>
                    <a:solidFill>
                      <a:srgbClr val="F0F4F8"/>
                    </a:solidFill>
                  </a:tcPr>
                </a:tc>
                <a:tc>
                  <a:txBody>
                    <a:bodyPr/>
                    <a:lstStyle/>
                    <a:p>
                      <a:pPr algn="ctr"/>
                      <a:r>
                        <a:rPr sz="1200">
                          <a:solidFill>
                            <a:srgbClr val="1A1A2E"/>
                          </a:solidFill>
                          <a:latin typeface="Calibri"/>
                        </a:rPr>
                        <a:t>14</a:t>
                      </a:r>
                    </a:p>
                  </a:txBody>
                  <a:tcPr>
                    <a:solidFill>
                      <a:srgbClr val="F0F4F8"/>
                    </a:solidFill>
                  </a:tcPr>
                </a:tc>
                <a:tc>
                  <a:txBody>
                    <a:bodyPr/>
                    <a:lstStyle/>
                    <a:p>
                      <a:pPr algn="ctr"/>
                      <a:r>
                        <a:rPr sz="1200">
                          <a:solidFill>
                            <a:srgbClr val="1A1A2E"/>
                          </a:solidFill>
                          <a:latin typeface="Calibri"/>
                        </a:rPr>
                        <a:t>85</a:t>
                      </a:r>
                    </a:p>
                  </a:txBody>
                  <a:tcPr>
                    <a:solidFill>
                      <a:srgbClr val="F0F4F8"/>
                    </a:solidFill>
                  </a:tcPr>
                </a:tc>
              </a:tr>
              <a:tr h="393192">
                <a:tc>
                  <a:txBody>
                    <a:bodyPr/>
                    <a:lstStyle/>
                    <a:p>
                      <a:pPr algn="ctr"/>
                      <a:r>
                        <a:rPr sz="1200">
                          <a:solidFill>
                            <a:srgbClr val="1A1A2E"/>
                          </a:solidFill>
                          <a:latin typeface="Calibri"/>
                        </a:rPr>
                        <a:t>+1.5</a:t>
                      </a:r>
                    </a:p>
                  </a:txBody>
                  <a:tcPr>
                    <a:solidFill>
                      <a:srgbClr val="FFFFFF"/>
                    </a:solidFill>
                  </a:tcPr>
                </a:tc>
                <a:tc>
                  <a:txBody>
                    <a:bodyPr/>
                    <a:lstStyle/>
                    <a:p>
                      <a:pPr algn="ctr"/>
                      <a:r>
                        <a:rPr sz="1200">
                          <a:solidFill>
                            <a:srgbClr val="1A1A2E"/>
                          </a:solidFill>
                          <a:latin typeface="Calibri"/>
                        </a:rPr>
                        <a:t>57.3%</a:t>
                      </a:r>
                    </a:p>
                  </a:txBody>
                  <a:tcPr>
                    <a:solidFill>
                      <a:srgbClr val="FFFFFF"/>
                    </a:solidFill>
                  </a:tcPr>
                </a:tc>
                <a:tc>
                  <a:txBody>
                    <a:bodyPr/>
                    <a:lstStyle/>
                    <a:p>
                      <a:pPr algn="ctr"/>
                      <a:r>
                        <a:rPr sz="1200">
                          <a:solidFill>
                            <a:srgbClr val="1A1A2E"/>
                          </a:solidFill>
                          <a:latin typeface="Calibri"/>
                        </a:rPr>
                        <a:t>85.0%</a:t>
                      </a:r>
                    </a:p>
                  </a:txBody>
                  <a:tcPr>
                    <a:solidFill>
                      <a:srgbClr val="FFFFFF"/>
                    </a:solidFill>
                  </a:tcPr>
                </a:tc>
                <a:tc>
                  <a:txBody>
                    <a:bodyPr/>
                    <a:lstStyle/>
                    <a:p>
                      <a:pPr algn="ctr"/>
                      <a:r>
                        <a:rPr sz="1200">
                          <a:solidFill>
                            <a:srgbClr val="1A1A2E"/>
                          </a:solidFill>
                          <a:latin typeface="Calibri"/>
                        </a:rPr>
                        <a:t>4.47</a:t>
                      </a:r>
                    </a:p>
                  </a:txBody>
                  <a:tcPr>
                    <a:solidFill>
                      <a:srgbClr val="FFFFFF"/>
                    </a:solidFill>
                  </a:tcPr>
                </a:tc>
                <a:tc>
                  <a:txBody>
                    <a:bodyPr/>
                    <a:lstStyle/>
                    <a:p>
                      <a:pPr algn="ctr"/>
                      <a:r>
                        <a:rPr sz="1200">
                          <a:solidFill>
                            <a:srgbClr val="1A1A2E"/>
                          </a:solidFill>
                          <a:latin typeface="Calibri"/>
                        </a:rPr>
                        <a:t>96.3%</a:t>
                      </a:r>
                    </a:p>
                  </a:txBody>
                  <a:tcPr>
                    <a:solidFill>
                      <a:srgbClr val="FFFFFF"/>
                    </a:solidFill>
                  </a:tcPr>
                </a:tc>
                <a:tc>
                  <a:txBody>
                    <a:bodyPr/>
                    <a:lstStyle/>
                    <a:p>
                      <a:pPr algn="ctr"/>
                      <a:r>
                        <a:rPr sz="1200">
                          <a:solidFill>
                            <a:srgbClr val="1A1A2E"/>
                          </a:solidFill>
                          <a:latin typeface="Calibri"/>
                        </a:rPr>
                        <a:t>58.7%</a:t>
                      </a:r>
                    </a:p>
                  </a:txBody>
                  <a:tcPr>
                    <a:solidFill>
                      <a:srgbClr val="FFFFFF"/>
                    </a:solidFill>
                  </a:tcPr>
                </a:tc>
                <a:tc>
                  <a:txBody>
                    <a:bodyPr/>
                    <a:lstStyle/>
                    <a:p>
                      <a:pPr algn="ctr"/>
                      <a:r>
                        <a:rPr sz="1200">
                          <a:solidFill>
                            <a:srgbClr val="1A1A2E"/>
                          </a:solidFill>
                          <a:latin typeface="Calibri"/>
                        </a:rPr>
                        <a:t>38</a:t>
                      </a:r>
                    </a:p>
                  </a:txBody>
                  <a:tcPr>
                    <a:solidFill>
                      <a:srgbClr val="FFFFFF"/>
                    </a:solidFill>
                  </a:tcPr>
                </a:tc>
                <a:tc>
                  <a:txBody>
                    <a:bodyPr/>
                    <a:lstStyle/>
                    <a:p>
                      <a:pPr algn="ctr"/>
                      <a:r>
                        <a:rPr sz="1200">
                          <a:solidFill>
                            <a:srgbClr val="1A1A2E"/>
                          </a:solidFill>
                          <a:latin typeface="Calibri"/>
                        </a:rPr>
                        <a:t>7</a:t>
                      </a:r>
                    </a:p>
                  </a:txBody>
                  <a:tcPr>
                    <a:solidFill>
                      <a:srgbClr val="FFFFFF"/>
                    </a:solidFill>
                  </a:tcPr>
                </a:tc>
                <a:tc>
                  <a:txBody>
                    <a:bodyPr/>
                    <a:lstStyle/>
                    <a:p>
                      <a:pPr algn="ctr"/>
                      <a:r>
                        <a:rPr sz="1200">
                          <a:solidFill>
                            <a:srgbClr val="1A1A2E"/>
                          </a:solidFill>
                          <a:latin typeface="Calibri"/>
                        </a:rPr>
                        <a:t>83</a:t>
                      </a:r>
                    </a:p>
                  </a:txBody>
                  <a:tcPr>
                    <a:solidFill>
                      <a:srgbClr val="FFFFFF"/>
                    </a:solidFill>
                  </a:tcPr>
                </a:tc>
              </a:tr>
              <a:tr h="393192">
                <a:tc>
                  <a:txBody>
                    <a:bodyPr/>
                    <a:lstStyle/>
                    <a:p>
                      <a:pPr algn="ctr"/>
                      <a:r>
                        <a:rPr sz="1200">
                          <a:solidFill>
                            <a:srgbClr val="1A1A2E"/>
                          </a:solidFill>
                          <a:latin typeface="Calibri"/>
                        </a:rPr>
                        <a:t>+2.0</a:t>
                      </a:r>
                    </a:p>
                  </a:txBody>
                  <a:tcPr>
                    <a:solidFill>
                      <a:srgbClr val="F0F4F8"/>
                    </a:solidFill>
                  </a:tcPr>
                </a:tc>
                <a:tc>
                  <a:txBody>
                    <a:bodyPr/>
                    <a:lstStyle/>
                    <a:p>
                      <a:pPr algn="ctr"/>
                      <a:r>
                        <a:rPr sz="1200">
                          <a:solidFill>
                            <a:srgbClr val="1A1A2E"/>
                          </a:solidFill>
                          <a:latin typeface="Calibri"/>
                        </a:rPr>
                        <a:t>71.0%</a:t>
                      </a:r>
                    </a:p>
                  </a:txBody>
                  <a:tcPr>
                    <a:solidFill>
                      <a:srgbClr val="F0F4F8"/>
                    </a:solidFill>
                  </a:tcPr>
                </a:tc>
                <a:tc>
                  <a:txBody>
                    <a:bodyPr/>
                    <a:lstStyle/>
                    <a:p>
                      <a:pPr algn="ctr"/>
                      <a:r>
                        <a:rPr sz="1200">
                          <a:solidFill>
                            <a:srgbClr val="1A1A2E"/>
                          </a:solidFill>
                          <a:latin typeface="Calibri"/>
                        </a:rPr>
                        <a:t>94.3%</a:t>
                      </a:r>
                    </a:p>
                  </a:txBody>
                  <a:tcPr>
                    <a:solidFill>
                      <a:srgbClr val="F0F4F8"/>
                    </a:solidFill>
                  </a:tcPr>
                </a:tc>
                <a:tc>
                  <a:txBody>
                    <a:bodyPr/>
                    <a:lstStyle/>
                    <a:p>
                      <a:pPr algn="ctr"/>
                      <a:r>
                        <a:rPr sz="1200">
                          <a:solidFill>
                            <a:srgbClr val="1A1A2E"/>
                          </a:solidFill>
                          <a:latin typeface="Calibri"/>
                        </a:rPr>
                        <a:t>5.42</a:t>
                      </a:r>
                    </a:p>
                  </a:txBody>
                  <a:tcPr>
                    <a:solidFill>
                      <a:srgbClr val="F0F4F8"/>
                    </a:solidFill>
                  </a:tcPr>
                </a:tc>
                <a:tc>
                  <a:txBody>
                    <a:bodyPr/>
                    <a:lstStyle/>
                    <a:p>
                      <a:pPr algn="ctr"/>
                      <a:r>
                        <a:rPr sz="1200">
                          <a:solidFill>
                            <a:srgbClr val="1A1A2E"/>
                          </a:solidFill>
                          <a:latin typeface="Calibri"/>
                        </a:rPr>
                        <a:t>98.3%</a:t>
                      </a:r>
                    </a:p>
                  </a:txBody>
                  <a:tcPr>
                    <a:solidFill>
                      <a:srgbClr val="F0F4F8"/>
                    </a:solidFill>
                  </a:tcPr>
                </a:tc>
                <a:tc>
                  <a:txBody>
                    <a:bodyPr/>
                    <a:lstStyle/>
                    <a:p>
                      <a:pPr algn="ctr"/>
                      <a:r>
                        <a:rPr sz="1200">
                          <a:solidFill>
                            <a:srgbClr val="1A1A2E"/>
                          </a:solidFill>
                          <a:latin typeface="Calibri"/>
                        </a:rPr>
                        <a:t>66.7%</a:t>
                      </a:r>
                    </a:p>
                  </a:txBody>
                  <a:tcPr>
                    <a:solidFill>
                      <a:srgbClr val="F0F4F8"/>
                    </a:solidFill>
                  </a:tcPr>
                </a:tc>
                <a:tc>
                  <a:txBody>
                    <a:bodyPr/>
                    <a:lstStyle/>
                    <a:p>
                      <a:pPr algn="ctr"/>
                      <a:r>
                        <a:rPr sz="1200">
                          <a:solidFill>
                            <a:srgbClr val="1A1A2E"/>
                          </a:solidFill>
                          <a:latin typeface="Calibri"/>
                        </a:rPr>
                        <a:t>14</a:t>
                      </a:r>
                    </a:p>
                  </a:txBody>
                  <a:tcPr>
                    <a:solidFill>
                      <a:srgbClr val="F0F4F8"/>
                    </a:solidFill>
                  </a:tcPr>
                </a:tc>
                <a:tc>
                  <a:txBody>
                    <a:bodyPr/>
                    <a:lstStyle/>
                    <a:p>
                      <a:pPr algn="ctr"/>
                      <a:r>
                        <a:rPr sz="1200">
                          <a:solidFill>
                            <a:srgbClr val="1A1A2E"/>
                          </a:solidFill>
                          <a:latin typeface="Calibri"/>
                        </a:rPr>
                        <a:t>4</a:t>
                      </a:r>
                    </a:p>
                  </a:txBody>
                  <a:tcPr>
                    <a:solidFill>
                      <a:srgbClr val="F0F4F8"/>
                    </a:solidFill>
                  </a:tcPr>
                </a:tc>
                <a:tc>
                  <a:txBody>
                    <a:bodyPr/>
                    <a:lstStyle/>
                    <a:p>
                      <a:pPr algn="ctr"/>
                      <a:r>
                        <a:rPr sz="1200">
                          <a:solidFill>
                            <a:srgbClr val="1A1A2E"/>
                          </a:solidFill>
                          <a:latin typeface="Calibri"/>
                        </a:rPr>
                        <a:t>69</a:t>
                      </a:r>
                    </a:p>
                  </a:txBody>
                  <a:tcPr>
                    <a:solidFill>
                      <a:srgbClr val="F0F4F8"/>
                    </a:solidFill>
                  </a:tcPr>
                </a:tc>
              </a:tr>
              <a:tr h="393192">
                <a:tc>
                  <a:txBody>
                    <a:bodyPr/>
                    <a:lstStyle/>
                    <a:p>
                      <a:pPr algn="ctr"/>
                      <a:r>
                        <a:rPr sz="1200">
                          <a:solidFill>
                            <a:srgbClr val="1A1A2E"/>
                          </a:solidFill>
                          <a:latin typeface="Calibri"/>
                        </a:rPr>
                        <a:t>+2.5</a:t>
                      </a:r>
                    </a:p>
                  </a:txBody>
                  <a:tcPr>
                    <a:solidFill>
                      <a:srgbClr val="FFFFFF"/>
                    </a:solidFill>
                  </a:tcPr>
                </a:tc>
                <a:tc>
                  <a:txBody>
                    <a:bodyPr/>
                    <a:lstStyle/>
                    <a:p>
                      <a:pPr algn="ctr"/>
                      <a:r>
                        <a:rPr sz="1200">
                          <a:solidFill>
                            <a:srgbClr val="1A1A2E"/>
                          </a:solidFill>
                          <a:latin typeface="Calibri"/>
                        </a:rPr>
                        <a:t>81.3%</a:t>
                      </a:r>
                    </a:p>
                  </a:txBody>
                  <a:tcPr>
                    <a:solidFill>
                      <a:srgbClr val="FFFFFF"/>
                    </a:solidFill>
                  </a:tcPr>
                </a:tc>
                <a:tc>
                  <a:txBody>
                    <a:bodyPr/>
                    <a:lstStyle/>
                    <a:p>
                      <a:pPr algn="ctr"/>
                      <a:r>
                        <a:rPr sz="1200">
                          <a:solidFill>
                            <a:srgbClr val="1A1A2E"/>
                          </a:solidFill>
                          <a:latin typeface="Calibri"/>
                        </a:rPr>
                        <a:t>98.3%</a:t>
                      </a:r>
                    </a:p>
                  </a:txBody>
                  <a:tcPr>
                    <a:solidFill>
                      <a:srgbClr val="FFFFFF"/>
                    </a:solidFill>
                  </a:tcPr>
                </a:tc>
                <a:tc>
                  <a:txBody>
                    <a:bodyPr/>
                    <a:lstStyle/>
                    <a:p>
                      <a:pPr algn="ctr"/>
                      <a:r>
                        <a:rPr sz="1200">
                          <a:solidFill>
                            <a:srgbClr val="1A1A2E"/>
                          </a:solidFill>
                          <a:latin typeface="Calibri"/>
                        </a:rPr>
                        <a:t>6.60</a:t>
                      </a:r>
                    </a:p>
                  </a:txBody>
                  <a:tcPr>
                    <a:solidFill>
                      <a:srgbClr val="FFFFFF"/>
                    </a:solidFill>
                  </a:tcPr>
                </a:tc>
                <a:tc>
                  <a:txBody>
                    <a:bodyPr/>
                    <a:lstStyle/>
                    <a:p>
                      <a:pPr algn="ctr"/>
                      <a:r>
                        <a:rPr sz="1200">
                          <a:solidFill>
                            <a:srgbClr val="1A1A2E"/>
                          </a:solidFill>
                          <a:latin typeface="Calibri"/>
                        </a:rPr>
                        <a:t>99.7%</a:t>
                      </a:r>
                    </a:p>
                  </a:txBody>
                  <a:tcPr>
                    <a:solidFill>
                      <a:srgbClr val="FFFFFF"/>
                    </a:solidFill>
                  </a:tcPr>
                </a:tc>
                <a:tc>
                  <a:txBody>
                    <a:bodyPr/>
                    <a:lstStyle/>
                    <a:p>
                      <a:pPr algn="ctr"/>
                      <a:r>
                        <a:rPr sz="1200">
                          <a:solidFill>
                            <a:srgbClr val="1A1A2E"/>
                          </a:solidFill>
                          <a:latin typeface="Calibri"/>
                        </a:rPr>
                        <a:t>73.3%</a:t>
                      </a:r>
                    </a:p>
                  </a:txBody>
                  <a:tcPr>
                    <a:solidFill>
                      <a:srgbClr val="FFFFFF"/>
                    </a:solidFill>
                  </a:tcPr>
                </a:tc>
                <a:tc>
                  <a:txBody>
                    <a:bodyPr/>
                    <a:lstStyle/>
                    <a:p>
                      <a:pPr algn="ctr"/>
                      <a:r>
                        <a:rPr sz="1200">
                          <a:solidFill>
                            <a:srgbClr val="1A1A2E"/>
                          </a:solidFill>
                          <a:latin typeface="Calibri"/>
                        </a:rPr>
                        <a:t>3</a:t>
                      </a:r>
                    </a:p>
                  </a:txBody>
                  <a:tcPr>
                    <a:solidFill>
                      <a:srgbClr val="FFFFFF"/>
                    </a:solidFill>
                  </a:tcPr>
                </a:tc>
                <a:tc>
                  <a:txBody>
                    <a:bodyPr/>
                    <a:lstStyle/>
                    <a:p>
                      <a:pPr algn="ctr"/>
                      <a:r>
                        <a:rPr sz="1200">
                          <a:solidFill>
                            <a:srgbClr val="1A1A2E"/>
                          </a:solidFill>
                          <a:latin typeface="Calibri"/>
                        </a:rPr>
                        <a:t>0</a:t>
                      </a:r>
                    </a:p>
                  </a:txBody>
                  <a:tcPr>
                    <a:solidFill>
                      <a:srgbClr val="FFFFFF"/>
                    </a:solidFill>
                  </a:tcPr>
                </a:tc>
                <a:tc>
                  <a:txBody>
                    <a:bodyPr/>
                    <a:lstStyle/>
                    <a:p>
                      <a:pPr algn="ctr"/>
                      <a:r>
                        <a:rPr sz="1200">
                          <a:solidFill>
                            <a:srgbClr val="1A1A2E"/>
                          </a:solidFill>
                          <a:latin typeface="Calibri"/>
                        </a:rPr>
                        <a:t>53</a:t>
                      </a:r>
                    </a:p>
                  </a:txBody>
                  <a:tcPr>
                    <a:solidFill>
                      <a:srgbClr val="FFFFFF"/>
                    </a:solidFill>
                  </a:tcPr>
                </a:tc>
              </a:tr>
            </a:tbl>
          </a:graphicData>
        </a:graphic>
      </p:graphicFrame>
      <p:sp>
        <p:nvSpPr>
          <p:cNvPr id="5" name="TextBox 4"/>
          <p:cNvSpPr txBox="1"/>
          <p:nvPr/>
        </p:nvSpPr>
        <p:spPr>
          <a:xfrm>
            <a:off x="365760" y="5303520"/>
            <a:ext cx="11430000" cy="640080"/>
          </a:xfrm>
          <a:prstGeom prst="rect">
            <a:avLst/>
          </a:prstGeom>
          <a:noFill/>
        </p:spPr>
        <p:txBody>
          <a:bodyPr wrap="square">
            <a:spAutoFit/>
          </a:bodyPr>
          <a:lstStyle/>
          <a:p>
            <a:pPr algn="l"/>
            <a:r>
              <a:rPr sz="1600" b="0" i="1">
                <a:solidFill>
                  <a:srgbClr val="444455"/>
                </a:solidFill>
                <a:latin typeface="Calibri"/>
              </a:rPr>
              <a:t>At the +1.5 dB threshold: det_miss = 63.7% of failures, oracle_dec_miss = 29.4%.  Detection is the dominant bottleneck — not the decoder, not sync.</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Audio BPF Insight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Root cause of det_miss: noise bandwidth is too wide</a:t>
            </a:r>
          </a:p>
          <a:p>
            <a:pPr lvl="1"/>
            <a:r>
              <a:rPr sz="1800" b="0" i="0">
                <a:solidFill>
                  <a:srgbClr val="444455"/>
                </a:solidFill>
                <a:latin typeface="Calibri"/>
              </a:rPr>
              <a:t>IIR decimation from 48→12 kHz passes noise up to ~4800 Hz</a:t>
            </a:r>
          </a:p>
          <a:p>
            <a:pPr lvl="1"/>
            <a:r>
              <a:rPr sz="1800" b="0" i="0">
                <a:solidFill>
                  <a:srgbClr val="444455"/>
                </a:solidFill>
                <a:latin typeface="Calibri"/>
              </a:rPr>
              <a:t>Squared-spectrum detector integrates noise×noise cross-terms across that band</a:t>
            </a:r>
          </a:p>
          <a:p>
            <a:pPr lvl="1"/>
            <a:r>
              <a:rPr sz="1800" b="0" i="0">
                <a:solidFill>
                  <a:srgbClr val="444455"/>
                </a:solidFill>
                <a:latin typeface="Calibri"/>
              </a:rPr>
              <a:t>At threshold SNR, these cross-terms dominate the detection metric</a:t>
            </a:r>
          </a:p>
          <a:p>
            <a:pPr/>
            <a:r>
              <a:rPr sz="2000" b="1" i="0">
                <a:solidFill>
                  <a:srgbClr val="1A1A2E"/>
                </a:solidFill>
                <a:latin typeface="Calibri"/>
              </a:rPr>
              <a:t>Real SSB receivers band-limit audio to ~300–2700 Hz</a:t>
            </a:r>
          </a:p>
          <a:p>
            <a:pPr lvl="1"/>
            <a:r>
              <a:rPr sz="1800" b="0" i="0">
                <a:solidFill>
                  <a:srgbClr val="444455"/>
                </a:solidFill>
                <a:latin typeface="Calibri"/>
              </a:rPr>
              <a:t>MSK144 signal occupies 1000–2000 Hz — well within that range</a:t>
            </a:r>
          </a:p>
          <a:p>
            <a:pPr lvl="1"/>
            <a:r>
              <a:rPr sz="1800" b="0" i="0">
                <a:solidFill>
                  <a:srgbClr val="444455"/>
                </a:solidFill>
                <a:latin typeface="Calibri"/>
              </a:rPr>
              <a:t>Noise above 2700 Hz contributes nothing to the signal, only to the noise floor</a:t>
            </a:r>
          </a:p>
          <a:p>
            <a:pPr/>
            <a:r>
              <a:rPr sz="2000" b="1" i="0">
                <a:solidFill>
                  <a:srgbClr val="1A1A2E"/>
                </a:solidFill>
                <a:latin typeface="Calibri"/>
              </a:rPr>
              <a:t>Hypothesis: model the SSB audio filter with a 300–2700 Hz BPF</a:t>
            </a:r>
          </a:p>
          <a:p>
            <a:pPr lvl="1"/>
            <a:r>
              <a:rPr sz="1800" b="0" i="0">
                <a:solidFill>
                  <a:srgbClr val="444455"/>
                </a:solidFill>
                <a:latin typeface="Calibri"/>
              </a:rPr>
              <a:t>Noise bandwidth drops from ~4800 Hz to ~2400 Hz — a factor of 2</a:t>
            </a:r>
          </a:p>
          <a:p>
            <a:pPr lvl="1"/>
            <a:r>
              <a:rPr sz="1800" b="0" i="0">
                <a:solidFill>
                  <a:srgbClr val="444455"/>
                </a:solidFill>
                <a:latin typeface="Calibri"/>
              </a:rPr>
              <a:t>In the squared domain, noise×noise cross-terms drop as BW²  — a factor of 4</a:t>
            </a:r>
          </a:p>
          <a:p>
            <a:pPr lvl="1"/>
            <a:r>
              <a:rPr sz="1800" b="0" i="0">
                <a:solidFill>
                  <a:srgbClr val="444455"/>
                </a:solidFill>
                <a:latin typeface="Calibri"/>
              </a:rPr>
              <a:t>Predicted: significant improvement in detection metric</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BPF Implementation — Getting the Math Right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Naive approach: mix up → real BPF → Hilbert → mix down</a:t>
            </a:r>
          </a:p>
          <a:p>
            <a:pPr lvl="1"/>
            <a:r>
              <a:rPr sz="1800" b="0" i="0">
                <a:solidFill>
                  <a:srgbClr val="444455"/>
                </a:solidFill>
                <a:latin typeface="Calibri"/>
              </a:rPr>
              <a:t>Re-introduces the Hilbert correlation problem from Gap 1</a:t>
            </a:r>
          </a:p>
          <a:p>
            <a:pPr lvl="1"/>
            <a:r>
              <a:rPr sz="1800" b="0" i="0">
                <a:solidFill>
                  <a:srgbClr val="444455"/>
                </a:solidFill>
                <a:latin typeface="Calibri"/>
              </a:rPr>
              <a:t>Hilbert of filtered noise makes I and Q correlated — wrong LLRs in BP decoder</a:t>
            </a:r>
          </a:p>
          <a:p>
            <a:pPr lvl="1"/>
            <a:r>
              <a:rPr sz="1800" b="0" i="0">
                <a:solidFill>
                  <a:srgbClr val="444455"/>
                </a:solidFill>
                <a:latin typeface="Calibri"/>
              </a:rPr>
              <a:t>Oracle decode rate: 0/8 at SNR=2 — complete failure</a:t>
            </a:r>
          </a:p>
          <a:p>
            <a:pPr/>
            <a:r>
              <a:rPr sz="2000" b="1" i="0">
                <a:solidFill>
                  <a:srgbClr val="1A1A2E"/>
                </a:solidFill>
                <a:latin typeface="Calibri"/>
              </a:rPr>
              <a:t>Correct approach: complex lowpass applied independently to I and Q</a:t>
            </a:r>
          </a:p>
          <a:p>
            <a:pPr lvl="1"/>
            <a:r>
              <a:rPr sz="1800" b="0" i="0">
                <a:solidFill>
                  <a:srgbClr val="444455"/>
                </a:solidFill>
                <a:latin typeface="Calibri"/>
              </a:rPr>
              <a:t>Signal at 0 Hz baseband; 300–2700 Hz BPF → symmetric ±1200 Hz lowpass</a:t>
            </a:r>
          </a:p>
          <a:p>
            <a:pPr lvl="1"/>
            <a:r>
              <a:rPr sz="1800" b="0" i="0">
                <a:solidFill>
                  <a:srgbClr val="444455"/>
                </a:solidFill>
                <a:latin typeface="Calibri"/>
              </a:rPr>
              <a:t>Apply same real FIR to Re{z} and Im{z} separately, recombine</a:t>
            </a:r>
          </a:p>
          <a:p>
            <a:pPr lvl="1"/>
            <a:r>
              <a:rPr sz="1800" b="0" i="0">
                <a:solidFill>
                  <a:srgbClr val="444455"/>
                </a:solidFill>
                <a:latin typeface="Calibri"/>
              </a:rPr>
              <a:t>I/Q statistical independence preserved — BP decoder works correctly</a:t>
            </a:r>
          </a:p>
          <a:p>
            <a:pPr/>
            <a:r>
              <a:rPr sz="2000" b="1" i="0">
                <a:solidFill>
                  <a:srgbClr val="1A1A2E"/>
                </a:solidFill>
                <a:latin typeface="Calibri"/>
              </a:rPr>
              <a:t>Zero-phase filter (filtfilt) — no group delay, no onset transient</a:t>
            </a:r>
          </a:p>
          <a:p>
            <a:pPr lvl="1"/>
            <a:r>
              <a:rPr sz="1800" b="0" i="0">
                <a:solidFill>
                  <a:srgbClr val="444455"/>
                </a:solidFill>
                <a:latin typeface="Calibri"/>
              </a:rPr>
              <a:t>Causal FIR at 12 kHz: 129-tap filter → 64-sample delay → corrupts 7% of frame</a:t>
            </a:r>
          </a:p>
          <a:p>
            <a:pPr lvl="1"/>
            <a:r>
              <a:rPr sz="1800" b="0" i="0">
                <a:solidFill>
                  <a:srgbClr val="444455"/>
                </a:solidFill>
                <a:latin typeface="Calibri"/>
              </a:rPr>
              <a:t>filtfilt: zero phase, transients cancel at edges — clean 72 ms frame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685800"/>
          </a:xfrm>
          <a:prstGeom prst="rect">
            <a:avLst/>
          </a:prstGeom>
          <a:noFill/>
        </p:spPr>
        <p:txBody>
          <a:bodyPr wrap="square">
            <a:spAutoFit/>
          </a:bodyPr>
          <a:lstStyle/>
          <a:p>
            <a:pPr algn="l"/>
            <a:r>
              <a:rPr sz="2600" b="1" i="0">
                <a:solidFill>
                  <a:srgbClr val="1B3A6B"/>
                </a:solidFill>
                <a:latin typeface="Calibri"/>
              </a:rPr>
              <a:t>BPF Results: Detection Failures Eliminated (100 trials/SNR)</a:t>
            </a:r>
          </a:p>
        </p:txBody>
      </p:sp>
      <p:graphicFrame>
        <p:nvGraphicFramePr>
          <p:cNvPr id="4" name="Table 3"/>
          <p:cNvGraphicFramePr>
            <a:graphicFrameLocks noGrp="1"/>
          </p:cNvGraphicFramePr>
          <p:nvPr/>
        </p:nvGraphicFramePr>
        <p:xfrm>
          <a:off x="320040" y="960120"/>
          <a:ext cx="9601200" cy="3538728"/>
        </p:xfrm>
        <a:graphic>
          <a:graphicData uri="http://schemas.openxmlformats.org/drawingml/2006/table">
            <a:tbl>
              <a:tblPr firstRow="1" bandRow="1">
                <a:tableStyleId>{5C22544A-7EE6-4342-B048-85BDC9FD1C3A}</a:tableStyleId>
              </a:tblPr>
              <a:tblGrid>
                <a:gridCol w="1280160"/>
                <a:gridCol w="1554480"/>
                <a:gridCol w="1737360"/>
                <a:gridCol w="1554480"/>
                <a:gridCol w="1737360"/>
                <a:gridCol w="1737360"/>
              </a:tblGrid>
              <a:tr h="393192">
                <a:tc>
                  <a:txBody>
                    <a:bodyPr/>
                    <a:lstStyle/>
                    <a:p>
                      <a:pPr algn="ctr"/>
                      <a:r>
                        <a:rPr sz="1300" b="1">
                          <a:solidFill>
                            <a:srgbClr val="FFFFFF"/>
                          </a:solidFill>
                          <a:latin typeface="Calibri"/>
                        </a:rPr>
                        <a:t>SNR (dB)</a:t>
                      </a:r>
                    </a:p>
                  </a:txBody>
                  <a:tcPr>
                    <a:solidFill>
                      <a:srgbClr val="1B3A6B"/>
                    </a:solidFill>
                  </a:tcPr>
                </a:tc>
                <a:tc>
                  <a:txBody>
                    <a:bodyPr/>
                    <a:lstStyle/>
                    <a:p>
                      <a:pPr algn="ctr"/>
                      <a:r>
                        <a:rPr sz="1300" b="1">
                          <a:solidFill>
                            <a:srgbClr val="FFFFFF"/>
                          </a:solidFill>
                          <a:latin typeface="Calibri"/>
                        </a:rPr>
                        <a:t>No-BPF SPD%</a:t>
                      </a:r>
                    </a:p>
                  </a:txBody>
                  <a:tcPr>
                    <a:solidFill>
                      <a:srgbClr val="1B3A6B"/>
                    </a:solidFill>
                  </a:tcPr>
                </a:tc>
                <a:tc>
                  <a:txBody>
                    <a:bodyPr/>
                    <a:lstStyle/>
                    <a:p>
                      <a:pPr algn="ctr"/>
                      <a:r>
                        <a:rPr sz="1300" b="1">
                          <a:solidFill>
                            <a:srgbClr val="FFFFFF"/>
                          </a:solidFill>
                          <a:latin typeface="Calibri"/>
                        </a:rPr>
                        <a:t>No-BPF det_hit%</a:t>
                      </a:r>
                    </a:p>
                  </a:txBody>
                  <a:tcPr>
                    <a:solidFill>
                      <a:srgbClr val="1B3A6B"/>
                    </a:solidFill>
                  </a:tcPr>
                </a:tc>
                <a:tc>
                  <a:txBody>
                    <a:bodyPr/>
                    <a:lstStyle/>
                    <a:p>
                      <a:pPr algn="ctr"/>
                      <a:r>
                        <a:rPr sz="1300" b="1">
                          <a:solidFill>
                            <a:srgbClr val="FFFFFF"/>
                          </a:solidFill>
                          <a:latin typeface="Calibri"/>
                        </a:rPr>
                        <a:t>BPF-2700 SPD%</a:t>
                      </a:r>
                    </a:p>
                  </a:txBody>
                  <a:tcPr>
                    <a:solidFill>
                      <a:srgbClr val="1B3A6B"/>
                    </a:solidFill>
                  </a:tcPr>
                </a:tc>
                <a:tc>
                  <a:txBody>
                    <a:bodyPr/>
                    <a:lstStyle/>
                    <a:p>
                      <a:pPr algn="ctr"/>
                      <a:r>
                        <a:rPr sz="1300" b="1">
                          <a:solidFill>
                            <a:srgbClr val="FFFFFF"/>
                          </a:solidFill>
                          <a:latin typeface="Calibri"/>
                        </a:rPr>
                        <a:t>BPF-2700 det_hit%</a:t>
                      </a:r>
                    </a:p>
                  </a:txBody>
                  <a:tcPr>
                    <a:solidFill>
                      <a:srgbClr val="1B3A6B"/>
                    </a:solidFill>
                  </a:tcPr>
                </a:tc>
                <a:tc>
                  <a:txBody>
                    <a:bodyPr/>
                    <a:lstStyle/>
                    <a:p>
                      <a:pPr algn="ctr"/>
                      <a:r>
                        <a:rPr sz="1300" b="1">
                          <a:solidFill>
                            <a:srgbClr val="FFFFFF"/>
                          </a:solidFill>
                          <a:latin typeface="Calibri"/>
                        </a:rPr>
                        <a:t>BPF oracle_dec%</a:t>
                      </a:r>
                    </a:p>
                  </a:txBody>
                  <a:tcPr>
                    <a:solidFill>
                      <a:srgbClr val="1B3A6B"/>
                    </a:solidFill>
                  </a:tcPr>
                </a:tc>
              </a:tr>
              <a:tr h="393192">
                <a:tc>
                  <a:txBody>
                    <a:bodyPr/>
                    <a:lstStyle/>
                    <a:p>
                      <a:pPr algn="ctr"/>
                      <a:r>
                        <a:rPr sz="1300">
                          <a:solidFill>
                            <a:srgbClr val="1A1A2E"/>
                          </a:solidFill>
                          <a:latin typeface="Calibri"/>
                        </a:rPr>
                        <a:t>-1.0</a:t>
                      </a:r>
                    </a:p>
                  </a:txBody>
                  <a:tcPr>
                    <a:solidFill>
                      <a:srgbClr val="F0F4F8"/>
                    </a:solidFill>
                  </a:tcPr>
                </a:tc>
                <a:tc>
                  <a:txBody>
                    <a:bodyPr/>
                    <a:lstStyle/>
                    <a:p>
                      <a:pPr algn="ctr"/>
                      <a:r>
                        <a:rPr sz="1300">
                          <a:solidFill>
                            <a:srgbClr val="1A1A2E"/>
                          </a:solidFill>
                          <a:latin typeface="Calibri"/>
                        </a:rPr>
                        <a:t>3%</a:t>
                      </a:r>
                    </a:p>
                  </a:txBody>
                  <a:tcPr>
                    <a:solidFill>
                      <a:srgbClr val="F0F4F8"/>
                    </a:solidFill>
                  </a:tcPr>
                </a:tc>
                <a:tc>
                  <a:txBody>
                    <a:bodyPr/>
                    <a:lstStyle/>
                    <a:p>
                      <a:pPr algn="ctr"/>
                      <a:r>
                        <a:rPr sz="1300">
                          <a:solidFill>
                            <a:srgbClr val="1A1A2E"/>
                          </a:solidFill>
                          <a:latin typeface="Calibri"/>
                        </a:rPr>
                        <a:t>9%</a:t>
                      </a:r>
                    </a:p>
                  </a:txBody>
                  <a:tcPr>
                    <a:solidFill>
                      <a:srgbClr val="F0F4F8"/>
                    </a:solidFill>
                  </a:tcPr>
                </a:tc>
                <a:tc>
                  <a:txBody>
                    <a:bodyPr/>
                    <a:lstStyle/>
                    <a:p>
                      <a:pPr algn="ctr"/>
                      <a:r>
                        <a:rPr sz="1300">
                          <a:solidFill>
                            <a:srgbClr val="1A1A2E"/>
                          </a:solidFill>
                          <a:latin typeface="Calibri"/>
                        </a:rPr>
                        <a:t>12%</a:t>
                      </a:r>
                    </a:p>
                  </a:txBody>
                  <a:tcPr>
                    <a:solidFill>
                      <a:srgbClr val="F0F4F8"/>
                    </a:solidFill>
                  </a:tcPr>
                </a:tc>
                <a:tc>
                  <a:txBody>
                    <a:bodyPr/>
                    <a:lstStyle/>
                    <a:p>
                      <a:pPr algn="ctr"/>
                      <a:r>
                        <a:rPr sz="1300">
                          <a:solidFill>
                            <a:srgbClr val="1A1A2E"/>
                          </a:solidFill>
                          <a:latin typeface="Calibri"/>
                        </a:rPr>
                        <a:t>100%</a:t>
                      </a:r>
                    </a:p>
                  </a:txBody>
                  <a:tcPr>
                    <a:solidFill>
                      <a:srgbClr val="F0F4F8"/>
                    </a:solidFill>
                  </a:tcPr>
                </a:tc>
                <a:tc>
                  <a:txBody>
                    <a:bodyPr/>
                    <a:lstStyle/>
                    <a:p>
                      <a:pPr algn="ctr"/>
                      <a:r>
                        <a:rPr sz="1300">
                          <a:solidFill>
                            <a:srgbClr val="1A1A2E"/>
                          </a:solidFill>
                          <a:latin typeface="Calibri"/>
                        </a:rPr>
                        <a:t>8%</a:t>
                      </a:r>
                    </a:p>
                  </a:txBody>
                  <a:tcPr>
                    <a:solidFill>
                      <a:srgbClr val="F0F4F8"/>
                    </a:solidFill>
                  </a:tcPr>
                </a:tc>
              </a:tr>
              <a:tr h="393192">
                <a:tc>
                  <a:txBody>
                    <a:bodyPr/>
                    <a:lstStyle/>
                    <a:p>
                      <a:pPr algn="ctr"/>
                      <a:r>
                        <a:rPr sz="1300">
                          <a:solidFill>
                            <a:srgbClr val="1A1A2E"/>
                          </a:solidFill>
                          <a:latin typeface="Calibri"/>
                        </a:rPr>
                        <a:t>-0.5</a:t>
                      </a:r>
                    </a:p>
                  </a:txBody>
                  <a:tcPr>
                    <a:solidFill>
                      <a:srgbClr val="FFFFFF"/>
                    </a:solidFill>
                  </a:tcPr>
                </a:tc>
                <a:tc>
                  <a:txBody>
                    <a:bodyPr/>
                    <a:lstStyle/>
                    <a:p>
                      <a:pPr algn="ctr"/>
                      <a:r>
                        <a:rPr sz="1300">
                          <a:solidFill>
                            <a:srgbClr val="1A1A2E"/>
                          </a:solidFill>
                          <a:latin typeface="Calibri"/>
                        </a:rPr>
                        <a:t>4%</a:t>
                      </a:r>
                    </a:p>
                  </a:txBody>
                  <a:tcPr>
                    <a:solidFill>
                      <a:srgbClr val="FFFFFF"/>
                    </a:solidFill>
                  </a:tcPr>
                </a:tc>
                <a:tc>
                  <a:txBody>
                    <a:bodyPr/>
                    <a:lstStyle/>
                    <a:p>
                      <a:pPr algn="ctr"/>
                      <a:r>
                        <a:rPr sz="1300">
                          <a:solidFill>
                            <a:srgbClr val="1A1A2E"/>
                          </a:solidFill>
                          <a:latin typeface="Calibri"/>
                        </a:rPr>
                        <a:t>20%</a:t>
                      </a:r>
                    </a:p>
                  </a:txBody>
                  <a:tcPr>
                    <a:solidFill>
                      <a:srgbClr val="FFFFFF"/>
                    </a:solidFill>
                  </a:tcPr>
                </a:tc>
                <a:tc>
                  <a:txBody>
                    <a:bodyPr/>
                    <a:lstStyle/>
                    <a:p>
                      <a:pPr algn="ctr"/>
                      <a:r>
                        <a:rPr sz="1300">
                          <a:solidFill>
                            <a:srgbClr val="1A1A2E"/>
                          </a:solidFill>
                          <a:latin typeface="Calibri"/>
                        </a:rPr>
                        <a:t>25%</a:t>
                      </a:r>
                    </a:p>
                  </a:txBody>
                  <a:tcPr>
                    <a:solidFill>
                      <a:srgbClr val="FFFFFF"/>
                    </a:solidFill>
                  </a:tcPr>
                </a:tc>
                <a:tc>
                  <a:txBody>
                    <a:bodyPr/>
                    <a:lstStyle/>
                    <a:p>
                      <a:pPr algn="ctr"/>
                      <a:r>
                        <a:rPr sz="1300">
                          <a:solidFill>
                            <a:srgbClr val="1A1A2E"/>
                          </a:solidFill>
                          <a:latin typeface="Calibri"/>
                        </a:rPr>
                        <a:t>100%</a:t>
                      </a:r>
                    </a:p>
                  </a:txBody>
                  <a:tcPr>
                    <a:solidFill>
                      <a:srgbClr val="FFFFFF"/>
                    </a:solidFill>
                  </a:tcPr>
                </a:tc>
                <a:tc>
                  <a:txBody>
                    <a:bodyPr/>
                    <a:lstStyle/>
                    <a:p>
                      <a:pPr algn="ctr"/>
                      <a:r>
                        <a:rPr sz="1300">
                          <a:solidFill>
                            <a:srgbClr val="1A1A2E"/>
                          </a:solidFill>
                          <a:latin typeface="Calibri"/>
                        </a:rPr>
                        <a:t>17%</a:t>
                      </a:r>
                    </a:p>
                  </a:txBody>
                  <a:tcPr>
                    <a:solidFill>
                      <a:srgbClr val="FFFFFF"/>
                    </a:solidFill>
                  </a:tcPr>
                </a:tc>
              </a:tr>
              <a:tr h="393192">
                <a:tc>
                  <a:txBody>
                    <a:bodyPr/>
                    <a:lstStyle/>
                    <a:p>
                      <a:pPr algn="ctr"/>
                      <a:r>
                        <a:rPr sz="1300">
                          <a:solidFill>
                            <a:srgbClr val="1A1A2E"/>
                          </a:solidFill>
                          <a:latin typeface="Calibri"/>
                        </a:rPr>
                        <a:t>+0.0</a:t>
                      </a:r>
                    </a:p>
                  </a:txBody>
                  <a:tcPr>
                    <a:solidFill>
                      <a:srgbClr val="F0F4F8"/>
                    </a:solidFill>
                  </a:tcPr>
                </a:tc>
                <a:tc>
                  <a:txBody>
                    <a:bodyPr/>
                    <a:lstStyle/>
                    <a:p>
                      <a:pPr algn="ctr"/>
                      <a:r>
                        <a:rPr sz="1300">
                          <a:solidFill>
                            <a:srgbClr val="1A1A2E"/>
                          </a:solidFill>
                          <a:latin typeface="Calibri"/>
                        </a:rPr>
                        <a:t>7%</a:t>
                      </a:r>
                    </a:p>
                  </a:txBody>
                  <a:tcPr>
                    <a:solidFill>
                      <a:srgbClr val="F0F4F8"/>
                    </a:solidFill>
                  </a:tcPr>
                </a:tc>
                <a:tc>
                  <a:txBody>
                    <a:bodyPr/>
                    <a:lstStyle/>
                    <a:p>
                      <a:pPr algn="ctr"/>
                      <a:r>
                        <a:rPr sz="1300">
                          <a:solidFill>
                            <a:srgbClr val="1A1A2E"/>
                          </a:solidFill>
                          <a:latin typeface="Calibri"/>
                        </a:rPr>
                        <a:t>35%</a:t>
                      </a:r>
                    </a:p>
                  </a:txBody>
                  <a:tcPr>
                    <a:solidFill>
                      <a:srgbClr val="F0F4F8"/>
                    </a:solidFill>
                  </a:tcPr>
                </a:tc>
                <a:tc>
                  <a:txBody>
                    <a:bodyPr/>
                    <a:lstStyle/>
                    <a:p>
                      <a:pPr algn="ctr"/>
                      <a:r>
                        <a:rPr sz="1300">
                          <a:solidFill>
                            <a:srgbClr val="1A1A2E"/>
                          </a:solidFill>
                          <a:latin typeface="Calibri"/>
                        </a:rPr>
                        <a:t>42%</a:t>
                      </a:r>
                    </a:p>
                  </a:txBody>
                  <a:tcPr>
                    <a:solidFill>
                      <a:srgbClr val="F0F4F8"/>
                    </a:solidFill>
                  </a:tcPr>
                </a:tc>
                <a:tc>
                  <a:txBody>
                    <a:bodyPr/>
                    <a:lstStyle/>
                    <a:p>
                      <a:pPr algn="ctr"/>
                      <a:r>
                        <a:rPr sz="1300">
                          <a:solidFill>
                            <a:srgbClr val="1A1A2E"/>
                          </a:solidFill>
                          <a:latin typeface="Calibri"/>
                        </a:rPr>
                        <a:t>100%</a:t>
                      </a:r>
                    </a:p>
                  </a:txBody>
                  <a:tcPr>
                    <a:solidFill>
                      <a:srgbClr val="F0F4F8"/>
                    </a:solidFill>
                  </a:tcPr>
                </a:tc>
                <a:tc>
                  <a:txBody>
                    <a:bodyPr/>
                    <a:lstStyle/>
                    <a:p>
                      <a:pPr algn="ctr"/>
                      <a:r>
                        <a:rPr sz="1300">
                          <a:solidFill>
                            <a:srgbClr val="1A1A2E"/>
                          </a:solidFill>
                          <a:latin typeface="Calibri"/>
                        </a:rPr>
                        <a:t>28%</a:t>
                      </a:r>
                    </a:p>
                  </a:txBody>
                  <a:tcPr>
                    <a:solidFill>
                      <a:srgbClr val="F0F4F8"/>
                    </a:solidFill>
                  </a:tcPr>
                </a:tc>
              </a:tr>
              <a:tr h="393192">
                <a:tc>
                  <a:txBody>
                    <a:bodyPr/>
                    <a:lstStyle/>
                    <a:p>
                      <a:pPr algn="ctr"/>
                      <a:r>
                        <a:rPr sz="1300">
                          <a:solidFill>
                            <a:srgbClr val="1A1A2E"/>
                          </a:solidFill>
                          <a:latin typeface="Calibri"/>
                        </a:rPr>
                        <a:t>+0.5</a:t>
                      </a:r>
                    </a:p>
                  </a:txBody>
                  <a:tcPr>
                    <a:solidFill>
                      <a:srgbClr val="FFFFFF"/>
                    </a:solidFill>
                  </a:tcPr>
                </a:tc>
                <a:tc>
                  <a:txBody>
                    <a:bodyPr/>
                    <a:lstStyle/>
                    <a:p>
                      <a:pPr algn="ctr"/>
                      <a:r>
                        <a:rPr sz="1300">
                          <a:solidFill>
                            <a:srgbClr val="1A1A2E"/>
                          </a:solidFill>
                          <a:latin typeface="Calibri"/>
                        </a:rPr>
                        <a:t>16%</a:t>
                      </a:r>
                    </a:p>
                  </a:txBody>
                  <a:tcPr>
                    <a:solidFill>
                      <a:srgbClr val="FFFFFF"/>
                    </a:solidFill>
                  </a:tcPr>
                </a:tc>
                <a:tc>
                  <a:txBody>
                    <a:bodyPr/>
                    <a:lstStyle/>
                    <a:p>
                      <a:pPr algn="ctr"/>
                      <a:r>
                        <a:rPr sz="1300">
                          <a:solidFill>
                            <a:srgbClr val="1A1A2E"/>
                          </a:solidFill>
                          <a:latin typeface="Calibri"/>
                        </a:rPr>
                        <a:t>53%</a:t>
                      </a:r>
                    </a:p>
                  </a:txBody>
                  <a:tcPr>
                    <a:solidFill>
                      <a:srgbClr val="FFFFFF"/>
                    </a:solidFill>
                  </a:tcPr>
                </a:tc>
                <a:tc>
                  <a:txBody>
                    <a:bodyPr/>
                    <a:lstStyle/>
                    <a:p>
                      <a:pPr algn="ctr"/>
                      <a:r>
                        <a:rPr sz="1300">
                          <a:solidFill>
                            <a:srgbClr val="1A1A2E"/>
                          </a:solidFill>
                          <a:latin typeface="Calibri"/>
                        </a:rPr>
                        <a:t>55%</a:t>
                      </a:r>
                    </a:p>
                  </a:txBody>
                  <a:tcPr>
                    <a:solidFill>
                      <a:srgbClr val="FFFFFF"/>
                    </a:solidFill>
                  </a:tcPr>
                </a:tc>
                <a:tc>
                  <a:txBody>
                    <a:bodyPr/>
                    <a:lstStyle/>
                    <a:p>
                      <a:pPr algn="ctr"/>
                      <a:r>
                        <a:rPr sz="1300">
                          <a:solidFill>
                            <a:srgbClr val="1A1A2E"/>
                          </a:solidFill>
                          <a:latin typeface="Calibri"/>
                        </a:rPr>
                        <a:t>100%</a:t>
                      </a:r>
                    </a:p>
                  </a:txBody>
                  <a:tcPr>
                    <a:solidFill>
                      <a:srgbClr val="FFFFFF"/>
                    </a:solidFill>
                  </a:tcPr>
                </a:tc>
                <a:tc>
                  <a:txBody>
                    <a:bodyPr/>
                    <a:lstStyle/>
                    <a:p>
                      <a:pPr algn="ctr"/>
                      <a:r>
                        <a:rPr sz="1300">
                          <a:solidFill>
                            <a:srgbClr val="1A1A2E"/>
                          </a:solidFill>
                          <a:latin typeface="Calibri"/>
                        </a:rPr>
                        <a:t>38%</a:t>
                      </a:r>
                    </a:p>
                  </a:txBody>
                  <a:tcPr>
                    <a:solidFill>
                      <a:srgbClr val="FFFFFF"/>
                    </a:solidFill>
                  </a:tcPr>
                </a:tc>
              </a:tr>
              <a:tr h="393192">
                <a:tc>
                  <a:txBody>
                    <a:bodyPr/>
                    <a:lstStyle/>
                    <a:p>
                      <a:pPr algn="ctr"/>
                      <a:r>
                        <a:rPr sz="1300">
                          <a:solidFill>
                            <a:srgbClr val="1A1A2E"/>
                          </a:solidFill>
                          <a:latin typeface="Calibri"/>
                        </a:rPr>
                        <a:t>+1.0</a:t>
                      </a:r>
                    </a:p>
                  </a:txBody>
                  <a:tcPr>
                    <a:solidFill>
                      <a:srgbClr val="F0F4F8"/>
                    </a:solidFill>
                  </a:tcPr>
                </a:tc>
                <a:tc>
                  <a:txBody>
                    <a:bodyPr/>
                    <a:lstStyle/>
                    <a:p>
                      <a:pPr algn="ctr"/>
                      <a:r>
                        <a:rPr sz="1300">
                          <a:solidFill>
                            <a:srgbClr val="1A1A2E"/>
                          </a:solidFill>
                          <a:latin typeface="Calibri"/>
                        </a:rPr>
                        <a:t>33%</a:t>
                      </a:r>
                    </a:p>
                  </a:txBody>
                  <a:tcPr>
                    <a:solidFill>
                      <a:srgbClr val="F0F4F8"/>
                    </a:solidFill>
                  </a:tcPr>
                </a:tc>
                <a:tc>
                  <a:txBody>
                    <a:bodyPr/>
                    <a:lstStyle/>
                    <a:p>
                      <a:pPr algn="ctr"/>
                      <a:r>
                        <a:rPr sz="1300">
                          <a:solidFill>
                            <a:srgbClr val="1A1A2E"/>
                          </a:solidFill>
                          <a:latin typeface="Calibri"/>
                        </a:rPr>
                        <a:t>65%</a:t>
                      </a:r>
                    </a:p>
                  </a:txBody>
                  <a:tcPr>
                    <a:solidFill>
                      <a:srgbClr val="F0F4F8"/>
                    </a:solidFill>
                  </a:tcPr>
                </a:tc>
                <a:tc>
                  <a:txBody>
                    <a:bodyPr/>
                    <a:lstStyle/>
                    <a:p>
                      <a:pPr algn="ctr"/>
                      <a:r>
                        <a:rPr sz="1300">
                          <a:solidFill>
                            <a:srgbClr val="1A1A2E"/>
                          </a:solidFill>
                          <a:latin typeface="Calibri"/>
                        </a:rPr>
                        <a:t>68%</a:t>
                      </a:r>
                    </a:p>
                  </a:txBody>
                  <a:tcPr>
                    <a:solidFill>
                      <a:srgbClr val="F0F4F8"/>
                    </a:solidFill>
                  </a:tcPr>
                </a:tc>
                <a:tc>
                  <a:txBody>
                    <a:bodyPr/>
                    <a:lstStyle/>
                    <a:p>
                      <a:pPr algn="ctr"/>
                      <a:r>
                        <a:rPr sz="1300">
                          <a:solidFill>
                            <a:srgbClr val="1A1A2E"/>
                          </a:solidFill>
                          <a:latin typeface="Calibri"/>
                        </a:rPr>
                        <a:t>100%</a:t>
                      </a:r>
                    </a:p>
                  </a:txBody>
                  <a:tcPr>
                    <a:solidFill>
                      <a:srgbClr val="F0F4F8"/>
                    </a:solidFill>
                  </a:tcPr>
                </a:tc>
                <a:tc>
                  <a:txBody>
                    <a:bodyPr/>
                    <a:lstStyle/>
                    <a:p>
                      <a:pPr algn="ctr"/>
                      <a:r>
                        <a:rPr sz="1300">
                          <a:solidFill>
                            <a:srgbClr val="1A1A2E"/>
                          </a:solidFill>
                          <a:latin typeface="Calibri"/>
                        </a:rPr>
                        <a:t>47%</a:t>
                      </a:r>
                    </a:p>
                  </a:txBody>
                  <a:tcPr>
                    <a:solidFill>
                      <a:srgbClr val="F0F4F8"/>
                    </a:solidFill>
                  </a:tcPr>
                </a:tc>
              </a:tr>
              <a:tr h="393192">
                <a:tc>
                  <a:txBody>
                    <a:bodyPr/>
                    <a:lstStyle/>
                    <a:p>
                      <a:pPr algn="ctr"/>
                      <a:r>
                        <a:rPr sz="1300">
                          <a:solidFill>
                            <a:srgbClr val="1A1A2E"/>
                          </a:solidFill>
                          <a:latin typeface="Calibri"/>
                        </a:rPr>
                        <a:t>+1.5</a:t>
                      </a:r>
                    </a:p>
                  </a:txBody>
                  <a:tcPr>
                    <a:solidFill>
                      <a:srgbClr val="FFFFFF"/>
                    </a:solidFill>
                  </a:tcPr>
                </a:tc>
                <a:tc>
                  <a:txBody>
                    <a:bodyPr/>
                    <a:lstStyle/>
                    <a:p>
                      <a:pPr algn="ctr"/>
                      <a:r>
                        <a:rPr sz="1300">
                          <a:solidFill>
                            <a:srgbClr val="1A1A2E"/>
                          </a:solidFill>
                          <a:latin typeface="Calibri"/>
                        </a:rPr>
                        <a:t>56%</a:t>
                      </a:r>
                    </a:p>
                  </a:txBody>
                  <a:tcPr>
                    <a:solidFill>
                      <a:srgbClr val="FFFFFF"/>
                    </a:solidFill>
                  </a:tcPr>
                </a:tc>
                <a:tc>
                  <a:txBody>
                    <a:bodyPr/>
                    <a:lstStyle/>
                    <a:p>
                      <a:pPr algn="ctr"/>
                      <a:r>
                        <a:rPr sz="1300">
                          <a:solidFill>
                            <a:srgbClr val="1A1A2E"/>
                          </a:solidFill>
                          <a:latin typeface="Calibri"/>
                        </a:rPr>
                        <a:t>84%</a:t>
                      </a:r>
                    </a:p>
                  </a:txBody>
                  <a:tcPr>
                    <a:solidFill>
                      <a:srgbClr val="FFFFFF"/>
                    </a:solidFill>
                  </a:tcPr>
                </a:tc>
                <a:tc>
                  <a:txBody>
                    <a:bodyPr/>
                    <a:lstStyle/>
                    <a:p>
                      <a:pPr algn="ctr"/>
                      <a:r>
                        <a:rPr sz="1300">
                          <a:solidFill>
                            <a:srgbClr val="1A1A2E"/>
                          </a:solidFill>
                          <a:latin typeface="Calibri"/>
                        </a:rPr>
                        <a:t>83%</a:t>
                      </a:r>
                    </a:p>
                  </a:txBody>
                  <a:tcPr>
                    <a:solidFill>
                      <a:srgbClr val="FFFFFF"/>
                    </a:solidFill>
                  </a:tcPr>
                </a:tc>
                <a:tc>
                  <a:txBody>
                    <a:bodyPr/>
                    <a:lstStyle/>
                    <a:p>
                      <a:pPr algn="ctr"/>
                      <a:r>
                        <a:rPr sz="1300">
                          <a:solidFill>
                            <a:srgbClr val="1A1A2E"/>
                          </a:solidFill>
                          <a:latin typeface="Calibri"/>
                        </a:rPr>
                        <a:t>100%</a:t>
                      </a:r>
                    </a:p>
                  </a:txBody>
                  <a:tcPr>
                    <a:solidFill>
                      <a:srgbClr val="FFFFFF"/>
                    </a:solidFill>
                  </a:tcPr>
                </a:tc>
                <a:tc>
                  <a:txBody>
                    <a:bodyPr/>
                    <a:lstStyle/>
                    <a:p>
                      <a:pPr algn="ctr"/>
                      <a:r>
                        <a:rPr sz="1300">
                          <a:solidFill>
                            <a:srgbClr val="1A1A2E"/>
                          </a:solidFill>
                          <a:latin typeface="Calibri"/>
                        </a:rPr>
                        <a:t>61%</a:t>
                      </a:r>
                    </a:p>
                  </a:txBody>
                  <a:tcPr>
                    <a:solidFill>
                      <a:srgbClr val="FFFFFF"/>
                    </a:solidFill>
                  </a:tcPr>
                </a:tc>
              </a:tr>
              <a:tr h="393192">
                <a:tc>
                  <a:txBody>
                    <a:bodyPr/>
                    <a:lstStyle/>
                    <a:p>
                      <a:pPr algn="ctr"/>
                      <a:r>
                        <a:rPr sz="1300">
                          <a:solidFill>
                            <a:srgbClr val="1A1A2E"/>
                          </a:solidFill>
                          <a:latin typeface="Calibri"/>
                        </a:rPr>
                        <a:t>+2.0</a:t>
                      </a:r>
                    </a:p>
                  </a:txBody>
                  <a:tcPr>
                    <a:solidFill>
                      <a:srgbClr val="F0F4F8"/>
                    </a:solidFill>
                  </a:tcPr>
                </a:tc>
                <a:tc>
                  <a:txBody>
                    <a:bodyPr/>
                    <a:lstStyle/>
                    <a:p>
                      <a:pPr algn="ctr"/>
                      <a:r>
                        <a:rPr sz="1300">
                          <a:solidFill>
                            <a:srgbClr val="1A1A2E"/>
                          </a:solidFill>
                          <a:latin typeface="Calibri"/>
                        </a:rPr>
                        <a:t>72%</a:t>
                      </a:r>
                    </a:p>
                  </a:txBody>
                  <a:tcPr>
                    <a:solidFill>
                      <a:srgbClr val="F0F4F8"/>
                    </a:solidFill>
                  </a:tcPr>
                </a:tc>
                <a:tc>
                  <a:txBody>
                    <a:bodyPr/>
                    <a:lstStyle/>
                    <a:p>
                      <a:pPr algn="ctr"/>
                      <a:r>
                        <a:rPr sz="1300">
                          <a:solidFill>
                            <a:srgbClr val="1A1A2E"/>
                          </a:solidFill>
                          <a:latin typeface="Calibri"/>
                        </a:rPr>
                        <a:t>92%</a:t>
                      </a:r>
                    </a:p>
                  </a:txBody>
                  <a:tcPr>
                    <a:solidFill>
                      <a:srgbClr val="F0F4F8"/>
                    </a:solidFill>
                  </a:tcPr>
                </a:tc>
                <a:tc>
                  <a:txBody>
                    <a:bodyPr/>
                    <a:lstStyle/>
                    <a:p>
                      <a:pPr algn="ctr"/>
                      <a:r>
                        <a:rPr sz="1300">
                          <a:solidFill>
                            <a:srgbClr val="1A1A2E"/>
                          </a:solidFill>
                          <a:latin typeface="Calibri"/>
                        </a:rPr>
                        <a:t>89%</a:t>
                      </a:r>
                    </a:p>
                  </a:txBody>
                  <a:tcPr>
                    <a:solidFill>
                      <a:srgbClr val="F0F4F8"/>
                    </a:solidFill>
                  </a:tcPr>
                </a:tc>
                <a:tc>
                  <a:txBody>
                    <a:bodyPr/>
                    <a:lstStyle/>
                    <a:p>
                      <a:pPr algn="ctr"/>
                      <a:r>
                        <a:rPr sz="1300">
                          <a:solidFill>
                            <a:srgbClr val="1A1A2E"/>
                          </a:solidFill>
                          <a:latin typeface="Calibri"/>
                        </a:rPr>
                        <a:t>100%</a:t>
                      </a:r>
                    </a:p>
                  </a:txBody>
                  <a:tcPr>
                    <a:solidFill>
                      <a:srgbClr val="F0F4F8"/>
                    </a:solidFill>
                  </a:tcPr>
                </a:tc>
                <a:tc>
                  <a:txBody>
                    <a:bodyPr/>
                    <a:lstStyle/>
                    <a:p>
                      <a:pPr algn="ctr"/>
                      <a:r>
                        <a:rPr sz="1300">
                          <a:solidFill>
                            <a:srgbClr val="1A1A2E"/>
                          </a:solidFill>
                          <a:latin typeface="Calibri"/>
                        </a:rPr>
                        <a:t>69%</a:t>
                      </a:r>
                    </a:p>
                  </a:txBody>
                  <a:tcPr>
                    <a:solidFill>
                      <a:srgbClr val="F0F4F8"/>
                    </a:solidFill>
                  </a:tcPr>
                </a:tc>
              </a:tr>
              <a:tr h="393192">
                <a:tc>
                  <a:txBody>
                    <a:bodyPr/>
                    <a:lstStyle/>
                    <a:p>
                      <a:pPr algn="ctr"/>
                      <a:r>
                        <a:rPr sz="1300">
                          <a:solidFill>
                            <a:srgbClr val="1A1A2E"/>
                          </a:solidFill>
                          <a:latin typeface="Calibri"/>
                        </a:rPr>
                        <a:t>+2.5</a:t>
                      </a:r>
                    </a:p>
                  </a:txBody>
                  <a:tcPr>
                    <a:solidFill>
                      <a:srgbClr val="FFFFFF"/>
                    </a:solidFill>
                  </a:tcPr>
                </a:tc>
                <a:tc>
                  <a:txBody>
                    <a:bodyPr/>
                    <a:lstStyle/>
                    <a:p>
                      <a:pPr algn="ctr"/>
                      <a:r>
                        <a:rPr sz="1300">
                          <a:solidFill>
                            <a:srgbClr val="1A1A2E"/>
                          </a:solidFill>
                          <a:latin typeface="Calibri"/>
                        </a:rPr>
                        <a:t>83%</a:t>
                      </a:r>
                    </a:p>
                  </a:txBody>
                  <a:tcPr>
                    <a:solidFill>
                      <a:srgbClr val="FFFFFF"/>
                    </a:solidFill>
                  </a:tcPr>
                </a:tc>
                <a:tc>
                  <a:txBody>
                    <a:bodyPr/>
                    <a:lstStyle/>
                    <a:p>
                      <a:pPr algn="ctr"/>
                      <a:r>
                        <a:rPr sz="1300">
                          <a:solidFill>
                            <a:srgbClr val="1A1A2E"/>
                          </a:solidFill>
                          <a:latin typeface="Calibri"/>
                        </a:rPr>
                        <a:t>97%</a:t>
                      </a:r>
                    </a:p>
                  </a:txBody>
                  <a:tcPr>
                    <a:solidFill>
                      <a:srgbClr val="FFFFFF"/>
                    </a:solidFill>
                  </a:tcPr>
                </a:tc>
                <a:tc>
                  <a:txBody>
                    <a:bodyPr/>
                    <a:lstStyle/>
                    <a:p>
                      <a:pPr algn="ctr"/>
                      <a:r>
                        <a:rPr sz="1300">
                          <a:solidFill>
                            <a:srgbClr val="1A1A2E"/>
                          </a:solidFill>
                          <a:latin typeface="Calibri"/>
                        </a:rPr>
                        <a:t>91%</a:t>
                      </a:r>
                    </a:p>
                  </a:txBody>
                  <a:tcPr>
                    <a:solidFill>
                      <a:srgbClr val="FFFFFF"/>
                    </a:solidFill>
                  </a:tcPr>
                </a:tc>
                <a:tc>
                  <a:txBody>
                    <a:bodyPr/>
                    <a:lstStyle/>
                    <a:p>
                      <a:pPr algn="ctr"/>
                      <a:r>
                        <a:rPr sz="1300">
                          <a:solidFill>
                            <a:srgbClr val="1A1A2E"/>
                          </a:solidFill>
                          <a:latin typeface="Calibri"/>
                        </a:rPr>
                        <a:t>100%</a:t>
                      </a:r>
                    </a:p>
                  </a:txBody>
                  <a:tcPr>
                    <a:solidFill>
                      <a:srgbClr val="FFFFFF"/>
                    </a:solidFill>
                  </a:tcPr>
                </a:tc>
                <a:tc>
                  <a:txBody>
                    <a:bodyPr/>
                    <a:lstStyle/>
                    <a:p>
                      <a:pPr algn="ctr"/>
                      <a:r>
                        <a:rPr sz="1300">
                          <a:solidFill>
                            <a:srgbClr val="1A1A2E"/>
                          </a:solidFill>
                          <a:latin typeface="Calibri"/>
                        </a:rPr>
                        <a:t>74%</a:t>
                      </a:r>
                    </a:p>
                  </a:txBody>
                  <a:tcPr>
                    <a:solidFill>
                      <a:srgbClr val="FFFFFF"/>
                    </a:solidFill>
                  </a:tcPr>
                </a:tc>
              </a:tr>
            </a:tbl>
          </a:graphicData>
        </a:graphic>
      </p:graphicFrame>
      <p:sp>
        <p:nvSpPr>
          <p:cNvPr id="5" name="TextBox 4"/>
          <p:cNvSpPr txBox="1"/>
          <p:nvPr/>
        </p:nvSpPr>
        <p:spPr>
          <a:xfrm>
            <a:off x="365760" y="5303520"/>
            <a:ext cx="11430000" cy="640080"/>
          </a:xfrm>
          <a:prstGeom prst="rect">
            <a:avLst/>
          </a:prstGeom>
          <a:noFill/>
        </p:spPr>
        <p:txBody>
          <a:bodyPr wrap="square">
            <a:spAutoFit/>
          </a:bodyPr>
          <a:lstStyle/>
          <a:p>
            <a:pPr algn="l"/>
            <a:r>
              <a:rPr sz="1600" b="0" i="1">
                <a:solidFill>
                  <a:srgbClr val="444455"/>
                </a:solidFill>
                <a:latin typeface="Calibri"/>
              </a:rPr>
              <a:t>With BPF: det_hit = 100% at every SNR level.  All remaining failures are oracle_decode_miss — the decoder limit.  The SPD is now decoder-limited, not detection-limited.</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Final Sensitivity Budget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Each gap measured independently; total improvement 4 dB over baseline: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65760" y="2011680"/>
          <a:ext cx="11430000" cy="3200400"/>
        </p:xfrm>
        <a:graphic>
          <a:graphicData uri="http://schemas.openxmlformats.org/drawingml/2006/table">
            <a:tbl>
              <a:tblPr firstRow="1" bandRow="1">
                <a:tableStyleId>{5C22544A-7EE6-4342-B048-85BDC9FD1C3A}</a:tableStyleId>
              </a:tblPr>
              <a:tblGrid>
                <a:gridCol w="4572000"/>
                <a:gridCol w="2560320"/>
                <a:gridCol w="2286000"/>
                <a:gridCol w="2011680"/>
              </a:tblGrid>
              <a:tr h="457200">
                <a:tc>
                  <a:txBody>
                    <a:bodyPr/>
                    <a:lstStyle/>
                    <a:p>
                      <a:pPr algn="ctr"/>
                      <a:r>
                        <a:rPr sz="1400" b="1">
                          <a:solidFill>
                            <a:srgbClr val="FFFFFF"/>
                          </a:solidFill>
                          <a:latin typeface="Calibri"/>
                        </a:rPr>
                        <a:t>Fix</a:t>
                      </a:r>
                    </a:p>
                  </a:txBody>
                  <a:tcPr>
                    <a:solidFill>
                      <a:srgbClr val="1B3A6B"/>
                    </a:solidFill>
                  </a:tcPr>
                </a:tc>
                <a:tc>
                  <a:txBody>
                    <a:bodyPr/>
                    <a:lstStyle/>
                    <a:p>
                      <a:pPr algn="ctr"/>
                      <a:r>
                        <a:rPr sz="1400" b="1">
                          <a:solidFill>
                            <a:srgbClr val="FFFFFF"/>
                          </a:solidFill>
                          <a:latin typeface="Calibri"/>
                        </a:rPr>
                        <a:t>SPD 50% threshold</a:t>
                      </a:r>
                    </a:p>
                  </a:txBody>
                  <a:tcPr>
                    <a:solidFill>
                      <a:srgbClr val="1B3A6B"/>
                    </a:solidFill>
                  </a:tcPr>
                </a:tc>
                <a:tc>
                  <a:txBody>
                    <a:bodyPr/>
                    <a:lstStyle/>
                    <a:p>
                      <a:pPr algn="ctr"/>
                      <a:r>
                        <a:rPr sz="1400" b="1">
                          <a:solidFill>
                            <a:srgbClr val="FFFFFF"/>
                          </a:solidFill>
                          <a:latin typeface="Calibri"/>
                        </a:rPr>
                        <a:t>Cumulative gain</a:t>
                      </a:r>
                    </a:p>
                  </a:txBody>
                  <a:tcPr>
                    <a:solidFill>
                      <a:srgbClr val="1B3A6B"/>
                    </a:solidFill>
                  </a:tcPr>
                </a:tc>
                <a:tc>
                  <a:txBody>
                    <a:bodyPr/>
                    <a:lstStyle/>
                    <a:p>
                      <a:pPr algn="ctr"/>
                      <a:r>
                        <a:rPr sz="1400" b="1">
                          <a:solidFill>
                            <a:srgbClr val="FFFFFF"/>
                          </a:solidFill>
                          <a:latin typeface="Calibri"/>
                        </a:rPr>
                        <a:t>Status</a:t>
                      </a:r>
                    </a:p>
                  </a:txBody>
                  <a:tcPr>
                    <a:solidFill>
                      <a:srgbClr val="1B3A6B"/>
                    </a:solidFill>
                  </a:tcPr>
                </a:tc>
              </a:tr>
              <a:tr h="457200">
                <a:tc>
                  <a:txBody>
                    <a:bodyPr/>
                    <a:lstStyle/>
                    <a:p>
                      <a:pPr algn="ctr"/>
                      <a:r>
                        <a:rPr sz="1400">
                          <a:solidFill>
                            <a:srgbClr val="1A1A2E"/>
                          </a:solidFill>
                          <a:latin typeface="Calibri"/>
                        </a:rPr>
                        <a:t>Baseline — real audio, Hilbert path</a:t>
                      </a:r>
                    </a:p>
                  </a:txBody>
                  <a:tcPr>
                    <a:solidFill>
                      <a:srgbClr val="F0F4F8"/>
                    </a:solidFill>
                  </a:tcPr>
                </a:tc>
                <a:tc>
                  <a:txBody>
                    <a:bodyPr/>
                    <a:lstStyle/>
                    <a:p>
                      <a:pPr algn="ctr"/>
                      <a:r>
                        <a:rPr sz="1400">
                          <a:solidFill>
                            <a:srgbClr val="1A1A2E"/>
                          </a:solidFill>
                          <a:latin typeface="Calibri"/>
                        </a:rPr>
                        <a:t>+4.0 dB</a:t>
                      </a:r>
                    </a:p>
                  </a:txBody>
                  <a:tcPr>
                    <a:solidFill>
                      <a:srgbClr val="F0F4F8"/>
                    </a:solidFill>
                  </a:tcPr>
                </a:tc>
                <a:tc>
                  <a:txBody>
                    <a:bodyPr/>
                    <a:lstStyle/>
                    <a:p>
                      <a:pPr algn="ctr"/>
                      <a:r>
                        <a:rPr sz="1400">
                          <a:solidFill>
                            <a:srgbClr val="1A1A2E"/>
                          </a:solidFill>
                          <a:latin typeface="Calibri"/>
                        </a:rPr>
                        <a:t>—</a:t>
                      </a:r>
                    </a:p>
                  </a:txBody>
                  <a:tcPr>
                    <a:solidFill>
                      <a:srgbClr val="F0F4F8"/>
                    </a:solidFill>
                  </a:tcPr>
                </a:tc>
                <a:tc>
                  <a:txBody>
                    <a:bodyPr/>
                    <a:lstStyle/>
                    <a:p>
                      <a:pPr algn="ctr"/>
                      <a:r>
                        <a:rPr sz="1400">
                          <a:solidFill>
                            <a:srgbClr val="1A1A2E"/>
                          </a:solidFill>
                          <a:latin typeface="Calibri"/>
                        </a:rPr>
                        <a:t>Measured</a:t>
                      </a:r>
                    </a:p>
                  </a:txBody>
                  <a:tcPr>
                    <a:solidFill>
                      <a:srgbClr val="F0F4F8"/>
                    </a:solidFill>
                  </a:tcPr>
                </a:tc>
              </a:tr>
              <a:tr h="457200">
                <a:tc>
                  <a:txBody>
                    <a:bodyPr/>
                    <a:lstStyle/>
                    <a:p>
                      <a:pPr algn="ctr"/>
                      <a:r>
                        <a:rPr sz="1400">
                          <a:solidFill>
                            <a:srgbClr val="1A1A2E"/>
                          </a:solidFill>
                          <a:latin typeface="Calibri"/>
                        </a:rPr>
                        <a:t>Gap 1 — complex IQ, √2 scale fix</a:t>
                      </a:r>
                    </a:p>
                  </a:txBody>
                  <a:tcPr>
                    <a:solidFill>
                      <a:srgbClr val="FFFFFF"/>
                    </a:solidFill>
                  </a:tcPr>
                </a:tc>
                <a:tc>
                  <a:txBody>
                    <a:bodyPr/>
                    <a:lstStyle/>
                    <a:p>
                      <a:pPr algn="ctr"/>
                      <a:r>
                        <a:rPr sz="1400">
                          <a:solidFill>
                            <a:srgbClr val="1A1A2E"/>
                          </a:solidFill>
                          <a:latin typeface="Calibri"/>
                        </a:rPr>
                        <a:t>+1.4 dB</a:t>
                      </a:r>
                    </a:p>
                  </a:txBody>
                  <a:tcPr>
                    <a:solidFill>
                      <a:srgbClr val="FFFFFF"/>
                    </a:solidFill>
                  </a:tcPr>
                </a:tc>
                <a:tc>
                  <a:txBody>
                    <a:bodyPr/>
                    <a:lstStyle/>
                    <a:p>
                      <a:pPr algn="ctr"/>
                      <a:r>
                        <a:rPr sz="1400">
                          <a:solidFill>
                            <a:srgbClr val="1A1A2E"/>
                          </a:solidFill>
                          <a:latin typeface="Calibri"/>
                        </a:rPr>
                        <a:t>+2.6 dB</a:t>
                      </a:r>
                    </a:p>
                  </a:txBody>
                  <a:tcPr>
                    <a:solidFill>
                      <a:srgbClr val="FFFFFF"/>
                    </a:solidFill>
                  </a:tcPr>
                </a:tc>
                <a:tc>
                  <a:txBody>
                    <a:bodyPr/>
                    <a:lstStyle/>
                    <a:p>
                      <a:pPr algn="ctr"/>
                      <a:r>
                        <a:rPr sz="1400">
                          <a:solidFill>
                            <a:srgbClr val="1A1A2E"/>
                          </a:solidFill>
                          <a:latin typeface="Calibri"/>
                        </a:rPr>
                        <a:t>Done ✓</a:t>
                      </a:r>
                    </a:p>
                  </a:txBody>
                  <a:tcPr>
                    <a:solidFill>
                      <a:srgbClr val="FFFFFF"/>
                    </a:solidFill>
                  </a:tcPr>
                </a:tc>
              </a:tr>
              <a:tr h="457200">
                <a:tc>
                  <a:txBody>
                    <a:bodyPr/>
                    <a:lstStyle/>
                    <a:p>
                      <a:pPr algn="ctr"/>
                      <a:r>
                        <a:rPr sz="1400">
                          <a:solidFill>
                            <a:srgbClr val="1A1A2E"/>
                          </a:solidFill>
                          <a:latin typeface="Calibri"/>
                        </a:rPr>
                        <a:t>Gap 2 — Python decoder accuracy</a:t>
                      </a:r>
                    </a:p>
                  </a:txBody>
                  <a:tcPr>
                    <a:solidFill>
                      <a:srgbClr val="F0F4F8"/>
                    </a:solidFill>
                  </a:tcPr>
                </a:tc>
                <a:tc>
                  <a:txBody>
                    <a:bodyPr/>
                    <a:lstStyle/>
                    <a:p>
                      <a:pPr algn="ctr"/>
                      <a:r>
                        <a:rPr sz="1400">
                          <a:solidFill>
                            <a:srgbClr val="1A1A2E"/>
                          </a:solidFill>
                          <a:latin typeface="Calibri"/>
                        </a:rPr>
                        <a:t>+1.4 dB</a:t>
                      </a:r>
                    </a:p>
                  </a:txBody>
                  <a:tcPr>
                    <a:solidFill>
                      <a:srgbClr val="F0F4F8"/>
                    </a:solidFill>
                  </a:tcPr>
                </a:tc>
                <a:tc>
                  <a:txBody>
                    <a:bodyPr/>
                    <a:lstStyle/>
                    <a:p>
                      <a:pPr algn="ctr"/>
                      <a:r>
                        <a:rPr sz="1400">
                          <a:solidFill>
                            <a:srgbClr val="1A1A2E"/>
                          </a:solidFill>
                          <a:latin typeface="Calibri"/>
                        </a:rPr>
                        <a:t>0 dB</a:t>
                      </a:r>
                    </a:p>
                  </a:txBody>
                  <a:tcPr>
                    <a:solidFill>
                      <a:srgbClr val="F0F4F8"/>
                    </a:solidFill>
                  </a:tcPr>
                </a:tc>
                <a:tc>
                  <a:txBody>
                    <a:bodyPr/>
                    <a:lstStyle/>
                    <a:p>
                      <a:pPr algn="ctr"/>
                      <a:r>
                        <a:rPr sz="1400">
                          <a:solidFill>
                            <a:srgbClr val="1A1A2E"/>
                          </a:solidFill>
                          <a:latin typeface="Calibri"/>
                        </a:rPr>
                        <a:t>No gap exists ✓</a:t>
                      </a:r>
                    </a:p>
                  </a:txBody>
                  <a:tcPr>
                    <a:solidFill>
                      <a:srgbClr val="F0F4F8"/>
                    </a:solidFill>
                  </a:tcPr>
                </a:tc>
              </a:tr>
              <a:tr h="457200">
                <a:tc>
                  <a:txBody>
                    <a:bodyPr/>
                    <a:lstStyle/>
                    <a:p>
                      <a:pPr algn="ctr"/>
                      <a:r>
                        <a:rPr sz="1400">
                          <a:solidFill>
                            <a:srgbClr val="1A1A2E"/>
                          </a:solidFill>
                          <a:latin typeface="Calibri"/>
                        </a:rPr>
                        <a:t>Gap 3 — audio BPF 300–2700 Hz</a:t>
                      </a:r>
                    </a:p>
                  </a:txBody>
                  <a:tcPr>
                    <a:solidFill>
                      <a:srgbClr val="FFFFFF"/>
                    </a:solidFill>
                  </a:tcPr>
                </a:tc>
                <a:tc>
                  <a:txBody>
                    <a:bodyPr/>
                    <a:lstStyle/>
                    <a:p>
                      <a:pPr algn="ctr"/>
                      <a:r>
                        <a:rPr sz="1400">
                          <a:solidFill>
                            <a:srgbClr val="1A1A2E"/>
                          </a:solidFill>
                          <a:latin typeface="Calibri"/>
                        </a:rPr>
                        <a:t>~0.0 dB</a:t>
                      </a:r>
                    </a:p>
                  </a:txBody>
                  <a:tcPr>
                    <a:solidFill>
                      <a:srgbClr val="FFFFFF"/>
                    </a:solidFill>
                  </a:tcPr>
                </a:tc>
                <a:tc>
                  <a:txBody>
                    <a:bodyPr/>
                    <a:lstStyle/>
                    <a:p>
                      <a:pPr algn="ctr"/>
                      <a:r>
                        <a:rPr sz="1400">
                          <a:solidFill>
                            <a:srgbClr val="1A1A2E"/>
                          </a:solidFill>
                          <a:latin typeface="Calibri"/>
                        </a:rPr>
                        <a:t>+1.4 dB</a:t>
                      </a:r>
                    </a:p>
                  </a:txBody>
                  <a:tcPr>
                    <a:solidFill>
                      <a:srgbClr val="FFFFFF"/>
                    </a:solidFill>
                  </a:tcPr>
                </a:tc>
                <a:tc>
                  <a:txBody>
                    <a:bodyPr/>
                    <a:lstStyle/>
                    <a:p>
                      <a:pPr algn="ctr"/>
                      <a:r>
                        <a:rPr sz="1400">
                          <a:solidFill>
                            <a:srgbClr val="1A1A2E"/>
                          </a:solidFill>
                          <a:latin typeface="Calibri"/>
                        </a:rPr>
                        <a:t>Done ✓</a:t>
                      </a:r>
                    </a:p>
                  </a:txBody>
                  <a:tcPr>
                    <a:solidFill>
                      <a:srgbClr val="FFFFFF"/>
                    </a:solidFill>
                  </a:tcPr>
                </a:tc>
              </a:tr>
              <a:tr h="457200">
                <a:tc>
                  <a:txBody>
                    <a:bodyPr/>
                    <a:lstStyle/>
                    <a:p>
                      <a:pPr algn="ctr"/>
                      <a:r>
                        <a:rPr sz="1400">
                          <a:solidFill>
                            <a:srgbClr val="1A1A2E"/>
                          </a:solidFill>
                          <a:latin typeface="Calibri"/>
                        </a:rPr>
                        <a:t>Oracle decoder limit (floor)</a:t>
                      </a:r>
                    </a:p>
                  </a:txBody>
                  <a:tcPr>
                    <a:solidFill>
                      <a:srgbClr val="F0F4F8"/>
                    </a:solidFill>
                  </a:tcPr>
                </a:tc>
                <a:tc>
                  <a:txBody>
                    <a:bodyPr/>
                    <a:lstStyle/>
                    <a:p>
                      <a:pPr algn="ctr"/>
                      <a:r>
                        <a:rPr sz="1400">
                          <a:solidFill>
                            <a:srgbClr val="1A1A2E"/>
                          </a:solidFill>
                          <a:latin typeface="Calibri"/>
                        </a:rPr>
                        <a:t>~0.0 dB</a:t>
                      </a:r>
                    </a:p>
                  </a:txBody>
                  <a:tcPr>
                    <a:solidFill>
                      <a:srgbClr val="F0F4F8"/>
                    </a:solidFill>
                  </a:tcPr>
                </a:tc>
                <a:tc>
                  <a:txBody>
                    <a:bodyPr/>
                    <a:lstStyle/>
                    <a:p>
                      <a:pPr algn="ctr"/>
                      <a:r>
                        <a:rPr sz="1400">
                          <a:solidFill>
                            <a:srgbClr val="1A1A2E"/>
                          </a:solidFill>
                          <a:latin typeface="Calibri"/>
                        </a:rPr>
                        <a:t>+4.0 dB</a:t>
                      </a:r>
                    </a:p>
                  </a:txBody>
                  <a:tcPr>
                    <a:solidFill>
                      <a:srgbClr val="F0F4F8"/>
                    </a:solidFill>
                  </a:tcPr>
                </a:tc>
                <a:tc>
                  <a:txBody>
                    <a:bodyPr/>
                    <a:lstStyle/>
                    <a:p>
                      <a:pPr algn="ctr"/>
                      <a:r>
                        <a:rPr sz="1400">
                          <a:solidFill>
                            <a:srgbClr val="1A1A2E"/>
                          </a:solidFill>
                          <a:latin typeface="Calibri"/>
                        </a:rPr>
                        <a:t>Decoder-limited</a:t>
                      </a:r>
                    </a:p>
                  </a:txBody>
                  <a:tcPr>
                    <a:solidFill>
                      <a:srgbClr val="F0F4F8"/>
                    </a:solidFill>
                  </a:tcPr>
                </a:tc>
              </a:tr>
              <a:tr h="457200">
                <a:tc>
                  <a:txBody>
                    <a:bodyPr/>
                    <a:lstStyle/>
                    <a:p>
                      <a:pPr algn="ctr"/>
                      <a:r>
                        <a:rPr sz="1400">
                          <a:solidFill>
                            <a:srgbClr val="1A1A2E"/>
                          </a:solidFill>
                          <a:latin typeface="Calibri"/>
                        </a:rPr>
                        <a:t>QEX reference (conditions unknown)</a:t>
                      </a:r>
                    </a:p>
                  </a:txBody>
                  <a:tcPr>
                    <a:solidFill>
                      <a:srgbClr val="FFFFFF"/>
                    </a:solidFill>
                  </a:tcPr>
                </a:tc>
                <a:tc>
                  <a:txBody>
                    <a:bodyPr/>
                    <a:lstStyle/>
                    <a:p>
                      <a:pPr algn="ctr"/>
                      <a:r>
                        <a:rPr sz="1400">
                          <a:solidFill>
                            <a:srgbClr val="1A1A2E"/>
                          </a:solidFill>
                          <a:latin typeface="Calibri"/>
                        </a:rPr>
                        <a:t>−1.4 dB</a:t>
                      </a:r>
                    </a:p>
                  </a:txBody>
                  <a:tcPr>
                    <a:solidFill>
                      <a:srgbClr val="FFFFFF"/>
                    </a:solidFill>
                  </a:tcPr>
                </a:tc>
                <a:tc>
                  <a:txBody>
                    <a:bodyPr/>
                    <a:lstStyle/>
                    <a:p>
                      <a:pPr algn="ctr"/>
                      <a:r>
                        <a:rPr sz="1400">
                          <a:solidFill>
                            <a:srgbClr val="1A1A2E"/>
                          </a:solidFill>
                          <a:latin typeface="Calibri"/>
                        </a:rPr>
                        <a:t>—</a:t>
                      </a:r>
                    </a:p>
                  </a:txBody>
                  <a:tcPr>
                    <a:solidFill>
                      <a:srgbClr val="FFFFFF"/>
                    </a:solidFill>
                  </a:tcPr>
                </a:tc>
                <a:tc>
                  <a:txBody>
                    <a:bodyPr/>
                    <a:lstStyle/>
                    <a:p>
                      <a:pPr algn="ctr"/>
                      <a:r>
                        <a:rPr sz="1400">
                          <a:solidFill>
                            <a:srgbClr val="1A1A2E"/>
                          </a:solidFill>
                          <a:latin typeface="Calibri"/>
                        </a:rPr>
                        <a:t>Different conditions</a:t>
                      </a:r>
                    </a:p>
                  </a:txBody>
                  <a:tcPr>
                    <a:solidFill>
                      <a:srgbClr val="FFFFFF"/>
                    </a:solidFill>
                  </a:tcPr>
                </a:tc>
              </a:tr>
            </a:tbl>
          </a:graphicData>
        </a:graphic>
      </p:graphicFrame>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What Made This Investigation Possible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Multi-session memory — findings persisted across days of work</a:t>
            </a:r>
          </a:p>
          <a:p>
            <a:pPr lvl="1"/>
            <a:r>
              <a:rPr sz="1800" b="0" i="0">
                <a:solidFill>
                  <a:srgbClr val="444455"/>
                </a:solidFill>
                <a:latin typeface="Calibri"/>
              </a:rPr>
              <a:t>Intermediate results, failure modes, and rejected hypotheses all recorded</a:t>
            </a:r>
          </a:p>
          <a:p>
            <a:pPr lvl="1"/>
            <a:r>
              <a:rPr sz="1800" b="0" i="0">
                <a:solidFill>
                  <a:srgbClr val="444455"/>
                </a:solidFill>
                <a:latin typeface="Calibri"/>
              </a:rPr>
              <a:t>New sessions started with full context, not re-deriving basics</a:t>
            </a:r>
          </a:p>
          <a:p>
            <a:pPr/>
            <a:r>
              <a:rPr sz="2000" b="1" i="0">
                <a:solidFill>
                  <a:srgbClr val="1A1A2E"/>
                </a:solidFill>
                <a:latin typeface="Calibri"/>
              </a:rPr>
              <a:t>Claude executed complex tool chains without supervision</a:t>
            </a:r>
          </a:p>
          <a:p>
            <a:pPr lvl="1"/>
            <a:r>
              <a:rPr sz="1800" b="0" i="0">
                <a:solidFill>
                  <a:srgbClr val="444455"/>
                </a:solidFill>
                <a:latin typeface="Calibri"/>
              </a:rPr>
              <a:t>Built Fortran test executables from source + wrote Python bridge</a:t>
            </a:r>
          </a:p>
          <a:p>
            <a:pPr lvl="1"/>
            <a:r>
              <a:rPr sz="1800" b="0" i="0">
                <a:solidFill>
                  <a:srgbClr val="444455"/>
                </a:solidFill>
                <a:latin typeface="Calibri"/>
              </a:rPr>
              <a:t>Designed Monte Carlo test harness with oracle bypass modes</a:t>
            </a:r>
          </a:p>
          <a:p>
            <a:pPr lvl="1"/>
            <a:r>
              <a:rPr sz="1800" b="0" i="0">
                <a:solidFill>
                  <a:srgbClr val="444455"/>
                </a:solidFill>
                <a:latin typeface="Calibri"/>
              </a:rPr>
              <a:t>Ran 300-trial sweeps, parsed results, updated conclusions</a:t>
            </a:r>
          </a:p>
          <a:p>
            <a:pPr/>
            <a:r>
              <a:rPr sz="2000" b="1" i="0">
                <a:solidFill>
                  <a:srgbClr val="1A1A2E"/>
                </a:solidFill>
                <a:latin typeface="Calibri"/>
              </a:rPr>
              <a:t>Systematic decomposition prevented chasing phantoms</a:t>
            </a:r>
          </a:p>
          <a:p>
            <a:pPr lvl="1"/>
            <a:r>
              <a:rPr sz="1800" b="0" i="0">
                <a:solidFill>
                  <a:srgbClr val="444455"/>
                </a:solidFill>
                <a:latin typeface="Calibri"/>
              </a:rPr>
              <a:t>Each gap tested and closed (or ruled out) before moving to the next</a:t>
            </a:r>
          </a:p>
          <a:p>
            <a:pPr lvl="1"/>
            <a:r>
              <a:rPr sz="1800" b="0" i="0">
                <a:solidFill>
                  <a:srgbClr val="444455"/>
                </a:solidFill>
                <a:latin typeface="Calibri"/>
              </a:rPr>
              <a:t>Without Gap 2 verification, we might have chased a non-existent decoder bug</a:t>
            </a:r>
          </a:p>
          <a:p>
            <a:pPr/>
            <a:r>
              <a:rPr sz="2000" b="1" i="0">
                <a:solidFill>
                  <a:srgbClr val="1A1A2E"/>
                </a:solidFill>
                <a:latin typeface="Calibri"/>
              </a:rPr>
              <a:t>Domain knowledge directed the investigation; AI executed it</a:t>
            </a:r>
          </a:p>
          <a:p>
            <a:pPr lvl="1"/>
            <a:r>
              <a:rPr sz="1800" b="0" i="0">
                <a:solidFill>
                  <a:srgbClr val="444455"/>
                </a:solidFill>
                <a:latin typeface="Calibri"/>
              </a:rPr>
              <a:t>The BPF insight came from knowing how real SSB receivers work</a:t>
            </a:r>
          </a:p>
          <a:p>
            <a:pPr lvl="1"/>
            <a:r>
              <a:rPr sz="1800" b="0" i="0">
                <a:solidFill>
                  <a:srgbClr val="444455"/>
                </a:solidFill>
                <a:latin typeface="Calibri"/>
              </a:rPr>
              <a:t>Claude implemented it; the engineer recognized why it should work</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11</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MAP144 vs WSJT-X</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Real-world overnight comparison</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Technical / operators</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The Comparison Method</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MAP144 and WSJT-X run simultaneously on the same radio</a:t>
            </a:r>
          </a:p>
          <a:p>
            <a:pPr lvl="1"/>
            <a:r>
              <a:rPr sz="1800" b="0" i="0">
                <a:solidFill>
                  <a:srgbClr val="444455"/>
                </a:solidFill>
                <a:latin typeface="Calibri"/>
              </a:rPr>
              <a:t>MAP144: FlexRadio DAX IQ — direct complex IQ at 48 kHz</a:t>
            </a:r>
          </a:p>
          <a:p>
            <a:pPr lvl="1"/>
            <a:r>
              <a:rPr sz="1800" b="0" i="0">
                <a:solidFill>
                  <a:srgbClr val="444455"/>
                </a:solidFill>
                <a:latin typeface="Calibri"/>
              </a:rPr>
              <a:t>WSJT-X: FlexRadio DAX audio — standard SSB audio as digital sound in the PC</a:t>
            </a:r>
          </a:p>
          <a:p>
            <a:pPr lvl="1"/>
            <a:r>
              <a:rPr sz="1800" b="0" i="0">
                <a:solidFill>
                  <a:srgbClr val="444455"/>
                </a:solidFill>
                <a:latin typeface="Calibri"/>
              </a:rPr>
              <a:t>Independent paths — no shared samples, no interference</a:t>
            </a:r>
          </a:p>
          <a:p>
            <a:pPr/>
            <a:r>
              <a:rPr sz="2000" b="1" i="0">
                <a:solidFill>
                  <a:srgbClr val="1A1A2E"/>
                </a:solidFill>
                <a:latin typeface="Calibri"/>
              </a:rPr>
              <a:t>MAP144 logs every decode to MSK144/detections/decodes.jsonl</a:t>
            </a:r>
          </a:p>
          <a:p>
            <a:pPr lvl="1"/>
            <a:r>
              <a:rPr sz="1800" b="0" i="0">
                <a:solidFill>
                  <a:srgbClr val="444455"/>
                </a:solidFill>
                <a:latin typeface="Calibri"/>
              </a:rPr>
              <a:t>One JSON line per decode: message, SNR, frequency, timestamp, decoder used</a:t>
            </a:r>
          </a:p>
          <a:p>
            <a:pPr/>
            <a:r>
              <a:rPr sz="2000" b="1" i="0">
                <a:solidFill>
                  <a:srgbClr val="1A1A2E"/>
                </a:solidFill>
                <a:latin typeface="Calibri"/>
              </a:rPr>
              <a:t>WSJT-X logs every decode to ALL.TXT</a:t>
            </a:r>
          </a:p>
          <a:p>
            <a:pPr lvl="1"/>
            <a:r>
              <a:rPr sz="1800" b="0" i="0">
                <a:solidFill>
                  <a:srgbClr val="444455"/>
                </a:solidFill>
                <a:latin typeface="Calibri"/>
              </a:rPr>
              <a:t>Standard WSJT-X format: date/time, freq, SNR, dt, audio-Hz, message</a:t>
            </a:r>
          </a:p>
          <a:p>
            <a:pPr/>
            <a:r>
              <a:rPr sz="2000" b="1" i="0">
                <a:solidFill>
                  <a:srgbClr val="1A1A2E"/>
                </a:solidFill>
                <a:latin typeface="Calibri"/>
              </a:rPr>
              <a:t>compare_decoders.py reads both logs, matches on message + time (±1 s)</a:t>
            </a:r>
          </a:p>
          <a:p>
            <a:pPr lvl="1"/>
            <a:r>
              <a:rPr sz="1800" b="0" i="0">
                <a:solidFill>
                  <a:srgbClr val="444455"/>
                </a:solidFill>
                <a:latin typeface="Calibri"/>
              </a:rPr>
              <a:t>Three categories: Both decoded  |  WSJT-X only  |  MAP144 only</a:t>
            </a:r>
          </a:p>
          <a:p>
            <a:pPr/>
            <a:r>
              <a:rPr sz="2000" b="1" i="0">
                <a:solidFill>
                  <a:srgbClr val="1A1A2E"/>
                </a:solidFill>
                <a:latin typeface="Calibri"/>
              </a:rPr>
              <a:t>Deal with different multiple decodes per 15 second period</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compare_decoders.py — Output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Per-ping classification table</a:t>
            </a:r>
          </a:p>
          <a:p>
            <a:pPr lvl="1"/>
            <a:r>
              <a:rPr sz="1800" b="0" i="0">
                <a:solidFill>
                  <a:srgbClr val="444455"/>
                </a:solidFill>
                <a:latin typeface="Calibri"/>
              </a:rPr>
              <a:t>Both decoded / WSJT-X only / MAP144 only — with timestamp and frequency</a:t>
            </a:r>
          </a:p>
          <a:p>
            <a:pPr lvl="1"/>
            <a:r>
              <a:rPr sz="1800" b="0" i="0">
                <a:solidFill>
                  <a:srgbClr val="444455"/>
                </a:solidFill>
                <a:latin typeface="Calibri"/>
              </a:rPr>
              <a:t>WSJT-X-only misses tagged: NOT_DETECTED / NO_DECODE / PERIOD_SLIP</a:t>
            </a:r>
          </a:p>
          <a:p>
            <a:pPr/>
            <a:r>
              <a:rPr sz="2000" b="1" i="0">
                <a:solidFill>
                  <a:srgbClr val="1A1A2E"/>
                </a:solidFill>
                <a:latin typeface="Calibri"/>
              </a:rPr>
              <a:t>Coverage statistics</a:t>
            </a:r>
          </a:p>
          <a:p>
            <a:pPr lvl="1"/>
            <a:r>
              <a:rPr sz="1800" b="0" i="0">
                <a:solidFill>
                  <a:srgbClr val="444455"/>
                </a:solidFill>
                <a:latin typeface="Calibri"/>
              </a:rPr>
              <a:t>WSJT-X coverage % and MAP144 coverage % of all unique pings observed</a:t>
            </a:r>
          </a:p>
          <a:p>
            <a:pPr/>
            <a:r>
              <a:rPr sz="2000" b="1" i="0">
                <a:solidFill>
                  <a:srgbClr val="1A1A2E"/>
                </a:solidFill>
                <a:latin typeface="Calibri"/>
              </a:rPr>
              <a:t>SNR comparison on matched pairs</a:t>
            </a:r>
          </a:p>
          <a:p>
            <a:pPr lvl="1"/>
            <a:r>
              <a:rPr sz="1800" b="0" i="0">
                <a:solidFill>
                  <a:srgbClr val="444455"/>
                </a:solidFill>
                <a:latin typeface="Calibri"/>
              </a:rPr>
              <a:t>MAP144 SNR field: est_snr_db (1500 ms pre-burst PSD, preferred)</a:t>
            </a:r>
          </a:p>
          <a:p>
            <a:pPr lvl="1"/>
            <a:r>
              <a:rPr sz="1800" b="0" i="0">
                <a:solidFill>
                  <a:srgbClr val="444455"/>
                </a:solidFill>
                <a:latin typeface="Calibri"/>
              </a:rPr>
              <a:t>  jt9_snr_db on a short clip is unreliable — clusters at 0 dB</a:t>
            </a:r>
          </a:p>
          <a:p>
            <a:pPr lvl="1"/>
            <a:r>
              <a:rPr sz="1800" b="0" i="0">
                <a:solidFill>
                  <a:srgbClr val="444455"/>
                </a:solidFill>
                <a:latin typeface="Calibri"/>
              </a:rPr>
              <a:t>Measured bias: WSJT-X SNR ≈ +1.7 dB over MAP144 est_snr_db</a:t>
            </a:r>
          </a:p>
          <a:p>
            <a:pPr lvl="1"/>
            <a:r>
              <a:rPr sz="1800" b="0" i="0">
                <a:solidFill>
                  <a:srgbClr val="444455"/>
                </a:solidFill>
                <a:latin typeface="Calibri"/>
              </a:rPr>
              <a:t>  WSJT-X: coherent matched filter over full 15 s frame</a:t>
            </a:r>
          </a:p>
          <a:p>
            <a:pPr lvl="1"/>
            <a:r>
              <a:rPr sz="1800" b="0" i="0">
                <a:solidFill>
                  <a:srgbClr val="444455"/>
                </a:solidFill>
                <a:latin typeface="Calibri"/>
              </a:rPr>
              <a:t>  MAP144: non-coherent peak-power vs pre-burst noise floor</a:t>
            </a:r>
          </a:p>
          <a:p>
            <a:pPr/>
            <a:r>
              <a:rPr sz="2000" b="1" i="0">
                <a:solidFill>
                  <a:srgbClr val="1A1A2E"/>
                </a:solidFill>
                <a:latin typeface="Calibri"/>
              </a:rPr>
              <a:t>Optional plots: detection-rate curve and SNR scatter</a:t>
            </a:r>
          </a:p>
          <a:p>
            <a:pPr lvl="1"/>
            <a:r>
              <a:rPr sz="1800" b="0" i="0">
                <a:solidFill>
                  <a:srgbClr val="444455"/>
                </a:solidFill>
                <a:latin typeface="Calibri"/>
              </a:rPr>
              <a:t>Detection-rate: MAP144 decode% vs WSJT-X SNR bin</a:t>
            </a:r>
          </a:p>
          <a:p>
            <a:pPr lvl="1"/>
            <a:r>
              <a:rPr sz="1800" b="0" i="0">
                <a:solidFill>
                  <a:srgbClr val="444455"/>
                </a:solidFill>
                <a:latin typeface="Calibri"/>
              </a:rPr>
              <a:t>Scatter: (WSJT-X SNR, MAP144 est_snr) for matched pairs + stacked miss rail</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Running the Morning Report</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After an overnight session:</a:t>
            </a:r>
          </a:p>
          <a:p>
            <a:pPr lvl="1"/>
            <a:r>
              <a:rPr sz="1800" b="0" i="0">
                <a:solidFill>
                  <a:srgbClr val="444455"/>
                </a:solidFill>
                <a:latin typeface="Courier New"/>
              </a:rPr>
              <a:t>python compare_decoders.py --date YYYYMMDD --plot detect.png</a:t>
            </a:r>
          </a:p>
          <a:p>
            <a:pPr/>
            <a:r>
              <a:rPr sz="2000" b="1" i="0">
                <a:solidFill>
                  <a:srgbClr val="1A1A2E"/>
                </a:solidFill>
                <a:latin typeface="Calibri"/>
              </a:rPr>
              <a:t>Produces:</a:t>
            </a:r>
          </a:p>
          <a:p>
            <a:pPr lvl="1"/>
            <a:r>
              <a:rPr sz="1800" b="0" i="0">
                <a:solidFill>
                  <a:srgbClr val="444455"/>
                </a:solidFill>
                <a:latin typeface="Courier New"/>
              </a:rPr>
              <a:t>Console table: Both / WSJT-X only / MAP144 only</a:t>
            </a:r>
          </a:p>
          <a:p>
            <a:pPr lvl="1"/>
            <a:r>
              <a:rPr sz="1800" b="0" i="0">
                <a:solidFill>
                  <a:srgbClr val="444455"/>
                </a:solidFill>
                <a:latin typeface="Courier New"/>
              </a:rPr>
              <a:t>detect.png — detection-rate curve by WSJT-X SNR bin</a:t>
            </a:r>
          </a:p>
          <a:p>
            <a:pPr lvl="1"/>
            <a:r>
              <a:rPr sz="1800" b="0" i="0">
                <a:solidFill>
                  <a:srgbClr val="444455"/>
                </a:solidFill>
                <a:latin typeface="Courier New"/>
              </a:rPr>
              <a:t>detect_scatter.png — per-ping SNR scatter plot</a:t>
            </a:r>
          </a:p>
          <a:p>
            <a:pPr/>
            <a:r>
              <a:rPr sz="2000" b="1" i="0">
                <a:solidFill>
                  <a:srgbClr val="1A1A2E"/>
                </a:solidFill>
                <a:latin typeface="Calibri"/>
              </a:rPr>
              <a:t>Quick launch tally from launches.jsonl:</a:t>
            </a:r>
          </a:p>
          <a:p>
            <a:pPr lvl="1"/>
            <a:r>
              <a:rPr sz="1800" b="0" i="0">
                <a:solidFill>
                  <a:srgbClr val="444455"/>
                </a:solidFill>
                <a:latin typeface="Courier New"/>
              </a:rPr>
              <a:t>python -c "import json; from collections import Counter; c = Counter(json.loads(l)['outcome'] for l in open('MSK144/detections/launches.jsonl') if l.strip()); print(c)"</a:t>
            </a:r>
          </a:p>
          <a:p>
            <a:pPr/>
            <a:r>
              <a:rPr sz="2000" b="1" i="0">
                <a:solidFill>
                  <a:srgbClr val="1A1A2E"/>
                </a:solidFill>
                <a:latin typeface="Calibri"/>
              </a:rPr>
              <a:t>Healthy overnight run:</a:t>
            </a:r>
          </a:p>
          <a:p>
            <a:pPr lvl="1"/>
            <a:r>
              <a:rPr sz="1800" b="0" i="0">
                <a:solidFill>
                  <a:srgbClr val="444455"/>
                </a:solidFill>
                <a:latin typeface="Calibri"/>
              </a:rPr>
              <a:t>Mostly no_decode (noise triggers) + some decoded + few timeout/error</a:t>
            </a:r>
          </a:p>
          <a:p>
            <a:pPr lvl="1"/>
            <a:r>
              <a:rPr sz="1800" b="0" i="0">
                <a:solidFill>
                  <a:srgbClr val="444455"/>
                </a:solidFill>
                <a:latin typeface="Calibri"/>
              </a:rPr>
              <a:t>decoded / (decoded + no_decode) ratio tracks effective false alarm rate</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12</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Doppler Measurements &amp; Design Opportunities</a:t>
            </a:r>
          </a:p>
        </p:txBody>
      </p:sp>
      <p:sp>
        <p:nvSpPr>
          <p:cNvPr id="5" name="TextBox 4"/>
          <p:cNvSpPr txBox="1"/>
          <p:nvPr/>
        </p:nvSpPr>
        <p:spPr>
          <a:xfrm>
            <a:off x="548640" y="3840480"/>
            <a:ext cx="10972800" cy="731520"/>
          </a:xfrm>
          <a:prstGeom prst="rect">
            <a:avLst/>
          </a:prstGeom>
          <a:noFill/>
        </p:spPr>
        <p:txBody>
          <a:bodyPr wrap="square">
            <a:spAutoFit/>
          </a:bodyPr>
          <a:lstStyle/>
          <a:p>
            <a:pPr algn="l"/>
            <a:r>
              <a:rPr sz="2400" b="0" i="1">
                <a:solidFill>
                  <a:srgbClr val="CCDDEE"/>
                </a:solidFill>
                <a:latin typeface="Calibri"/>
              </a:rPr>
              <a:t>What measured signal physics tells us about future decoder design</a:t>
            </a:r>
          </a:p>
        </p:txBody>
      </p:sp>
      <p:sp>
        <p:nvSpPr>
          <p:cNvPr id="6" name="TextBox 5"/>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Technical</a:t>
            </a:r>
          </a:p>
        </p:txBody>
      </p:sp>
      <p:sp>
        <p:nvSpPr>
          <p:cNvPr id="7" name="Rectangle 6"/>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9" name="TextBox 8"/>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Measuring Frequency vs Time</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Standard MS decoders (WSJT-X, jt9) report one frequency per decode</a:t>
            </a:r>
          </a:p>
          <a:p>
            <a:pPr lvl="1"/>
            <a:r>
              <a:rPr sz="1800" b="0" i="0">
                <a:solidFill>
                  <a:srgbClr val="444455"/>
                </a:solidFill>
                <a:latin typeface="Calibri"/>
              </a:rPr>
              <a:t>No information about how the frequency changes during the burst</a:t>
            </a:r>
          </a:p>
          <a:p>
            <a:pPr/>
            <a:r>
              <a:rPr sz="2000" b="0" i="0">
                <a:solidFill>
                  <a:srgbClr val="1A1A2E"/>
                </a:solidFill>
                <a:latin typeface="Courier New"/>
              </a:rPr>
              <a:t>MAP144 tool:  tools/measure_ping_freq_vs_time.py</a:t>
            </a:r>
          </a:p>
          <a:p>
            <a:pPr lvl="1"/>
            <a:r>
              <a:rPr sz="1800" b="0" i="0">
                <a:solidFill>
                  <a:srgbClr val="444455"/>
                </a:solidFill>
                <a:latin typeface="Courier New"/>
              </a:rPr>
              <a:t>For each WSJT-X-saved WAV in a session corpus:</a:t>
            </a:r>
          </a:p>
          <a:p>
            <a:pPr lvl="2"/>
            <a:r>
              <a:rPr sz="1600" b="0" i="0">
                <a:solidFill>
                  <a:srgbClr val="444455"/>
                </a:solidFill>
                <a:latin typeface="Calibri"/>
              </a:rPr>
              <a:t>Bandpass 600-2400 Hz — covers both MSK144 tones at 1000 and 2000 Hz</a:t>
            </a:r>
          </a:p>
          <a:p>
            <a:pPr lvl="2"/>
            <a:r>
              <a:rPr sz="1600" b="0" i="0">
                <a:solidFill>
                  <a:srgbClr val="444455"/>
                </a:solidFill>
                <a:latin typeface="Calibri"/>
              </a:rPr>
              <a:t>Square the signal — tone pair becomes CW lines at 2000 Hz and 4000 Hz</a:t>
            </a:r>
          </a:p>
          <a:p>
            <a:pPr lvl="2"/>
            <a:r>
              <a:rPr sz="1600" b="0" i="0">
                <a:solidFill>
                  <a:srgbClr val="444455"/>
                </a:solidFill>
                <a:latin typeface="Calibri"/>
              </a:rPr>
              <a:t>Sliding short FFT, ±300 Hz peak search around each squared tone</a:t>
            </a:r>
          </a:p>
          <a:p>
            <a:pPr lvl="2"/>
            <a:r>
              <a:rPr sz="1600" b="0" i="0">
                <a:solidFill>
                  <a:srgbClr val="444455"/>
                </a:solidFill>
                <a:latin typeface="Calibri"/>
              </a:rPr>
              <a:t>Carrier estimate = (low_tone + high_tone) / 4   at 10-ms resolution</a:t>
            </a:r>
          </a:p>
          <a:p>
            <a:pPr lvl="1"/>
            <a:r>
              <a:rPr sz="1800" b="0" i="0">
                <a:solidFill>
                  <a:srgbClr val="444455"/>
                </a:solidFill>
                <a:latin typeface="Calibri"/>
              </a:rPr>
              <a:t>Suppresses MSK modulation contamination that breaks Hilbert-derivative methods</a:t>
            </a:r>
          </a:p>
          <a:p>
            <a:pPr/>
            <a:r>
              <a:rPr sz="2000" b="1" i="0">
                <a:solidFill>
                  <a:srgbClr val="1A1A2E"/>
                </a:solidFill>
                <a:latin typeface="Calibri"/>
              </a:rPr>
              <a:t>Per-burst statistics computed:</a:t>
            </a:r>
          </a:p>
          <a:p>
            <a:pPr lvl="1"/>
            <a:r>
              <a:rPr sz="1800" b="0" i="0">
                <a:solidFill>
                  <a:srgbClr val="444455"/>
                </a:solidFill>
                <a:latin typeface="Calibri"/>
              </a:rPr>
              <a:t>σ(f), Δf  —  frequency stability within the burst</a:t>
            </a:r>
          </a:p>
          <a:p>
            <a:pPr lvl="1"/>
            <a:r>
              <a:rPr sz="1800" b="0" i="0">
                <a:solidFill>
                  <a:srgbClr val="444455"/>
                </a:solidFill>
                <a:latin typeface="Calibri"/>
              </a:rPr>
              <a:t>Pearson r(|A|, f)  —  direct test of the multipath hypothesis</a:t>
            </a:r>
          </a:p>
          <a:p>
            <a:pPr lvl="1"/>
            <a:r>
              <a:rPr sz="1800" b="0" i="0">
                <a:solidFill>
                  <a:srgbClr val="444455"/>
                </a:solidFill>
                <a:latin typeface="Calibri"/>
              </a:rPr>
              <a:t>Burst duration, peak above noise floor</a:t>
            </a:r>
          </a:p>
          <a:p>
            <a:pPr/>
            <a:r>
              <a:rPr sz="2000" b="1" i="0">
                <a:solidFill>
                  <a:srgbClr val="1A1A2E"/>
                </a:solidFill>
                <a:latin typeface="Calibri"/>
              </a:rPr>
              <a:t>These distributions are not in the published literature for 6 m MS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Ping vs Continuous Signal — Same Metric, Different Physics</a:t>
            </a:r>
          </a:p>
        </p:txBody>
      </p:sp>
      <p:pic>
        <p:nvPicPr>
          <p:cNvPr id="4" name="Picture 3" descr="doppler_ping_vs_continuous.png"/>
          <p:cNvPicPr>
            <a:picLocks noChangeAspect="1"/>
          </p:cNvPicPr>
          <p:nvPr/>
        </p:nvPicPr>
        <p:blipFill>
          <a:blip r:embed="rId2"/>
          <a:stretch>
            <a:fillRect/>
          </a:stretch>
        </p:blipFill>
        <p:spPr>
          <a:xfrm>
            <a:off x="790303" y="1005840"/>
            <a:ext cx="10580914" cy="4937760"/>
          </a:xfrm>
          <a:prstGeom prst="rect">
            <a:avLst/>
          </a:prstGeom>
        </p:spPr>
      </p:pic>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Left: meteor-scatter ping (KB8OTK, 90 ms, σ_f = 7.7 Hz).  Right: strong-local continuous signal (N1KWF, 15 s, σ_f = 44.8 Hz).</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11430000" cy="777240"/>
          </a:xfrm>
          <a:prstGeom prst="rect">
            <a:avLst/>
          </a:prstGeom>
          <a:noFill/>
        </p:spPr>
        <p:txBody>
          <a:bodyPr wrap="square">
            <a:spAutoFit/>
          </a:bodyPr>
          <a:lstStyle/>
          <a:p>
            <a:pPr algn="l"/>
            <a:r>
              <a:rPr sz="3200" b="1" i="0">
                <a:solidFill>
                  <a:srgbClr val="1B3A6B"/>
                </a:solidFill>
                <a:latin typeface="Calibri"/>
              </a:rPr>
              <a:t>Doppler Statistics from 145 Bursts</a:t>
            </a:r>
          </a:p>
        </p:txBody>
      </p:sp>
      <p:pic>
        <p:nvPicPr>
          <p:cNvPr id="4" name="Picture 3" descr="doppler_burst_stats_distributions.png"/>
          <p:cNvPicPr>
            <a:picLocks noChangeAspect="1"/>
          </p:cNvPicPr>
          <p:nvPr/>
        </p:nvPicPr>
        <p:blipFill>
          <a:blip r:embed="rId2"/>
          <a:stretch>
            <a:fillRect/>
          </a:stretch>
        </p:blipFill>
        <p:spPr>
          <a:xfrm>
            <a:off x="2514600" y="1005840"/>
            <a:ext cx="7132320" cy="4937760"/>
          </a:xfrm>
          <a:prstGeom prst="rect">
            <a:avLst/>
          </a:prstGeom>
        </p:spPr>
      </p:pic>
      <p:sp>
        <p:nvSpPr>
          <p:cNvPr id="5" name="TextBox 4"/>
          <p:cNvSpPr txBox="1"/>
          <p:nvPr/>
        </p:nvSpPr>
        <p:spPr>
          <a:xfrm>
            <a:off x="365760" y="6172200"/>
            <a:ext cx="11430000" cy="502920"/>
          </a:xfrm>
          <a:prstGeom prst="rect">
            <a:avLst/>
          </a:prstGeom>
          <a:noFill/>
        </p:spPr>
        <p:txBody>
          <a:bodyPr wrap="square">
            <a:spAutoFit/>
          </a:bodyPr>
          <a:lstStyle/>
          <a:p>
            <a:pPr algn="l"/>
            <a:r>
              <a:rPr sz="1500" b="0" i="1">
                <a:solidFill>
                  <a:srgbClr val="888899"/>
                </a:solidFill>
                <a:latin typeface="Calibri"/>
              </a:rPr>
              <a:t>2026-05-11 corpus.  Top-left: σ(f) histogram with coherent-gain ceilings.  Top-right: σ(f) vs duration.  Bottom-left: |r(|A|, f)| distribution.  Bottom-right: |r| vs σ(f), peak-SNR coloured.</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Findings from 112 Bursts</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σ(f) within burst is BIMODAL</a:t>
            </a:r>
          </a:p>
          <a:p>
            <a:pPr lvl="1"/>
            <a:r>
              <a:rPr sz="1800" b="0" i="0">
                <a:solidFill>
                  <a:srgbClr val="444455"/>
                </a:solidFill>
                <a:latin typeface="Calibri"/>
              </a:rPr>
              <a:t>median 20.7 Hz overall  —  but p25 = 0.7 Hz, p75 = 44.8 Hz</a:t>
            </a:r>
          </a:p>
          <a:p>
            <a:pPr lvl="1"/>
            <a:r>
              <a:rPr sz="1800" b="0" i="0">
                <a:solidFill>
                  <a:srgbClr val="444455"/>
                </a:solidFill>
                <a:latin typeface="Calibri"/>
              </a:rPr>
              <a:t>Two populations: frequency-stable vs fluttery</a:t>
            </a:r>
          </a:p>
          <a:p>
            <a:pPr/>
            <a:r>
              <a:rPr sz="2000" b="1" i="0">
                <a:solidFill>
                  <a:srgbClr val="1A1A2E"/>
                </a:solidFill>
                <a:latin typeface="Calibri"/>
              </a:rPr>
              <a:t>Fraction satisfying the worst-case coherent-gain ceiling</a:t>
            </a:r>
          </a:p>
          <a:p>
            <a:pPr lvl="1"/>
            <a:r>
              <a:rPr sz="1800" b="0" i="0">
                <a:solidFill>
                  <a:srgbClr val="444455"/>
                </a:solidFill>
                <a:latin typeface="Calibri"/>
              </a:rPr>
              <a:t>N=1 frame  (σ&lt;1.70 Hz):  42% of bursts</a:t>
            </a:r>
          </a:p>
          <a:p>
            <a:pPr lvl="1"/>
            <a:r>
              <a:rPr sz="1800" b="0" i="0">
                <a:solidFill>
                  <a:srgbClr val="444455"/>
                </a:solidFill>
                <a:latin typeface="Calibri"/>
              </a:rPr>
              <a:t>N=2 frames (σ&lt;0.87 Hz):  33%</a:t>
            </a:r>
          </a:p>
          <a:p>
            <a:pPr lvl="1"/>
            <a:r>
              <a:rPr sz="1800" b="0" i="0">
                <a:solidFill>
                  <a:srgbClr val="444455"/>
                </a:solidFill>
                <a:latin typeface="Calibri"/>
              </a:rPr>
              <a:t>N=3 frames (σ&lt;0.58 Hz):  17%  ← matches empirical SPD navg=3 rate</a:t>
            </a:r>
          </a:p>
          <a:p>
            <a:pPr lvl="1"/>
            <a:r>
              <a:rPr sz="1800" b="0" i="0">
                <a:solidFill>
                  <a:srgbClr val="444455"/>
                </a:solidFill>
                <a:latin typeface="Calibri"/>
              </a:rPr>
              <a:t>N=5 frames (σ&lt;0.35 Hz):  2.7%</a:t>
            </a:r>
          </a:p>
          <a:p>
            <a:pPr lvl="1"/>
            <a:r>
              <a:rPr sz="1800" b="0" i="0">
                <a:solidFill>
                  <a:srgbClr val="444455"/>
                </a:solidFill>
                <a:latin typeface="Calibri"/>
              </a:rPr>
              <a:t>N=7 frames (σ&lt;0.25 Hz):  0.9%</a:t>
            </a:r>
          </a:p>
          <a:p>
            <a:pPr/>
            <a:r>
              <a:rPr sz="2000" b="1" i="0">
                <a:solidFill>
                  <a:srgbClr val="1A1A2E"/>
                </a:solidFill>
                <a:latin typeface="Calibri"/>
              </a:rPr>
              <a:t>Amplitude-frequency correlation</a:t>
            </a:r>
          </a:p>
          <a:p>
            <a:pPr lvl="1"/>
            <a:r>
              <a:rPr sz="1800" b="0" i="0">
                <a:solidFill>
                  <a:srgbClr val="444455"/>
                </a:solidFill>
                <a:latin typeface="Calibri"/>
              </a:rPr>
              <a:t>Strong (|r|&gt;0.5):    26% of bursts</a:t>
            </a:r>
          </a:p>
          <a:p>
            <a:pPr lvl="1"/>
            <a:r>
              <a:rPr sz="1800" b="0" i="0">
                <a:solidFill>
                  <a:srgbClr val="444455"/>
                </a:solidFill>
                <a:latin typeface="Calibri"/>
              </a:rPr>
              <a:t>Moderate (|r|&gt;0.3):  58%</a:t>
            </a:r>
          </a:p>
          <a:p>
            <a:pPr lvl="1"/>
            <a:r>
              <a:rPr sz="1800" b="0" i="0">
                <a:solidFill>
                  <a:srgbClr val="444455"/>
                </a:solidFill>
                <a:latin typeface="Calibri"/>
              </a:rPr>
              <a:t>Confirms the multipath mechanism — flutter is correlated</a:t>
            </a:r>
          </a:p>
          <a:p>
            <a:pPr/>
            <a:r>
              <a:rPr sz="2000" b="1" i="0">
                <a:solidFill>
                  <a:srgbClr val="1A1A2E"/>
                </a:solidFill>
                <a:latin typeface="Calibri"/>
              </a:rPr>
              <a:t>Two populations of pings visible in the data</a:t>
            </a:r>
          </a:p>
          <a:p>
            <a:pPr lvl="1"/>
            <a:r>
              <a:rPr sz="1800" b="0" i="0">
                <a:solidFill>
                  <a:srgbClr val="444455"/>
                </a:solidFill>
                <a:latin typeface="Calibri"/>
              </a:rPr>
              <a:t>Frequency-stable: ~42%  —  physics allows coherent integration</a:t>
            </a:r>
          </a:p>
          <a:p>
            <a:pPr lvl="1"/>
            <a:r>
              <a:rPr sz="1800" b="0" i="0">
                <a:solidFill>
                  <a:srgbClr val="444455"/>
                </a:solidFill>
                <a:latin typeface="Calibri"/>
              </a:rPr>
              <a:t>Fluttery: ~58%  —  coherent gain degrades silently</a:t>
            </a:r>
          </a:p>
          <a:p>
            <a:pPr/>
            <a:r>
              <a:rPr sz="2000" b="1" i="0">
                <a:solidFill>
                  <a:srgbClr val="1A1A2E"/>
                </a:solidFill>
                <a:latin typeface="Calibri"/>
              </a:rPr>
              <a:t>5/7-frame integration is Doppler-limited for real-world pings</a:t>
            </a:r>
          </a:p>
          <a:p>
            <a:pPr lvl="1"/>
            <a:r>
              <a:rPr sz="1800" b="0" i="0">
                <a:solidFill>
                  <a:srgbClr val="444455"/>
                </a:solidFill>
                <a:latin typeface="Calibri"/>
              </a:rPr>
              <a:t>Near-zero fractions explain why -d 3 Deep mode produces more phantoms than real catches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Architectural Opportunities for MAP144</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WSJT-X averages with no in-burst frequency tracking</a:t>
            </a:r>
          </a:p>
          <a:p>
            <a:pPr lvl="1"/>
            <a:r>
              <a:rPr sz="1800" b="0" i="0">
                <a:solidFill>
                  <a:srgbClr val="444455"/>
                </a:solidFill>
                <a:latin typeface="Calibri"/>
              </a:rPr>
              <a:t>Coherent gain degrades silently when signal drifts</a:t>
            </a:r>
          </a:p>
          <a:p>
            <a:pPr lvl="1"/>
            <a:r>
              <a:rPr sz="1800" b="0" i="0">
                <a:solidFill>
                  <a:srgbClr val="444455"/>
                </a:solidFill>
                <a:latin typeface="Calibri"/>
              </a:rPr>
              <a:t>Operator sees no signal that drift caused the miss</a:t>
            </a:r>
          </a:p>
          <a:p>
            <a:pPr/>
            <a:r>
              <a:rPr sz="2000" b="1" i="0">
                <a:solidFill>
                  <a:srgbClr val="1A1A2E"/>
                </a:solidFill>
                <a:latin typeface="Calibri"/>
              </a:rPr>
              <a:t>MAP144 has the data to do better</a:t>
            </a:r>
          </a:p>
          <a:p>
            <a:pPr lvl="1"/>
            <a:r>
              <a:rPr sz="1800" b="0" i="0">
                <a:solidFill>
                  <a:srgbClr val="444455"/>
                </a:solidFill>
                <a:latin typeface="Calibri"/>
              </a:rPr>
              <a:t>Already landed: detection-stage fine-frequency pre-correction</a:t>
            </a:r>
          </a:p>
          <a:p>
            <a:pPr lvl="2"/>
            <a:r>
              <a:rPr sz="1600" b="0" i="0">
                <a:solidFill>
                  <a:srgbClr val="444455"/>
                </a:solidFill>
                <a:latin typeface="Calibri"/>
              </a:rPr>
              <a:t>Sync correlator → audio mix shift → jt9 FTOL drops 200 → 50 Hz</a:t>
            </a:r>
          </a:p>
          <a:p>
            <a:pPr lvl="2"/>
            <a:r>
              <a:rPr sz="1600" b="0" i="0">
                <a:solidFill>
                  <a:srgbClr val="444455"/>
                </a:solidFill>
                <a:latin typeface="Calibri"/>
              </a:rPr>
              <a:t>~4× CPU reduction per decode attempt</a:t>
            </a:r>
          </a:p>
          <a:p>
            <a:pPr lvl="1"/>
            <a:r>
              <a:rPr sz="1800" b="0" i="0">
                <a:solidFill>
                  <a:srgbClr val="444455"/>
                </a:solidFill>
                <a:latin typeface="Calibri"/>
              </a:rPr>
              <a:t>Next step: per-burst drift correction inside the integration loop</a:t>
            </a:r>
          </a:p>
          <a:p>
            <a:pPr lvl="2"/>
            <a:r>
              <a:rPr sz="1600" b="0" i="0">
                <a:solidFill>
                  <a:srgbClr val="444455"/>
                </a:solidFill>
                <a:latin typeface="Calibri"/>
              </a:rPr>
              <a:t>Split burst into sub-windows, estimate f(t) per window</a:t>
            </a:r>
          </a:p>
          <a:p>
            <a:pPr lvl="2"/>
            <a:r>
              <a:rPr sz="1600" b="0" i="0">
                <a:solidFill>
                  <a:srgbClr val="444455"/>
                </a:solidFill>
                <a:latin typeface="Calibri"/>
              </a:rPr>
              <a:t>Fit linear (or polynomial) drift model</a:t>
            </a:r>
          </a:p>
          <a:p>
            <a:pPr lvl="2"/>
            <a:r>
              <a:rPr sz="1600" b="0" i="0">
                <a:solidFill>
                  <a:srgbClr val="444455"/>
                </a:solidFill>
                <a:latin typeface="Calibri"/>
              </a:rPr>
              <a:t>Mix-correct against the drift  before  coherent averaging</a:t>
            </a:r>
          </a:p>
          <a:p>
            <a:pPr lvl="2"/>
            <a:r>
              <a:rPr sz="1600" b="0" i="0">
                <a:solidFill>
                  <a:srgbClr val="444455"/>
                </a:solidFill>
                <a:latin typeface="Calibri"/>
              </a:rPr>
              <a:t>Recovers coherent gain on linearly drifting bursts (most pings)</a:t>
            </a:r>
          </a:p>
          <a:p>
            <a:pPr/>
            <a:r>
              <a:rPr sz="2000" b="1" i="0">
                <a:solidFill>
                  <a:srgbClr val="1A1A2E"/>
                </a:solidFill>
                <a:latin typeface="Calibri"/>
              </a:rPr>
              <a:t>Gate the averaging length</a:t>
            </a:r>
          </a:p>
          <a:p>
            <a:pPr lvl="1"/>
            <a:r>
              <a:rPr sz="1800" b="0" i="0">
                <a:solidFill>
                  <a:srgbClr val="444455"/>
                </a:solidFill>
                <a:latin typeface="Calibri"/>
              </a:rPr>
              <a:t>Measure σ(f) on-the-fly during sub-window scan</a:t>
            </a:r>
          </a:p>
          <a:p>
            <a:pPr lvl="1"/>
            <a:r>
              <a:rPr sz="1800" b="0" i="0">
                <a:solidFill>
                  <a:srgbClr val="444455"/>
                </a:solidFill>
                <a:latin typeface="Calibri"/>
              </a:rPr>
              <a:t>Use N=2 if σ &lt; 1 Hz, N=1 otherwise</a:t>
            </a:r>
          </a:p>
          <a:p>
            <a:pPr lvl="1"/>
            <a:r>
              <a:rPr sz="1800" b="0" i="0">
                <a:solidFill>
                  <a:srgbClr val="444455"/>
                </a:solidFill>
                <a:latin typeface="Calibri"/>
              </a:rPr>
              <a:t>Stops decoder from trying integrations physics won't support</a:t>
            </a:r>
          </a:p>
          <a:p>
            <a:pPr/>
            <a:r>
              <a:rPr sz="2000" b="1" i="0">
                <a:solidFill>
                  <a:srgbClr val="1A1A2E"/>
                </a:solidFill>
                <a:latin typeface="Calibri"/>
              </a:rPr>
              <a:t>Genuine algorithmic step beyond WSJT-X — measurement-driven, not a port</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10972800" cy="640080"/>
          </a:xfrm>
          <a:prstGeom prst="rect">
            <a:avLst/>
          </a:prstGeom>
          <a:noFill/>
        </p:spPr>
        <p:txBody>
          <a:bodyPr wrap="square">
            <a:spAutoFit/>
          </a:bodyPr>
          <a:lstStyle/>
          <a:p>
            <a:pPr algn="l"/>
            <a:r>
              <a:rPr sz="2200" b="1" i="0">
                <a:solidFill>
                  <a:srgbClr val="276FBF"/>
                </a:solidFill>
                <a:latin typeface="Calibri"/>
              </a:rPr>
              <a:t>Section 13</a:t>
            </a:r>
          </a:p>
        </p:txBody>
      </p:sp>
      <p:sp>
        <p:nvSpPr>
          <p:cNvPr id="4" name="TextBox 3"/>
          <p:cNvSpPr txBox="1"/>
          <p:nvPr/>
        </p:nvSpPr>
        <p:spPr>
          <a:xfrm>
            <a:off x="548640" y="2286000"/>
            <a:ext cx="10972800" cy="1463040"/>
          </a:xfrm>
          <a:prstGeom prst="rect">
            <a:avLst/>
          </a:prstGeom>
          <a:noFill/>
        </p:spPr>
        <p:txBody>
          <a:bodyPr wrap="square">
            <a:spAutoFit/>
          </a:bodyPr>
          <a:lstStyle/>
          <a:p>
            <a:pPr algn="l"/>
            <a:r>
              <a:rPr sz="4800" b="1" i="0">
                <a:solidFill>
                  <a:srgbClr val="FFFFFF"/>
                </a:solidFill>
                <a:latin typeface="Calibri"/>
              </a:rPr>
              <a:t>Support and Resources</a:t>
            </a:r>
          </a:p>
        </p:txBody>
      </p:sp>
      <p:sp>
        <p:nvSpPr>
          <p:cNvPr id="5" name="TextBox 4"/>
          <p:cNvSpPr txBox="1"/>
          <p:nvPr/>
        </p:nvSpPr>
        <p:spPr>
          <a:xfrm>
            <a:off x="548640" y="5852160"/>
            <a:ext cx="10972800" cy="548640"/>
          </a:xfrm>
          <a:prstGeom prst="rect">
            <a:avLst/>
          </a:prstGeom>
          <a:noFill/>
        </p:spPr>
        <p:txBody>
          <a:bodyPr wrap="square">
            <a:spAutoFit/>
          </a:bodyPr>
          <a:lstStyle/>
          <a:p>
            <a:pPr algn="l"/>
            <a:r>
              <a:rPr sz="1600" b="0" i="0">
                <a:solidFill>
                  <a:srgbClr val="276FBF"/>
                </a:solidFill>
                <a:latin typeface="Calibri"/>
              </a:rPr>
              <a:t>Audience: Everyone</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Source Code and Documentation</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GitHub repository:</a:t>
            </a:r>
          </a:p>
          <a:p>
            <a:pPr lvl="1"/>
            <a:r>
              <a:rPr sz="1800" b="0" i="0">
                <a:solidFill>
                  <a:srgbClr val="444455"/>
                </a:solidFill>
                <a:latin typeface="Courier New"/>
              </a:rPr>
              <a:t>github.com/wa1hco/map144</a:t>
            </a:r>
          </a:p>
          <a:p>
            <a:pPr/>
            <a:r>
              <a:rPr sz="2000" b="1" i="0">
                <a:solidFill>
                  <a:srgbClr val="1A1A2E"/>
                </a:solidFill>
                <a:latin typeface="Calibri"/>
              </a:rPr>
              <a:t>README covers installation and basic operation</a:t>
            </a:r>
          </a:p>
          <a:p>
            <a:pPr/>
            <a:r>
              <a:rPr sz="2000" b="1" i="0">
                <a:solidFill>
                  <a:srgbClr val="1A1A2E"/>
                </a:solidFill>
                <a:latin typeface="Calibri"/>
              </a:rPr>
              <a:t>Issues tracker: bug reports and feature requests welcome</a:t>
            </a:r>
          </a:p>
          <a:p>
            <a:pPr/>
            <a:r>
              <a:rPr sz="2000" b="1" i="0">
                <a:solidFill>
                  <a:srgbClr val="1A1A2E"/>
                </a:solidFill>
                <a:latin typeface="Calibri"/>
              </a:rPr>
              <a:t>WAV test files included for offline testing</a:t>
            </a:r>
          </a:p>
          <a:p>
            <a:pPr/>
            <a:r>
              <a:rPr sz="2000" b="1" i="0">
                <a:solidFill>
                  <a:srgbClr val="1A1A2E"/>
                </a:solidFill>
                <a:latin typeface="Calibri"/>
              </a:rPr>
              <a:t>requirements.txt lists all Python dependencies</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0"/>
            <a:ext cx="1828800" cy="1828800"/>
          </a:xfrm>
          <a:prstGeom prst="rect">
            <a:avLst/>
          </a:prstGeom>
          <a:noFill/>
        </p:spPr>
        <p:txBody>
          <a:bodyPr wrap="square">
            <a:spAutoFit/>
          </a:bodyPr>
          <a:lstStyle/>
          <a:p>
            <a:pPr algn="l"/>
            <a:r>
              <a:rPr sz="12000" b="1" i="0">
                <a:solidFill>
                  <a:srgbClr val="276FBF"/>
                </a:solidFill>
                <a:latin typeface="Calibri"/>
              </a:rPr>
              <a:t>“</a:t>
            </a:r>
          </a:p>
        </p:txBody>
      </p:sp>
      <p:sp>
        <p:nvSpPr>
          <p:cNvPr id="4" name="TextBox 3"/>
          <p:cNvSpPr txBox="1"/>
          <p:nvPr/>
        </p:nvSpPr>
        <p:spPr>
          <a:xfrm>
            <a:off x="1097280" y="1280160"/>
            <a:ext cx="10241280" cy="3840480"/>
          </a:xfrm>
          <a:prstGeom prst="rect">
            <a:avLst/>
          </a:prstGeom>
          <a:noFill/>
        </p:spPr>
        <p:txBody>
          <a:bodyPr wrap="square">
            <a:spAutoFit/>
          </a:bodyPr>
          <a:lstStyle/>
          <a:p>
            <a:pPr algn="l"/>
            <a:r>
              <a:rPr sz="2800" b="0" i="1">
                <a:solidFill>
                  <a:srgbClr val="1B3A6B"/>
                </a:solidFill>
                <a:latin typeface="Calibri"/>
              </a:rPr>
              <a:t>If you have a question about the code…
don't ask me.
Ask Claude.</a:t>
            </a:r>
          </a:p>
        </p:txBody>
      </p:sp>
      <p:sp>
        <p:nvSpPr>
          <p:cNvPr id="5" name="TextBox 4"/>
          <p:cNvSpPr txBox="1"/>
          <p:nvPr/>
        </p:nvSpPr>
        <p:spPr>
          <a:xfrm>
            <a:off x="1097280" y="5212080"/>
            <a:ext cx="10241280" cy="731520"/>
          </a:xfrm>
          <a:prstGeom prst="rect">
            <a:avLst/>
          </a:prstGeom>
          <a:noFill/>
        </p:spPr>
        <p:txBody>
          <a:bodyPr wrap="square">
            <a:spAutoFit/>
          </a:bodyPr>
          <a:lstStyle/>
          <a:p>
            <a:pPr algn="l"/>
            <a:r>
              <a:rPr sz="2000" b="0" i="0">
                <a:solidFill>
                  <a:srgbClr val="276FBF"/>
                </a:solidFill>
                <a:latin typeface="Calibri"/>
              </a:rPr>
              <a:t>— WA1HCO, 2026</a:t>
            </a:r>
          </a:p>
        </p:txBody>
      </p:sp>
      <p:sp>
        <p:nvSpPr>
          <p:cNvPr id="6" name="Rectangle 5"/>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8" name="TextBox 7"/>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Getting Help</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For installation and operation questions:</a:t>
            </a:r>
          </a:p>
          <a:p>
            <a:pPr lvl="1"/>
            <a:r>
              <a:rPr sz="1800" b="0" i="0">
                <a:solidFill>
                  <a:srgbClr val="444455"/>
                </a:solidFill>
                <a:latin typeface="Calibri"/>
              </a:rPr>
              <a:t>This is 2026, just ask AI and/or feed it error messages</a:t>
            </a:r>
          </a:p>
          <a:p>
            <a:pPr lvl="1"/>
            <a:r>
              <a:rPr sz="1800" b="0" i="0">
                <a:solidFill>
                  <a:srgbClr val="444455"/>
                </a:solidFill>
                <a:latin typeface="Calibri"/>
              </a:rPr>
              <a:t>AI knows this stuff _way_ better than I</a:t>
            </a:r>
          </a:p>
          <a:p>
            <a:pPr/>
            <a:r>
              <a:rPr sz="2000" b="1" i="0">
                <a:solidFill>
                  <a:srgbClr val="1A1A2E"/>
                </a:solidFill>
                <a:latin typeface="Calibri"/>
              </a:rPr>
              <a:t>For code questions:</a:t>
            </a:r>
          </a:p>
          <a:p>
            <a:pPr lvl="1"/>
            <a:r>
              <a:rPr sz="1800" b="0" i="0">
                <a:solidFill>
                  <a:srgbClr val="444455"/>
                </a:solidFill>
                <a:latin typeface="Calibri"/>
              </a:rPr>
              <a:t>Ask Claude (claude.ai) — point to or paste the relevant code and ask for explanation</a:t>
            </a:r>
          </a:p>
          <a:p>
            <a:pPr lvl="1"/>
            <a:r>
              <a:rPr sz="1800" b="0" i="0">
                <a:solidFill>
                  <a:srgbClr val="444455"/>
                </a:solidFill>
                <a:latin typeface="Calibri"/>
              </a:rPr>
              <a:t>Claude wrote it and can explain any of it</a:t>
            </a:r>
          </a:p>
          <a:p>
            <a:pPr/>
            <a:r>
              <a:rPr sz="2000" b="1" i="0">
                <a:solidFill>
                  <a:srgbClr val="1A1A2E"/>
                </a:solidFill>
                <a:latin typeface="Calibri"/>
              </a:rPr>
              <a:t>For MSK144 / meteor scatter questions:</a:t>
            </a:r>
          </a:p>
          <a:p>
            <a:pPr lvl="1"/>
            <a:r>
              <a:rPr sz="1800" b="0" i="0">
                <a:solidFill>
                  <a:srgbClr val="444455"/>
                </a:solidFill>
                <a:latin typeface="Calibri"/>
              </a:rPr>
              <a:t>Claude knows all the published literature</a:t>
            </a:r>
          </a:p>
          <a:p>
            <a:pPr lvl="1"/>
            <a:r>
              <a:rPr sz="1800" b="0" i="0">
                <a:solidFill>
                  <a:srgbClr val="444455"/>
                </a:solidFill>
                <a:latin typeface="Calibri"/>
              </a:rPr>
              <a:t>WSJT-X community: wsjt.sourceforge.io</a:t>
            </a:r>
          </a:p>
          <a:p>
            <a:pPr lvl="1"/>
            <a:r>
              <a:rPr sz="1800" b="0" i="0">
                <a:solidFill>
                  <a:srgbClr val="444455"/>
                </a:solidFill>
                <a:latin typeface="Calibri"/>
              </a:rPr>
              <a:t>ON4KST chat during meteor showers</a:t>
            </a:r>
          </a:p>
          <a:p>
            <a:pPr lvl="1"/>
            <a:r>
              <a:rPr sz="1800" b="0" i="0">
                <a:solidFill>
                  <a:srgbClr val="444455"/>
                </a:solidFill>
                <a:latin typeface="Calibri"/>
              </a:rPr>
              <a:t>Your local VHF/UHF club</a:t>
            </a:r>
          </a:p>
          <a:p>
            <a:pPr/>
            <a:r>
              <a:rPr sz="2000" b="1" i="0">
                <a:solidFill>
                  <a:srgbClr val="1A1A2E"/>
                </a:solidFill>
                <a:latin typeface="Calibri"/>
              </a:rPr>
              <a:t>For propagation data: pskreporter.info</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365760" y="137160"/>
            <a:ext cx="11460175" cy="777240"/>
          </a:xfrm>
        </p:spPr>
        <p:txBody>
          <a:bodyPr/>
          <a:lstStyle/>
          <a:p>
            <a:r>
              <a:rPr sz="3200" b="1" i="0">
                <a:solidFill>
                  <a:srgbClr val="1B3A6B"/>
                </a:solidFill>
                <a:latin typeface="Calibri"/>
              </a:rPr>
              <a:t>Thank You</a:t>
            </a:r>
          </a:p>
        </p:txBody>
      </p:sp>
      <p:sp>
        <p:nvSpPr>
          <p:cNvPr id="3" name="Content Placeholder 2"/>
          <p:cNvSpPr>
            <a:spLocks noGrp="1"/>
          </p:cNvSpPr>
          <p:nvPr>
            <p:ph idx="1"/>
          </p:nvPr>
        </p:nvSpPr>
        <p:spPr>
          <a:xfrm>
            <a:off x="365760" y="1005840"/>
            <a:ext cx="11460175" cy="5458968"/>
          </a:xfrm>
        </p:spPr>
        <p:txBody>
          <a:bodyPr wrap="square">
            <a:normAutofit/>
          </a:bodyPr>
          <a:lstStyle/>
          <a:p>
            <a:pPr/>
            <a:r>
              <a:rPr sz="2000" b="1" i="0">
                <a:solidFill>
                  <a:srgbClr val="1A1A2E"/>
                </a:solidFill>
                <a:latin typeface="Calibri"/>
              </a:rPr>
              <a:t>Jeff Millar  WA1HCO</a:t>
            </a:r>
          </a:p>
          <a:p>
            <a:pPr/>
            <a:r>
              <a:rPr sz="2000" b="1" i="0">
                <a:solidFill>
                  <a:srgbClr val="1A1A2E"/>
                </a:solidFill>
                <a:latin typeface="Calibri"/>
              </a:rPr>
              <a:t> </a:t>
            </a:r>
          </a:p>
          <a:p>
            <a:pPr/>
            <a:r>
              <a:rPr sz="2000" b="1" i="0">
                <a:solidFill>
                  <a:srgbClr val="1A1A2E"/>
                </a:solidFill>
                <a:latin typeface="Calibri"/>
              </a:rPr>
              <a:t>Questions?</a:t>
            </a:r>
          </a:p>
          <a:p>
            <a:pPr/>
            <a:r>
              <a:rPr sz="2000" b="1" i="0">
                <a:solidFill>
                  <a:srgbClr val="1A1A2E"/>
                </a:solidFill>
                <a:latin typeface="Calibri"/>
              </a:rPr>
              <a:t> </a:t>
            </a:r>
          </a:p>
          <a:p>
            <a:pPr/>
            <a:r>
              <a:rPr sz="2000" b="1" i="0">
                <a:solidFill>
                  <a:srgbClr val="1A1A2E"/>
                </a:solidFill>
                <a:latin typeface="Calibri"/>
              </a:rPr>
              <a:t>github.com/wa1hco/map144</a:t>
            </a:r>
          </a:p>
        </p:txBody>
      </p:sp>
      <p:sp>
        <p:nvSpPr>
          <p:cNvPr id="4" name="Rectangle 3"/>
          <p:cNvSpPr/>
          <p:nvPr/>
        </p:nvSpPr>
        <p:spPr>
          <a:xfrm>
            <a:off x="0" y="0"/>
            <a:ext cx="12191695" cy="101600"/>
          </a:xfrm>
          <a:prstGeom prst="rect">
            <a:avLst/>
          </a:prstGeom>
          <a:solidFill>
            <a:srgbClr val="276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91695" cy="256032"/>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01968"/>
            <a:ext cx="3657600" cy="256032"/>
          </a:xfrm>
          <a:prstGeom prst="rect">
            <a:avLst/>
          </a:prstGeom>
          <a:noFill/>
        </p:spPr>
        <p:txBody>
          <a:bodyPr wrap="square">
            <a:spAutoFit/>
          </a:bodyPr>
          <a:lstStyle/>
          <a:p>
            <a:pPr algn="l"/>
            <a:r>
              <a:rPr sz="1100" b="0" i="0">
                <a:solidFill>
                  <a:srgbClr val="FFFFFF"/>
                </a:solidFill>
                <a:latin typeface="Calibri"/>
              </a:rPr>
              <a:t>May 2026</a:t>
            </a:r>
          </a:p>
        </p:txBody>
      </p:sp>
      <p:sp>
        <p:nvSpPr>
          <p:cNvPr id="7" name="TextBox 6"/>
          <p:cNvSpPr txBox="1"/>
          <p:nvPr/>
        </p:nvSpPr>
        <p:spPr>
          <a:xfrm>
            <a:off x="0" y="6601968"/>
            <a:ext cx="11917375" cy="256032"/>
          </a:xfrm>
          <a:prstGeom prst="rect">
            <a:avLst/>
          </a:prstGeom>
          <a:noFill/>
        </p:spPr>
        <p:txBody>
          <a:bodyPr wrap="square">
            <a:spAutoFit/>
          </a:bodyPr>
          <a:lstStyle/>
          <a:p>
            <a:pPr algn="r"/>
            <a:r>
              <a:rPr sz="1100" b="0" i="0">
                <a:solidFill>
                  <a:srgbClr val="FFFFFF"/>
                </a:solidFill>
                <a:latin typeface="Calibri"/>
              </a:rPr>
              <a:t>109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